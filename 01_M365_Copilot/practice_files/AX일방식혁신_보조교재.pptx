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</p:sldMasterIdLst>
  <p:notesMasterIdLst>
    <p:notesMasterId r:id="rId62"/>
  </p:notesMasterIdLst>
  <p:sldIdLst>
    <p:sldId id="359" r:id="rId2"/>
    <p:sldId id="440" r:id="rId3"/>
    <p:sldId id="446" r:id="rId4"/>
    <p:sldId id="410" r:id="rId5"/>
    <p:sldId id="422" r:id="rId6"/>
    <p:sldId id="507" r:id="rId7"/>
    <p:sldId id="508" r:id="rId8"/>
    <p:sldId id="423" r:id="rId9"/>
    <p:sldId id="544" r:id="rId10"/>
    <p:sldId id="428" r:id="rId11"/>
    <p:sldId id="367" r:id="rId12"/>
    <p:sldId id="500" r:id="rId13"/>
    <p:sldId id="509" r:id="rId14"/>
    <p:sldId id="545" r:id="rId15"/>
    <p:sldId id="371" r:id="rId16"/>
    <p:sldId id="372" r:id="rId17"/>
    <p:sldId id="373" r:id="rId18"/>
    <p:sldId id="374" r:id="rId19"/>
    <p:sldId id="375" r:id="rId20"/>
    <p:sldId id="376" r:id="rId21"/>
    <p:sldId id="546" r:id="rId22"/>
    <p:sldId id="494" r:id="rId23"/>
    <p:sldId id="495" r:id="rId24"/>
    <p:sldId id="510" r:id="rId25"/>
    <p:sldId id="458" r:id="rId26"/>
    <p:sldId id="453" r:id="rId27"/>
    <p:sldId id="516" r:id="rId28"/>
    <p:sldId id="517" r:id="rId29"/>
    <p:sldId id="518" r:id="rId30"/>
    <p:sldId id="519" r:id="rId31"/>
    <p:sldId id="520" r:id="rId32"/>
    <p:sldId id="464" r:id="rId33"/>
    <p:sldId id="547" r:id="rId34"/>
    <p:sldId id="466" r:id="rId35"/>
    <p:sldId id="548" r:id="rId36"/>
    <p:sldId id="549" r:id="rId37"/>
    <p:sldId id="524" r:id="rId38"/>
    <p:sldId id="525" r:id="rId39"/>
    <p:sldId id="526" r:id="rId40"/>
    <p:sldId id="527" r:id="rId41"/>
    <p:sldId id="528" r:id="rId42"/>
    <p:sldId id="529" r:id="rId43"/>
    <p:sldId id="530" r:id="rId44"/>
    <p:sldId id="476" r:id="rId45"/>
    <p:sldId id="531" r:id="rId46"/>
    <p:sldId id="511" r:id="rId47"/>
    <p:sldId id="532" r:id="rId48"/>
    <p:sldId id="533" r:id="rId49"/>
    <p:sldId id="534" r:id="rId50"/>
    <p:sldId id="535" r:id="rId51"/>
    <p:sldId id="536" r:id="rId52"/>
    <p:sldId id="537" r:id="rId53"/>
    <p:sldId id="538" r:id="rId54"/>
    <p:sldId id="539" r:id="rId55"/>
    <p:sldId id="540" r:id="rId56"/>
    <p:sldId id="541" r:id="rId57"/>
    <p:sldId id="542" r:id="rId58"/>
    <p:sldId id="543" r:id="rId59"/>
    <p:sldId id="512" r:id="rId60"/>
    <p:sldId id="438" r:id="rId6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46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00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3514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 일방식 혁신 교육 오리엔테이션. 4개 챕터, 45개 유닛 구성을 안내한다.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2026년, 완전히 달라진 M365 Copilot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2026년, 완전히 달라진 M365 Copilot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4개 챕터 로드맵을 훑고 각 챕터의 목표를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2026년, 완전히 달라진 M365 Copilot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사내 업무 맥락과 엔터프라이즈 보안을 갖춘 AI로의 전환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작업의 성격과 난이도에 따라 GPT와 Claude를 골라 씁니다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 권한 범위의 메일·Teams·문서를 Copilot이 근거로 쓰게 해주는 사내 검색 엔진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Teams, SharePoint, Outlook을 횡단하며 사내 맥락을 실시간으로 융합하는 중앙 허브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문서 중앙화, 일하는 방식 변화의 시작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파편화된 로컬 문서를 OneDrive로 옮기는 것이 Copilot 성능의 선결 조건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개인 분석 데이터와 로그 메모를 Copilot이 참조할 수 있게 만드는 3단계 세팅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장비 Config 표준, 망 구성도, 장애 이력을 하나의 팀 허브로 일원화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현장·관제·엔지니어링 부서의 대화와 회의 기록을 Copilot이 읽을 수 있게 만듭니다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퇴근이 빨라지는 Outlook Copilot 실무 활용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MS Learn 권고 4요소(Goal · Context · Source · Expectations)와 Prompt Coach 코칭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수십 통이 얽힌 백본망 트래픽 스레드를 타임라인으로 요약하고 과거 기술 메일을 찾아냅니다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코어 장비 오류 로그를 첨부한 영문 TAC 케이스 오픈 메일을 자동 생성합니다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참석자 공통 빈 시간 탐색과 야간 작업 공지 초안·예약 전송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정제, 분석, 보고를 5분으로 단축하는 실행 루틴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5G 품질 지표(PRB Usage, Drop Rate) 정제 · 생성 · 시각화 · 분석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구체적 목표, 정확한 범위 지정, 점진적 구체화, 사용자 검증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계정 전체 기본값과 파일 단위 동적 규칙을 나눠 관리합니다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Copilot이 근거로 삼을 데이터 소스를 목적에 따라 선택합니다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반복 작업을 수식 제안과 사용자 정의 기술로 자동화합니다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비정형 로그 정제, 결측치 보정, 과부하 기지국 조건부 분류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기지국별·시간대별 트래픽 추이와 드롭률 상관관계를 자동 시각화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통계적 이상치를 색출해 DDoS 징후와 백홀 병목 원인을 규명합니다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in Excel로 상관관계 시각화와 What-If 시뮬레이션을 수행합니다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표준 문서, 점검 보고서, 제안서 작성을 빠르게 만드는 3가지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백지일 때, 글이 어색할 때, 시간이 없을 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어조·명확성 개선과 장황한 줄글의 표 변환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긴 문서의 핵심 요약, 쟁점 도출, 후속 조치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보고서 표지·배너용 이미지를 자연어로 생성합니다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현장에서 녹음·전사한 메모를 표준 보고서 형식으로 구조화합니다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여러 사내 파일을 결합해 실무형 초안을 한 번에 완성합니다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노후 장비 교체 투자비와 OPEX 절감 효과를 기안서로 정리합니다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제어 평면과 사용자 평면 인터페이스를 다이어그램으로 생성합니다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Excel 분석 + 표준 매뉴얼 + Teams 회의를 결합한 표준 작업 절차서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브리프 → 초안 → 다듬기 → 검토 순서로 만듭니다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시작 · 편집 · 검토 단계별 프롬프트 패턴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압축 · 톤 변경 · 구조화 · 액션 중심 재작성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추상적 표현보다 피사체·스타일·색·조명·구도를 지정합니다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기업 서식의 레이아웃·테마를 유지하며 내용만 채웁니다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주제·청중·분량을 지정하면 슬라이드 개요와 노트를 만듭니다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스마트폰에서 덱 요약을 확인하고 음성으로 질의합니다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수십 장 자료에서 주제 관련 슬라이드만 골라 요약합니다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수십 페이지 기술 문서를 경영진용 슬라이드로 재구성합니다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 보고서를 임원 의사결정용 슬라이드로 자동 생성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투자 회수 기간과 품질 지표를 한 장으로 압축합니다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전송망·코어망·무선망과 관제가 함께 쓰는 실시간 복구 채널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점검·분석, 통계·시뮬레이션, 기안서, 벤더 TAC 4대 패턴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Excel 정제 → Word SOP → PowerPoint 임원 보고를 한 흐름으로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2026년, 완전히 달라진 M365 Copilot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BM JUA OTF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BM JUA OTF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BM JUA OTF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BM JUA OTF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BM JUA OTF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BM JUA OTF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BM JUA OTF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BM JUA OTF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BM JUA OTF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47750"/>
            <a:ext cx="164592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47058" y="647700"/>
            <a:ext cx="43493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KT AX — </a:t>
            </a:r>
            <a:r>
              <a:rPr lang="ko-KR" altLang="en-US" b="1" kern="0" spc="468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보조교재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473982" y="609600"/>
            <a:ext cx="31895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AX 일방식 혁신 교육 · KT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483644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100" b="1" kern="0" spc="588" dirty="0">
                <a:solidFill>
                  <a:srgbClr val="9FA4A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WORK IQ &amp; M365 COPILOT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169444"/>
            <a:ext cx="15304770" cy="283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971"/>
              </a:lnSpc>
              <a:buNone/>
            </a:pPr>
            <a:r>
              <a:rPr lang="en-US" sz="9600" b="1" kern="0" spc="-225" dirty="0">
                <a:solidFill>
                  <a:srgbClr val="131415"/>
                </a:solidFill>
                <a:latin typeface="BM DoHyeon OTF" panose="020B0600000101010101" pitchFamily="34" charset="-127"/>
                <a:ea typeface="BM DoHyeon OTF" panose="020B0600000101010101" pitchFamily="34" charset="-127"/>
                <a:cs typeface="BM DoHyeon OTF" pitchFamily="34" charset="-120"/>
              </a:rPr>
              <a:t>AX 일방식 혁신 교육</a:t>
            </a:r>
            <a:endParaRPr lang="en-US" sz="9600" dirty="0">
              <a:latin typeface="BM DoHyeon OTF" panose="020B0600000101010101" pitchFamily="34" charset="-127"/>
              <a:ea typeface="BM DoHyeon OTF" panose="020B0600000101010101" pitchFamily="34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14400" y="6350794"/>
            <a:ext cx="12382500" cy="28575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14400" y="6627019"/>
            <a:ext cx="136207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ko-KR" altLang="en-US" sz="2400" dirty="0">
                <a:solidFill>
                  <a:srgbClr val="55585D"/>
                </a:solidFill>
                <a:latin typeface="BM DoHyeon OTF" panose="020B0600000101010101" pitchFamily="34" charset="-127"/>
                <a:ea typeface="BM DoHyeon OTF" panose="020B0600000101010101" pitchFamily="34" charset="-127"/>
                <a:cs typeface="BM DoHyeon OTF" pitchFamily="34" charset="-120"/>
              </a:rPr>
              <a:t>네트워크 </a:t>
            </a:r>
            <a:r>
              <a:rPr lang="en-US" sz="2400" dirty="0" err="1">
                <a:solidFill>
                  <a:srgbClr val="55585D"/>
                </a:solidFill>
                <a:latin typeface="BM DoHyeon OTF" panose="020B0600000101010101" pitchFamily="34" charset="-127"/>
                <a:ea typeface="BM DoHyeon OTF" panose="020B0600000101010101" pitchFamily="34" charset="-127"/>
                <a:cs typeface="BM DoHyeon OTF" pitchFamily="34" charset="-120"/>
              </a:rPr>
              <a:t>엔지니어를</a:t>
            </a:r>
            <a:r>
              <a:rPr lang="en-US" sz="2400" dirty="0">
                <a:solidFill>
                  <a:srgbClr val="55585D"/>
                </a:solidFill>
                <a:latin typeface="BM DoHyeon OTF" panose="020B0600000101010101" pitchFamily="34" charset="-127"/>
                <a:ea typeface="BM DoHyeon OTF" panose="020B0600000101010101" pitchFamily="34" charset="-127"/>
                <a:cs typeface="BM DoHyeon OTF" pitchFamily="34" charset="-120"/>
              </a:rPr>
              <a:t> 위한 데이터 기반 의사결정과 업무 자동화 워크플로우</a:t>
            </a:r>
            <a:endParaRPr lang="en-US" sz="2400" dirty="0">
              <a:latin typeface="BM DoHyeon OTF" panose="020B0600000101010101" pitchFamily="34" charset="-127"/>
              <a:ea typeface="BM DoHyeon OTF" panose="020B0600000101010101" pitchFamily="34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14400" y="8523089"/>
            <a:ext cx="164592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14400" y="8780264"/>
            <a:ext cx="421195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300" dirty="0">
                <a:solidFill>
                  <a:srgbClr val="9FA4A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8999339"/>
            <a:ext cx="4211955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333"/>
              </a:lnSpc>
              <a:buNone/>
            </a:pPr>
            <a:r>
              <a:rPr lang="en-US" sz="3900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04</a:t>
            </a:r>
            <a:endParaRPr lang="en-US" sz="3900" dirty="0"/>
          </a:p>
        </p:txBody>
      </p:sp>
      <p:sp>
        <p:nvSpPr>
          <p:cNvPr id="12" name="Shape 10"/>
          <p:cNvSpPr/>
          <p:nvPr/>
        </p:nvSpPr>
        <p:spPr>
          <a:xfrm>
            <a:off x="5029200" y="8532614"/>
            <a:ext cx="9525" cy="1259086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324475" y="8780264"/>
            <a:ext cx="388715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300" dirty="0">
                <a:solidFill>
                  <a:srgbClr val="9FA4A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UNITS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24475" y="8999339"/>
            <a:ext cx="3887153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333"/>
              </a:lnSpc>
              <a:buNone/>
            </a:pPr>
            <a:r>
              <a:rPr lang="en-US" sz="3900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51</a:t>
            </a:r>
            <a:endParaRPr lang="en-US" sz="3900" dirty="0"/>
          </a:p>
        </p:txBody>
      </p:sp>
      <p:sp>
        <p:nvSpPr>
          <p:cNvPr id="15" name="Shape 13"/>
          <p:cNvSpPr/>
          <p:nvPr/>
        </p:nvSpPr>
        <p:spPr>
          <a:xfrm>
            <a:off x="9144000" y="8532614"/>
            <a:ext cx="9525" cy="1259086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439275" y="8780264"/>
            <a:ext cx="388715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300" dirty="0">
                <a:solidFill>
                  <a:srgbClr val="9FA4A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SLIDES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439275" y="8999339"/>
            <a:ext cx="3887153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333"/>
              </a:lnSpc>
              <a:buNone/>
            </a:pPr>
            <a:r>
              <a:rPr lang="en-US" sz="3900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57</a:t>
            </a:r>
            <a:endParaRPr lang="en-US" sz="3900" dirty="0"/>
          </a:p>
        </p:txBody>
      </p:sp>
      <p:sp>
        <p:nvSpPr>
          <p:cNvPr id="18" name="Shape 16"/>
          <p:cNvSpPr/>
          <p:nvPr/>
        </p:nvSpPr>
        <p:spPr>
          <a:xfrm>
            <a:off x="13258800" y="8532614"/>
            <a:ext cx="9525" cy="1259086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3554075" y="8780264"/>
            <a:ext cx="420147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300" dirty="0">
                <a:solidFill>
                  <a:srgbClr val="9FA4A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LECTURER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554075" y="9094589"/>
            <a:ext cx="4201478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784"/>
              </a:lnSpc>
              <a:buNone/>
            </a:pPr>
            <a:r>
              <a:rPr lang="en-US" altLang="ko-KR" sz="2400" b="1" dirty="0">
                <a:solidFill>
                  <a:srgbClr val="131415"/>
                </a:solidFill>
                <a:latin typeface="BM DoHyeon OTF" panose="020B0600000101010101" pitchFamily="34" charset="-127"/>
                <a:ea typeface="BM DoHyeon OTF" panose="020B0600000101010101" pitchFamily="34" charset="-127"/>
                <a:cs typeface="BM DoHyeon OTF" pitchFamily="34" charset="-120"/>
              </a:rPr>
              <a:t>AX</a:t>
            </a:r>
            <a:r>
              <a:rPr lang="ko-KR" altLang="en-US" sz="2400" b="1" dirty="0">
                <a:solidFill>
                  <a:srgbClr val="131415"/>
                </a:solidFill>
                <a:latin typeface="BM DoHyeon OTF" panose="020B0600000101010101" pitchFamily="34" charset="-127"/>
                <a:ea typeface="BM DoHyeon OTF" panose="020B0600000101010101" pitchFamily="34" charset="-127"/>
                <a:cs typeface="BM DoHyeon OTF" pitchFamily="34" charset="-120"/>
              </a:rPr>
              <a:t> </a:t>
            </a:r>
            <a:r>
              <a:rPr lang="en-US" altLang="ko-KR" sz="2400" b="1" dirty="0">
                <a:solidFill>
                  <a:srgbClr val="131415"/>
                </a:solidFill>
                <a:latin typeface="BM DoHyeon OTF" panose="020B0600000101010101" pitchFamily="34" charset="-127"/>
                <a:ea typeface="BM DoHyeon OTF" panose="020B0600000101010101" pitchFamily="34" charset="-127"/>
                <a:cs typeface="BM DoHyeon OTF" pitchFamily="34" charset="-120"/>
              </a:rPr>
              <a:t>CA</a:t>
            </a:r>
            <a:r>
              <a:rPr lang="en-US" sz="2400" b="1" dirty="0">
                <a:solidFill>
                  <a:srgbClr val="131415"/>
                </a:solidFill>
                <a:latin typeface="BM DoHyeon OTF" panose="020B0600000101010101" pitchFamily="34" charset="-127"/>
                <a:ea typeface="BM DoHyeon OTF" panose="020B0600000101010101" pitchFamily="34" charset="-127"/>
                <a:cs typeface="BM DoHyeon OTF" pitchFamily="34" charset="-120"/>
              </a:rPr>
              <a:t> · 2026</a:t>
            </a:r>
            <a:endParaRPr lang="en-US" sz="2400" dirty="0">
              <a:latin typeface="BM DoHyeon OTF" panose="020B0600000101010101" pitchFamily="34" charset="-127"/>
              <a:ea typeface="BM DoHyeon 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733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54100"/>
            <a:ext cx="164592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638175"/>
            <a:ext cx="389140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ko-KR" sz="1400" b="1" spc="30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OPENING · 교육을 시작하며</a:t>
            </a:r>
          </a:p>
        </p:txBody>
      </p:sp>
      <p:sp>
        <p:nvSpPr>
          <p:cNvPr id="4" name="Text 2"/>
          <p:cNvSpPr/>
          <p:nvPr/>
        </p:nvSpPr>
        <p:spPr>
          <a:xfrm>
            <a:off x="14473982" y="609600"/>
            <a:ext cx="31895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24" dirty="0">
                <a:solidFill>
                  <a:srgbClr val="6941F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AX 일방식 혁신 교육 · KT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0" y="2286000"/>
            <a:ext cx="9525" cy="406400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48325" y="2387600"/>
            <a:ext cx="17594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spc="30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OPENING</a:t>
            </a:r>
          </a:p>
        </p:txBody>
      </p:sp>
      <p:sp>
        <p:nvSpPr>
          <p:cNvPr id="8" name="Text 6"/>
          <p:cNvSpPr/>
          <p:nvPr/>
        </p:nvSpPr>
        <p:spPr>
          <a:xfrm>
            <a:off x="5648325" y="2730500"/>
            <a:ext cx="12077033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ko-KR" sz="5400" b="1" kern="0" spc="-10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시작하기 전에</a:t>
            </a:r>
          </a:p>
        </p:txBody>
      </p:sp>
      <p:sp>
        <p:nvSpPr>
          <p:cNvPr id="9" name="Text 7"/>
          <p:cNvSpPr/>
          <p:nvPr/>
        </p:nvSpPr>
        <p:spPr>
          <a:xfrm>
            <a:off x="5648325" y="3810000"/>
            <a:ext cx="1207770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1447800" indent="-1447800" algn="l">
              <a:lnSpc>
                <a:spcPct val="100000"/>
              </a:lnSpc>
              <a:spcBef>
                <a:spcPts val="900"/>
              </a:spcBef>
              <a:buNone/>
              <a:tabLst>
                <a:tab pos="1447800" algn="l"/>
              </a:tabLst>
            </a:pPr>
            <a:r>
              <a:rPr lang="ko-KR" sz="2400" b="1" spc="10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제작 방식</a:t>
            </a:r>
            <a:r>
              <a:rPr lang="ko-KR" sz="2400" dirty="0">
                <a:solidFill>
                  <a:srgbClr val="3C4148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	이 자료는 전체를 프롬프트만으로 작성했습니다</a:t>
            </a:r>
          </a:p>
          <a:p>
            <a:pPr marL="1447800" indent="-1447800" algn="l">
              <a:lnSpc>
                <a:spcPct val="100000"/>
              </a:lnSpc>
              <a:spcBef>
                <a:spcPts val="900"/>
              </a:spcBef>
              <a:buNone/>
              <a:tabLst>
                <a:tab pos="1447800" algn="l"/>
              </a:tabLst>
            </a:pPr>
            <a:r>
              <a:rPr lang="ko-KR" sz="2400" b="1" spc="10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교재 성격</a:t>
            </a:r>
            <a:r>
              <a:rPr lang="ko-KR" sz="2400" dirty="0">
                <a:solidFill>
                  <a:srgbClr val="3C4148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	보조교재입니다. 기본 교재와 함께 학습하세요</a:t>
            </a:r>
          </a:p>
        </p:txBody>
      </p:sp>
      <p:sp>
        <p:nvSpPr>
          <p:cNvPr id="11" name="Shape 8"/>
          <p:cNvSpPr/>
          <p:nvPr/>
        </p:nvSpPr>
        <p:spPr>
          <a:xfrm>
            <a:off x="5648325" y="5232400"/>
            <a:ext cx="11725275" cy="28575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914400" y="9512300"/>
            <a:ext cx="164592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914400" y="9652000"/>
            <a:ext cx="48654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OPENING. 교육을 시작하며</a:t>
            </a:r>
          </a:p>
        </p:txBody>
      </p:sp>
      <p:sp>
        <p:nvSpPr>
          <p:cNvPr id="16" name="Text 13"/>
          <p:cNvSpPr/>
          <p:nvPr/>
        </p:nvSpPr>
        <p:spPr>
          <a:xfrm>
            <a:off x="16498044" y="9652000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02 / 60</a:t>
            </a:r>
            <a:endParaRPr lang="en-US" sz="1650" dirty="0"/>
          </a:p>
        </p:txBody>
      </p:sp>
      <p:sp>
        <p:nvSpPr>
          <p:cNvPr id="900" name="AccentBar"/>
          <p:cNvSpPr/>
          <p:nvPr/>
        </p:nvSpPr>
        <p:spPr>
          <a:xfrm>
            <a:off x="914400" y="381000"/>
            <a:ext cx="16459200" cy="63500"/>
          </a:xfrm>
          <a:prstGeom prst="rect">
            <a:avLst/>
          </a:prstGeom>
          <a:solidFill>
            <a:srgbClr val="6941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DA510F-0E4C-E74C-9052-7DEFBF88AC2E}"/>
              </a:ext>
            </a:extLst>
          </p:cNvPr>
          <p:cNvSpPr txBox="1"/>
          <p:nvPr/>
        </p:nvSpPr>
        <p:spPr>
          <a:xfrm>
            <a:off x="5651500" y="5486400"/>
            <a:ext cx="7620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 dirty="0">
                <a:solidFill>
                  <a:srgbClr val="E0282F"/>
                </a:solidFill>
                <a:latin typeface="BM DoHyeon OTF"/>
                <a:ea typeface="BM DoHyeon OTF"/>
              </a:rPr>
              <a:t>손병호 게임 </a:t>
            </a:r>
            <a:r>
              <a:rPr lang="en-US" altLang="ko-KR" sz="2800" b="1" dirty="0">
                <a:solidFill>
                  <a:srgbClr val="E0282F"/>
                </a:solidFill>
                <a:latin typeface="BM DoHyeon OTF"/>
                <a:ea typeface="BM DoHyeon OTF"/>
              </a:rPr>
              <a:t>— </a:t>
            </a:r>
            <a:r>
              <a:rPr lang="ko-KR" altLang="en-US" sz="2800" b="1" dirty="0">
                <a:solidFill>
                  <a:srgbClr val="E0282F"/>
                </a:solidFill>
                <a:latin typeface="BM DoHyeon OTF"/>
                <a:ea typeface="BM DoHyeon OTF"/>
              </a:rPr>
              <a:t>최근 한 달 동안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1E1F2B-1854-A646-81EB-9D6261C5F14D}"/>
              </a:ext>
            </a:extLst>
          </p:cNvPr>
          <p:cNvSpPr txBox="1"/>
          <p:nvPr/>
        </p:nvSpPr>
        <p:spPr>
          <a:xfrm>
            <a:off x="13271500" y="5537200"/>
            <a:ext cx="4191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dirty="0">
                <a:solidFill>
                  <a:srgbClr val="5A5F66"/>
                </a:solidFill>
                <a:latin typeface="BM DoHyeon OTF"/>
                <a:ea typeface="BM DoHyeon OTF"/>
              </a:rPr>
              <a:t>해당되면 손가락을 접으세요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D510B1B-7C24-8347-AF5C-46BDAA2D8D60}"/>
              </a:ext>
            </a:extLst>
          </p:cNvPr>
          <p:cNvSpPr/>
          <p:nvPr/>
        </p:nvSpPr>
        <p:spPr>
          <a:xfrm>
            <a:off x="5651500" y="6451600"/>
            <a:ext cx="2202180" cy="1625600"/>
          </a:xfrm>
          <a:prstGeom prst="rect">
            <a:avLst/>
          </a:prstGeom>
          <a:solidFill>
            <a:srgbClr val="F7F7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FC61EE6-7A14-D847-81A9-151094BCDC79}"/>
              </a:ext>
            </a:extLst>
          </p:cNvPr>
          <p:cNvSpPr/>
          <p:nvPr/>
        </p:nvSpPr>
        <p:spPr>
          <a:xfrm>
            <a:off x="5651500" y="6451600"/>
            <a:ext cx="2202180" cy="50800"/>
          </a:xfrm>
          <a:prstGeom prst="rect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0B0E2D-5AE0-D64C-B0F6-57CF2A7BF20D}"/>
              </a:ext>
            </a:extLst>
          </p:cNvPr>
          <p:cNvSpPr txBox="1"/>
          <p:nvPr/>
        </p:nvSpPr>
        <p:spPr>
          <a:xfrm>
            <a:off x="5854700" y="6629400"/>
            <a:ext cx="76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700" b="1">
                <a:solidFill>
                  <a:srgbClr val="E0282F"/>
                </a:solidFill>
                <a:latin typeface="BM DoHyeon OTF"/>
                <a:ea typeface="BM DoHyeon OTF"/>
              </a:rPr>
              <a:t>01</a:t>
            </a:r>
            <a:endParaRPr lang="ko-KR" altLang="en-US" sz="1700" b="1">
              <a:solidFill>
                <a:srgbClr val="E0282F"/>
              </a:solidFill>
              <a:latin typeface="BM DoHyeon OTF"/>
              <a:ea typeface="BM DoHyeon OTF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222F3B-F09C-2F46-8B7F-36EB837B1430}"/>
              </a:ext>
            </a:extLst>
          </p:cNvPr>
          <p:cNvSpPr txBox="1"/>
          <p:nvPr/>
        </p:nvSpPr>
        <p:spPr>
          <a:xfrm>
            <a:off x="5854700" y="6934200"/>
            <a:ext cx="179578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ko-KR" sz="1700" b="1" dirty="0">
                <a:solidFill>
                  <a:srgbClr val="131415"/>
                </a:solidFill>
                <a:latin typeface="BM DoHyeon OTF"/>
                <a:ea typeface="BM DoHyeon OTF"/>
              </a:rPr>
              <a:t>Copilot</a:t>
            </a:r>
            <a:r>
              <a:rPr lang="ko-KR" altLang="en-US" sz="1700" b="1" dirty="0">
                <a:solidFill>
                  <a:srgbClr val="131415"/>
                </a:solidFill>
                <a:latin typeface="BM DoHyeon OTF"/>
                <a:ea typeface="BM DoHyeon OTF"/>
              </a:rPr>
              <a:t>을
사용했다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D886D84-2FB5-CB40-837A-4181F36C0216}"/>
              </a:ext>
            </a:extLst>
          </p:cNvPr>
          <p:cNvSpPr/>
          <p:nvPr/>
        </p:nvSpPr>
        <p:spPr>
          <a:xfrm>
            <a:off x="8031480" y="6451600"/>
            <a:ext cx="2202180" cy="1625600"/>
          </a:xfrm>
          <a:prstGeom prst="rect">
            <a:avLst/>
          </a:prstGeom>
          <a:solidFill>
            <a:srgbClr val="F7F7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2D12B63-9E62-7946-AFD1-DCF1787447CF}"/>
              </a:ext>
            </a:extLst>
          </p:cNvPr>
          <p:cNvSpPr/>
          <p:nvPr/>
        </p:nvSpPr>
        <p:spPr>
          <a:xfrm>
            <a:off x="8031480" y="6451600"/>
            <a:ext cx="2202180" cy="50800"/>
          </a:xfrm>
          <a:prstGeom prst="rect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435F4A-386E-8F47-9455-73C66D6B8F1A}"/>
              </a:ext>
            </a:extLst>
          </p:cNvPr>
          <p:cNvSpPr txBox="1"/>
          <p:nvPr/>
        </p:nvSpPr>
        <p:spPr>
          <a:xfrm>
            <a:off x="8234680" y="6629400"/>
            <a:ext cx="76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700" b="1">
                <a:solidFill>
                  <a:srgbClr val="E0282F"/>
                </a:solidFill>
                <a:latin typeface="BM DoHyeon OTF"/>
                <a:ea typeface="BM DoHyeon OTF"/>
              </a:rPr>
              <a:t>02</a:t>
            </a:r>
            <a:endParaRPr lang="ko-KR" altLang="en-US" sz="1700" b="1">
              <a:solidFill>
                <a:srgbClr val="E0282F"/>
              </a:solidFill>
              <a:latin typeface="BM DoHyeon OTF"/>
              <a:ea typeface="BM DoHyeon OTF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38C9F6-950E-EF40-8AC3-3D24AC23CDEC}"/>
              </a:ext>
            </a:extLst>
          </p:cNvPr>
          <p:cNvSpPr txBox="1"/>
          <p:nvPr/>
        </p:nvSpPr>
        <p:spPr>
          <a:xfrm>
            <a:off x="8234680" y="6934200"/>
            <a:ext cx="179578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ko-KR" sz="1700" b="1">
                <a:solidFill>
                  <a:srgbClr val="131415"/>
                </a:solidFill>
                <a:latin typeface="BM DoHyeon OTF"/>
                <a:ea typeface="BM DoHyeon OTF"/>
              </a:rPr>
              <a:t>Copilot</a:t>
            </a:r>
            <a:r>
              <a:rPr lang="ko-KR" altLang="en-US" sz="1700" b="1">
                <a:solidFill>
                  <a:srgbClr val="131415"/>
                </a:solidFill>
                <a:latin typeface="BM DoHyeon OTF"/>
                <a:ea typeface="BM DoHyeon OTF"/>
              </a:rPr>
              <a:t>을
</a:t>
            </a:r>
            <a:r>
              <a:rPr lang="en" altLang="ko-KR" sz="1700" b="1">
                <a:solidFill>
                  <a:srgbClr val="131415"/>
                </a:solidFill>
                <a:latin typeface="BM DoHyeon OTF"/>
                <a:ea typeface="BM DoHyeon OTF"/>
              </a:rPr>
              <a:t>Outlook</a:t>
            </a:r>
            <a:r>
              <a:rPr lang="ko-KR" altLang="en-US" sz="1700" b="1">
                <a:solidFill>
                  <a:srgbClr val="131415"/>
                </a:solidFill>
                <a:latin typeface="BM DoHyeon OTF"/>
                <a:ea typeface="BM DoHyeon OTF"/>
              </a:rPr>
              <a:t>에
사용했다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0B70BDD-897A-2F4D-A791-832CBD74CC36}"/>
              </a:ext>
            </a:extLst>
          </p:cNvPr>
          <p:cNvSpPr/>
          <p:nvPr/>
        </p:nvSpPr>
        <p:spPr>
          <a:xfrm>
            <a:off x="10411460" y="6451600"/>
            <a:ext cx="2202180" cy="1625600"/>
          </a:xfrm>
          <a:prstGeom prst="rect">
            <a:avLst/>
          </a:prstGeom>
          <a:solidFill>
            <a:srgbClr val="F7F7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D5849DC-0232-414C-995D-657C179EA5DC}"/>
              </a:ext>
            </a:extLst>
          </p:cNvPr>
          <p:cNvSpPr/>
          <p:nvPr/>
        </p:nvSpPr>
        <p:spPr>
          <a:xfrm>
            <a:off x="10411460" y="6451600"/>
            <a:ext cx="2202180" cy="50800"/>
          </a:xfrm>
          <a:prstGeom prst="rect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D66D63-DD32-844A-834A-AB8518C8E398}"/>
              </a:ext>
            </a:extLst>
          </p:cNvPr>
          <p:cNvSpPr txBox="1"/>
          <p:nvPr/>
        </p:nvSpPr>
        <p:spPr>
          <a:xfrm>
            <a:off x="10614660" y="6629400"/>
            <a:ext cx="76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700" b="1">
                <a:solidFill>
                  <a:srgbClr val="E0282F"/>
                </a:solidFill>
                <a:latin typeface="BM DoHyeon OTF"/>
                <a:ea typeface="BM DoHyeon OTF"/>
              </a:rPr>
              <a:t>03</a:t>
            </a:r>
            <a:endParaRPr lang="ko-KR" altLang="en-US" sz="1700" b="1">
              <a:solidFill>
                <a:srgbClr val="E0282F"/>
              </a:solidFill>
              <a:latin typeface="BM DoHyeon OTF"/>
              <a:ea typeface="BM DoHyeon OTF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ADCBE6-B071-B246-8625-3219B805320A}"/>
              </a:ext>
            </a:extLst>
          </p:cNvPr>
          <p:cNvSpPr txBox="1"/>
          <p:nvPr/>
        </p:nvSpPr>
        <p:spPr>
          <a:xfrm>
            <a:off x="10614660" y="6934200"/>
            <a:ext cx="179578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ko-KR" sz="1700" b="1">
                <a:solidFill>
                  <a:srgbClr val="131415"/>
                </a:solidFill>
                <a:latin typeface="BM DoHyeon OTF"/>
                <a:ea typeface="BM DoHyeon OTF"/>
              </a:rPr>
              <a:t>Copilot</a:t>
            </a:r>
            <a:r>
              <a:rPr lang="ko-KR" altLang="en-US" sz="1700" b="1">
                <a:solidFill>
                  <a:srgbClr val="131415"/>
                </a:solidFill>
                <a:latin typeface="BM DoHyeon OTF"/>
                <a:ea typeface="BM DoHyeon OTF"/>
              </a:rPr>
              <a:t>을
</a:t>
            </a:r>
            <a:r>
              <a:rPr lang="en" altLang="ko-KR" sz="1700" b="1">
                <a:solidFill>
                  <a:srgbClr val="131415"/>
                </a:solidFill>
                <a:latin typeface="BM DoHyeon OTF"/>
                <a:ea typeface="BM DoHyeon OTF"/>
              </a:rPr>
              <a:t>Word</a:t>
            </a:r>
            <a:r>
              <a:rPr lang="ko-KR" altLang="en-US" sz="1700" b="1">
                <a:solidFill>
                  <a:srgbClr val="131415"/>
                </a:solidFill>
                <a:latin typeface="BM DoHyeon OTF"/>
                <a:ea typeface="BM DoHyeon OTF"/>
              </a:rPr>
              <a:t>에
사용했다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3BDBCB3-BD44-4C41-A47D-E6578D2AB878}"/>
              </a:ext>
            </a:extLst>
          </p:cNvPr>
          <p:cNvSpPr/>
          <p:nvPr/>
        </p:nvSpPr>
        <p:spPr>
          <a:xfrm>
            <a:off x="12791440" y="6451600"/>
            <a:ext cx="2202180" cy="1625600"/>
          </a:xfrm>
          <a:prstGeom prst="rect">
            <a:avLst/>
          </a:prstGeom>
          <a:solidFill>
            <a:srgbClr val="F7F7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271944E-5CC6-EE43-AD4A-23DE176522E6}"/>
              </a:ext>
            </a:extLst>
          </p:cNvPr>
          <p:cNvSpPr/>
          <p:nvPr/>
        </p:nvSpPr>
        <p:spPr>
          <a:xfrm>
            <a:off x="12791440" y="6451600"/>
            <a:ext cx="2202180" cy="50800"/>
          </a:xfrm>
          <a:prstGeom prst="rect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0896E0-C15E-0F47-A8E6-50DAA94F99A9}"/>
              </a:ext>
            </a:extLst>
          </p:cNvPr>
          <p:cNvSpPr txBox="1"/>
          <p:nvPr/>
        </p:nvSpPr>
        <p:spPr>
          <a:xfrm>
            <a:off x="12994640" y="6629400"/>
            <a:ext cx="76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700" b="1">
                <a:solidFill>
                  <a:srgbClr val="E0282F"/>
                </a:solidFill>
                <a:latin typeface="BM DoHyeon OTF"/>
                <a:ea typeface="BM DoHyeon OTF"/>
              </a:rPr>
              <a:t>04</a:t>
            </a:r>
            <a:endParaRPr lang="ko-KR" altLang="en-US" sz="1700" b="1">
              <a:solidFill>
                <a:srgbClr val="E0282F"/>
              </a:solidFill>
              <a:latin typeface="BM DoHyeon OTF"/>
              <a:ea typeface="BM DoHyeon OTF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39CDBB2-D783-5740-8C29-04D7A2AC1572}"/>
              </a:ext>
            </a:extLst>
          </p:cNvPr>
          <p:cNvSpPr txBox="1"/>
          <p:nvPr/>
        </p:nvSpPr>
        <p:spPr>
          <a:xfrm>
            <a:off x="12994640" y="6934200"/>
            <a:ext cx="179578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ko-KR" sz="1700" b="1">
                <a:solidFill>
                  <a:srgbClr val="131415"/>
                </a:solidFill>
                <a:latin typeface="BM DoHyeon OTF"/>
                <a:ea typeface="BM DoHyeon OTF"/>
              </a:rPr>
              <a:t>Copilot</a:t>
            </a:r>
            <a:r>
              <a:rPr lang="ko-KR" altLang="en-US" sz="1700" b="1">
                <a:solidFill>
                  <a:srgbClr val="131415"/>
                </a:solidFill>
                <a:latin typeface="BM DoHyeon OTF"/>
                <a:ea typeface="BM DoHyeon OTF"/>
              </a:rPr>
              <a:t>을
</a:t>
            </a:r>
            <a:r>
              <a:rPr lang="en" altLang="ko-KR" sz="1700" b="1">
                <a:solidFill>
                  <a:srgbClr val="131415"/>
                </a:solidFill>
                <a:latin typeface="BM DoHyeon OTF"/>
                <a:ea typeface="BM DoHyeon OTF"/>
              </a:rPr>
              <a:t>Excel</a:t>
            </a:r>
            <a:r>
              <a:rPr lang="ko-KR" altLang="en-US" sz="1700" b="1">
                <a:solidFill>
                  <a:srgbClr val="131415"/>
                </a:solidFill>
                <a:latin typeface="BM DoHyeon OTF"/>
                <a:ea typeface="BM DoHyeon OTF"/>
              </a:rPr>
              <a:t>에
사용했다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62F7640-DF0F-E24C-8038-ADF53ACC90FE}"/>
              </a:ext>
            </a:extLst>
          </p:cNvPr>
          <p:cNvSpPr/>
          <p:nvPr/>
        </p:nvSpPr>
        <p:spPr>
          <a:xfrm>
            <a:off x="15171419" y="6451600"/>
            <a:ext cx="2202180" cy="1625600"/>
          </a:xfrm>
          <a:prstGeom prst="rect">
            <a:avLst/>
          </a:prstGeom>
          <a:solidFill>
            <a:srgbClr val="F7F7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FEDDCA6-AF55-B94E-A40D-68705E50FD11}"/>
              </a:ext>
            </a:extLst>
          </p:cNvPr>
          <p:cNvSpPr/>
          <p:nvPr/>
        </p:nvSpPr>
        <p:spPr>
          <a:xfrm>
            <a:off x="15171419" y="6451600"/>
            <a:ext cx="2202180" cy="50800"/>
          </a:xfrm>
          <a:prstGeom prst="rect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70CAF2-417C-FD4B-A663-C51AA0406114}"/>
              </a:ext>
            </a:extLst>
          </p:cNvPr>
          <p:cNvSpPr txBox="1"/>
          <p:nvPr/>
        </p:nvSpPr>
        <p:spPr>
          <a:xfrm>
            <a:off x="15374619" y="6629400"/>
            <a:ext cx="76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700" b="1">
                <a:solidFill>
                  <a:srgbClr val="E0282F"/>
                </a:solidFill>
                <a:latin typeface="BM DoHyeon OTF"/>
                <a:ea typeface="BM DoHyeon OTF"/>
              </a:rPr>
              <a:t>05</a:t>
            </a:r>
            <a:endParaRPr lang="ko-KR" altLang="en-US" sz="1700" b="1">
              <a:solidFill>
                <a:srgbClr val="E0282F"/>
              </a:solidFill>
              <a:latin typeface="BM DoHyeon OTF"/>
              <a:ea typeface="BM DoHyeon OTF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4D6A31-1CF0-6B41-B290-02F56AC1DAD3}"/>
              </a:ext>
            </a:extLst>
          </p:cNvPr>
          <p:cNvSpPr txBox="1"/>
          <p:nvPr/>
        </p:nvSpPr>
        <p:spPr>
          <a:xfrm>
            <a:off x="15374619" y="6934200"/>
            <a:ext cx="179578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altLang="ko-KR" sz="1700" b="1">
                <a:solidFill>
                  <a:srgbClr val="131415"/>
                </a:solidFill>
                <a:latin typeface="BM DoHyeon OTF"/>
                <a:ea typeface="BM DoHyeon OTF"/>
              </a:rPr>
              <a:t>Copilot</a:t>
            </a:r>
            <a:r>
              <a:rPr lang="ko-KR" altLang="en-US" sz="1700" b="1">
                <a:solidFill>
                  <a:srgbClr val="131415"/>
                </a:solidFill>
                <a:latin typeface="BM DoHyeon OTF"/>
                <a:ea typeface="BM DoHyeon OTF"/>
              </a:rPr>
              <a:t>을
</a:t>
            </a:r>
            <a:r>
              <a:rPr lang="en" altLang="ko-KR" sz="1700" b="1">
                <a:solidFill>
                  <a:srgbClr val="131415"/>
                </a:solidFill>
                <a:latin typeface="BM DoHyeon OTF"/>
                <a:ea typeface="BM DoHyeon OTF"/>
              </a:rPr>
              <a:t>PPT</a:t>
            </a:r>
            <a:r>
              <a:rPr lang="ko-KR" altLang="en-US" sz="1700" b="1">
                <a:solidFill>
                  <a:srgbClr val="131415"/>
                </a:solidFill>
                <a:latin typeface="BM DoHyeon OTF"/>
                <a:ea typeface="BM DoHyeon OTF"/>
              </a:rPr>
              <a:t>에
사용했다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CC7B59-8EC4-4240-8EAD-8D71060D79AC}"/>
              </a:ext>
            </a:extLst>
          </p:cNvPr>
          <p:cNvSpPr txBox="1"/>
          <p:nvPr/>
        </p:nvSpPr>
        <p:spPr>
          <a:xfrm>
            <a:off x="5651500" y="8305800"/>
            <a:ext cx="1905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E0282F"/>
                </a:solidFill>
                <a:latin typeface="BM DoHyeon OTF"/>
                <a:ea typeface="BM DoHyeon OTF"/>
              </a:rPr>
              <a:t>난이도 안내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E2A90F-0A48-5D4C-8417-460F05C4FB76}"/>
              </a:ext>
            </a:extLst>
          </p:cNvPr>
          <p:cNvSpPr txBox="1"/>
          <p:nvPr/>
        </p:nvSpPr>
        <p:spPr>
          <a:xfrm>
            <a:off x="7556500" y="8305800"/>
            <a:ext cx="9817100" cy="70788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dirty="0">
                <a:solidFill>
                  <a:srgbClr val="3C4148"/>
                </a:solidFill>
                <a:latin typeface="BM DoHyeon OTF"/>
                <a:ea typeface="BM DoHyeon OTF"/>
              </a:rPr>
              <a:t>실습 장표에는 난이도에 따라 손가락이 표시되어 있습니다</a:t>
            </a:r>
            <a:r>
              <a:rPr lang="en-US" altLang="ko-KR" sz="2000" dirty="0">
                <a:solidFill>
                  <a:srgbClr val="3C4148"/>
                </a:solidFill>
                <a:latin typeface="BM DoHyeon OTF"/>
                <a:ea typeface="BM DoHyeon OTF"/>
              </a:rPr>
              <a:t>. </a:t>
            </a:r>
          </a:p>
          <a:p>
            <a:pPr algn="l"/>
            <a:r>
              <a:rPr lang="ko-KR" altLang="en-US" sz="2000" dirty="0">
                <a:solidFill>
                  <a:srgbClr val="3C4148"/>
                </a:solidFill>
                <a:latin typeface="BM DoHyeon OTF"/>
                <a:ea typeface="BM DoHyeon OTF"/>
              </a:rPr>
              <a:t>자신이 접은 손가락이 표기된 장표는 반드시 이해하고 넘어가고</a:t>
            </a:r>
            <a:r>
              <a:rPr lang="en-US" altLang="ko-KR" sz="2000" dirty="0">
                <a:solidFill>
                  <a:srgbClr val="3C4148"/>
                </a:solidFill>
                <a:latin typeface="BM DoHyeon OTF"/>
                <a:ea typeface="BM DoHyeon OTF"/>
              </a:rPr>
              <a:t>, </a:t>
            </a:r>
            <a:r>
              <a:rPr lang="ko-KR" altLang="en-US" sz="2000" dirty="0">
                <a:solidFill>
                  <a:srgbClr val="3C4148"/>
                </a:solidFill>
                <a:latin typeface="BM DoHyeon OTF"/>
                <a:ea typeface="BM DoHyeon OTF"/>
              </a:rPr>
              <a:t>그 이상을 도전하세요</a:t>
            </a:r>
            <a:r>
              <a:rPr lang="en-US" altLang="ko-KR" sz="2000" dirty="0">
                <a:solidFill>
                  <a:srgbClr val="3C4148"/>
                </a:solidFill>
                <a:latin typeface="BM DoHyeon OTF"/>
                <a:ea typeface="BM DoHyeon OTF"/>
              </a:rPr>
              <a:t>.</a:t>
            </a:r>
            <a:endParaRPr lang="ko-KR" altLang="en-US" sz="2000" dirty="0">
              <a:solidFill>
                <a:srgbClr val="3C4148"/>
              </a:solidFill>
              <a:latin typeface="BM DoHyeon OTF"/>
              <a:ea typeface="BM DoHyeon OTF"/>
            </a:endParaRPr>
          </a:p>
        </p:txBody>
      </p:sp>
      <p:pic>
        <p:nvPicPr>
          <p:cNvPr id="901" name="Graphic 901" descr="손을 들어 손가락을 접는 손병호 게임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9850" y="2362200"/>
            <a:ext cx="2921000" cy="2921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7B3AC9-0BDC-7D46-8AAE-2103E4C36934}"/>
              </a:ext>
            </a:extLst>
          </p:cNvPr>
          <p:cNvSpPr txBox="1"/>
          <p:nvPr/>
        </p:nvSpPr>
        <p:spPr>
          <a:xfrm>
            <a:off x="644525" y="5435600"/>
            <a:ext cx="3771900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ko-KR" altLang="en-US" sz="2400" b="1" dirty="0">
                <a:solidFill>
                  <a:srgbClr val="131415"/>
                </a:solidFill>
                <a:latin typeface="BM DoHyeon OTF"/>
                <a:ea typeface="BM DoHyeon OTF"/>
              </a:rPr>
              <a:t>손가락 </a:t>
            </a:r>
            <a:r>
              <a:rPr lang="en-US" altLang="ko-KR" sz="2400" b="1" dirty="0">
                <a:solidFill>
                  <a:srgbClr val="131415"/>
                </a:solidFill>
                <a:latin typeface="BM DoHyeon OTF"/>
                <a:ea typeface="BM DoHyeon OTF"/>
              </a:rPr>
              <a:t>5</a:t>
            </a:r>
            <a:r>
              <a:rPr lang="ko-KR" altLang="en-US" sz="2400" b="1" dirty="0">
                <a:solidFill>
                  <a:srgbClr val="131415"/>
                </a:solidFill>
                <a:latin typeface="BM DoHyeon OTF"/>
                <a:ea typeface="BM DoHyeon OTF"/>
              </a:rPr>
              <a:t>개
준비하세요</a:t>
            </a:r>
          </a:p>
        </p:txBody>
      </p:sp>
    </p:spTree>
    <p:extLst>
      <p:ext uri="{BB962C8B-B14F-4D97-AF65-F5344CB8AC3E}">
        <p14:creationId xmlns:p14="http://schemas.microsoft.com/office/powerpoint/2010/main" val="2465923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54100"/>
            <a:ext cx="164592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638175"/>
            <a:ext cx="389140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ko-KR" sz="1400" b="1" spc="30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INSTRUCTOR · 강사 소개</a:t>
            </a:r>
          </a:p>
        </p:txBody>
      </p:sp>
      <p:sp>
        <p:nvSpPr>
          <p:cNvPr id="4" name="Text 2"/>
          <p:cNvSpPr/>
          <p:nvPr/>
        </p:nvSpPr>
        <p:spPr>
          <a:xfrm>
            <a:off x="14473982" y="609600"/>
            <a:ext cx="31895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24" dirty="0">
                <a:solidFill>
                  <a:srgbClr val="6941F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AX 일방식 혁신 교육 · KT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0" y="2438400"/>
            <a:ext cx="9525" cy="330200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0" y="2540000"/>
            <a:ext cx="17594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spc="30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INSTRUCTOR</a:t>
            </a:r>
          </a:p>
        </p:txBody>
      </p:sp>
      <p:sp>
        <p:nvSpPr>
          <p:cNvPr id="8" name="Text 6"/>
          <p:cNvSpPr/>
          <p:nvPr/>
        </p:nvSpPr>
        <p:spPr>
          <a:xfrm>
            <a:off x="5029200" y="2946400"/>
            <a:ext cx="12344400" cy="381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ko-KR" sz="5000" b="1" kern="0" spc="-100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이광희</a:t>
            </a:r>
            <a:r>
              <a:rPr lang="ko-KR" sz="2000" b="1" dirty="0">
                <a:solidFill>
                  <a:srgbClr val="8A9099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   </a:t>
            </a:r>
            <a:r>
              <a:rPr lang="en-US" altLang="ko-KR" sz="2000" b="1" dirty="0">
                <a:solidFill>
                  <a:srgbClr val="8A9099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AX </a:t>
            </a:r>
            <a:r>
              <a:rPr lang="ko-KR" altLang="en-US" sz="2000" b="1" dirty="0">
                <a:solidFill>
                  <a:srgbClr val="8A9099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전문강사</a:t>
            </a:r>
            <a:r>
              <a:rPr lang="ko-KR" sz="2000" b="1" dirty="0">
                <a:solidFill>
                  <a:srgbClr val="8A9099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 · </a:t>
            </a:r>
            <a:r>
              <a:rPr lang="en-US" altLang="ko-KR" sz="2000" b="1" dirty="0">
                <a:solidFill>
                  <a:srgbClr val="8A9099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MCT</a:t>
            </a:r>
            <a:endParaRPr lang="ko-KR" sz="2000" b="1" dirty="0">
              <a:solidFill>
                <a:srgbClr val="8A9099"/>
              </a:solidFill>
              <a:latin typeface="BM DoHyeon OTF" pitchFamily="34" charset="0"/>
              <a:ea typeface="BM DoHyeon OTF" pitchFamily="34" charset="-122"/>
              <a:cs typeface="BM DoHyeon OTF" pitchFamily="34" charset="-120"/>
            </a:endParaRPr>
          </a:p>
          <a:p>
            <a:pPr marL="0" indent="0" algn="l">
              <a:spcBef>
                <a:spcPts val="1100"/>
              </a:spcBef>
              <a:buNone/>
            </a:pPr>
            <a:r>
              <a:rPr lang="ko-KR" sz="1700" b="1" spc="15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수상</a:t>
            </a:r>
          </a:p>
          <a:p>
            <a:pPr marL="1600200" indent="-1600200" algn="l">
              <a:spcBef>
                <a:spcPts val="600"/>
              </a:spcBef>
              <a:buNone/>
              <a:tabLst>
                <a:tab pos="1600200" algn="l"/>
              </a:tabLst>
            </a:pPr>
            <a:r>
              <a:rPr lang="en-US" sz="1600" b="1" dirty="0">
                <a:solidFill>
                  <a:srgbClr val="8A9099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2024</a:t>
            </a:r>
            <a:r>
              <a:rPr lang="ko-KR" sz="1600" dirty="0">
                <a:solidFill>
                  <a:srgbClr val="3C4148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	프롬프트 대회 · 우수상</a:t>
            </a:r>
          </a:p>
          <a:p>
            <a:pPr marL="1600200" indent="-1600200" algn="l">
              <a:spcBef>
                <a:spcPts val="400"/>
              </a:spcBef>
              <a:buNone/>
              <a:tabLst>
                <a:tab pos="1600200" algn="l"/>
              </a:tabLst>
            </a:pPr>
            <a:r>
              <a:rPr lang="en-US" sz="1600" b="1" dirty="0">
                <a:solidFill>
                  <a:srgbClr val="8A9099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2025</a:t>
            </a:r>
            <a:r>
              <a:rPr lang="ko-KR" sz="1600" dirty="0">
                <a:solidFill>
                  <a:srgbClr val="3C4148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	MS 에이전트 개발 대회 · 아이디어상</a:t>
            </a:r>
          </a:p>
          <a:p>
            <a:pPr marL="1600200" indent="-1600200" algn="l">
              <a:spcBef>
                <a:spcPts val="400"/>
              </a:spcBef>
              <a:buNone/>
              <a:tabLst>
                <a:tab pos="1600200" algn="l"/>
              </a:tabLst>
            </a:pPr>
            <a:r>
              <a:rPr lang="en-US" sz="1600" b="1" dirty="0">
                <a:solidFill>
                  <a:srgbClr val="8A9099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2025</a:t>
            </a:r>
            <a:r>
              <a:rPr lang="ko-KR" sz="1600" dirty="0">
                <a:solidFill>
                  <a:srgbClr val="3C4148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	바이브 코딩(GitHub Copilot) 비개발자 Track · 대상</a:t>
            </a:r>
          </a:p>
          <a:p>
            <a:pPr marL="1600200" indent="-1600200" algn="l">
              <a:spcBef>
                <a:spcPts val="400"/>
              </a:spcBef>
              <a:buNone/>
              <a:tabLst>
                <a:tab pos="1600200" algn="l"/>
              </a:tabLst>
            </a:pPr>
            <a:r>
              <a:rPr lang="en-US" sz="1600" b="1" dirty="0">
                <a:solidFill>
                  <a:srgbClr val="8A9099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2026</a:t>
            </a:r>
            <a:r>
              <a:rPr lang="ko-KR" sz="1600" dirty="0">
                <a:solidFill>
                  <a:srgbClr val="3C4148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	KT x Palantir Agent Camp · 최우수상</a:t>
            </a:r>
          </a:p>
          <a:p>
            <a:pPr marL="0" indent="0" algn="l">
              <a:spcBef>
                <a:spcPts val="1100"/>
              </a:spcBef>
              <a:buNone/>
            </a:pPr>
            <a:r>
              <a:rPr lang="ko-KR" sz="1700" b="1" spc="15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경력</a:t>
            </a:r>
          </a:p>
          <a:p>
            <a:pPr marL="1600200" indent="-1600200" algn="l">
              <a:spcBef>
                <a:spcPts val="600"/>
              </a:spcBef>
              <a:buNone/>
              <a:tabLst>
                <a:tab pos="1600200" algn="l"/>
              </a:tabLst>
            </a:pPr>
            <a:r>
              <a:rPr lang="en-US" sz="1600" b="1" dirty="0">
                <a:solidFill>
                  <a:srgbClr val="8A9099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2026~</a:t>
            </a:r>
            <a:r>
              <a:rPr lang="ko-KR" sz="1600" dirty="0">
                <a:solidFill>
                  <a:srgbClr val="3C4148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	NW 보안</a:t>
            </a:r>
          </a:p>
          <a:p>
            <a:pPr marL="1600200" indent="-1600200" algn="l">
              <a:spcBef>
                <a:spcPts val="400"/>
              </a:spcBef>
              <a:buNone/>
              <a:tabLst>
                <a:tab pos="1600200" algn="l"/>
              </a:tabLst>
            </a:pPr>
            <a:r>
              <a:rPr lang="en-US" sz="1600" b="1" dirty="0">
                <a:solidFill>
                  <a:srgbClr val="8A9099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2022~2025</a:t>
            </a:r>
            <a:r>
              <a:rPr lang="ko-KR" sz="1600" dirty="0">
                <a:solidFill>
                  <a:srgbClr val="3C4148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	신사업 개발 / 교육 (AI 스피커, 테이블 오더)</a:t>
            </a:r>
          </a:p>
          <a:p>
            <a:pPr marL="1600200" indent="-1600200" algn="l">
              <a:spcBef>
                <a:spcPts val="400"/>
              </a:spcBef>
              <a:buNone/>
              <a:tabLst>
                <a:tab pos="1600200" algn="l"/>
              </a:tabLst>
            </a:pPr>
            <a:r>
              <a:rPr lang="en-US" sz="1600" b="1" dirty="0">
                <a:solidFill>
                  <a:srgbClr val="8A9099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2010~2021</a:t>
            </a:r>
            <a:r>
              <a:rPr lang="ko-KR" sz="1600" dirty="0">
                <a:solidFill>
                  <a:srgbClr val="3C4148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	무선 네트워크 엔지니어링</a:t>
            </a:r>
          </a:p>
        </p:txBody>
      </p:sp>
      <p:sp>
        <p:nvSpPr>
          <p:cNvPr id="9" name="Text 7"/>
          <p:cNvSpPr/>
          <p:nvPr/>
        </p:nvSpPr>
        <p:spPr>
          <a:xfrm>
            <a:off x="1371600" y="6172200"/>
            <a:ext cx="12897803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ko-KR" sz="1700" b="1" spc="15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문의   </a:t>
            </a:r>
            <a:r>
              <a:rPr lang="en-US" sz="1700" dirty="0">
                <a:solidFill>
                  <a:srgbClr val="3C4148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teddy.lee@kt.com</a:t>
            </a:r>
          </a:p>
        </p:txBody>
      </p:sp>
      <p:sp>
        <p:nvSpPr>
          <p:cNvPr id="14" name="Shape 11"/>
          <p:cNvSpPr/>
          <p:nvPr/>
        </p:nvSpPr>
        <p:spPr>
          <a:xfrm>
            <a:off x="914400" y="9512300"/>
            <a:ext cx="164592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914400" y="9652000"/>
            <a:ext cx="48654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INSTRUCTOR. 강사 소개</a:t>
            </a:r>
          </a:p>
        </p:txBody>
      </p:sp>
      <p:sp>
        <p:nvSpPr>
          <p:cNvPr id="16" name="Text 13"/>
          <p:cNvSpPr/>
          <p:nvPr/>
        </p:nvSpPr>
        <p:spPr>
          <a:xfrm>
            <a:off x="16498044" y="9652000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03 / 60</a:t>
            </a:r>
            <a:endParaRPr lang="en-US" sz="1650" dirty="0"/>
          </a:p>
        </p:txBody>
      </p:sp>
      <p:sp>
        <p:nvSpPr>
          <p:cNvPr id="900" name="AccentBar"/>
          <p:cNvSpPr/>
          <p:nvPr/>
        </p:nvSpPr>
        <p:spPr>
          <a:xfrm>
            <a:off x="914400" y="381000"/>
            <a:ext cx="16459200" cy="63500"/>
          </a:xfrm>
          <a:prstGeom prst="rect">
            <a:avLst/>
          </a:prstGeom>
          <a:solidFill>
            <a:srgbClr val="6941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490BAE7-0A3E-0847-AEC7-7A662B256555}"/>
              </a:ext>
            </a:extLst>
          </p:cNvPr>
          <p:cNvSpPr/>
          <p:nvPr/>
        </p:nvSpPr>
        <p:spPr>
          <a:xfrm>
            <a:off x="1371600" y="7569200"/>
            <a:ext cx="4910666" cy="38100"/>
          </a:xfrm>
          <a:prstGeom prst="rect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2DB701-BCA6-9F48-A277-68CAF0C527E9}"/>
              </a:ext>
            </a:extLst>
          </p:cNvPr>
          <p:cNvSpPr txBox="1"/>
          <p:nvPr/>
        </p:nvSpPr>
        <p:spPr>
          <a:xfrm>
            <a:off x="1371600" y="7797800"/>
            <a:ext cx="4910666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2200" b="1">
                <a:solidFill>
                  <a:srgbClr val="E0282F"/>
                </a:solidFill>
                <a:latin typeface="BM DoHyeon OTF"/>
                <a:ea typeface="BM DoHyeon OTF"/>
              </a:rPr>
              <a:t>AI-102</a:t>
            </a:r>
            <a:endParaRPr lang="ko-KR" altLang="en-US" sz="2200" b="1">
              <a:solidFill>
                <a:srgbClr val="E0282F"/>
              </a:solidFill>
              <a:latin typeface="BM DoHyeon OTF"/>
              <a:ea typeface="BM DoHyeon OTF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AC57B2-2FD9-2341-9495-53F5D51023B2}"/>
              </a:ext>
            </a:extLst>
          </p:cNvPr>
          <p:cNvSpPr txBox="1"/>
          <p:nvPr/>
        </p:nvSpPr>
        <p:spPr>
          <a:xfrm>
            <a:off x="1371600" y="8255000"/>
            <a:ext cx="4910666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500">
                <a:solidFill>
                  <a:srgbClr val="5A5F66"/>
                </a:solidFill>
                <a:latin typeface="BM DoHyeon OTF"/>
                <a:ea typeface="BM DoHyeon OTF"/>
              </a:rPr>
              <a:t>Microsoft Certified: Azure AI Engineer Associate</a:t>
            </a:r>
            <a:endParaRPr lang="ko-KR" altLang="en-US" sz="1500">
              <a:solidFill>
                <a:srgbClr val="5A5F66"/>
              </a:solidFill>
              <a:latin typeface="BM DoHyeon OTF"/>
              <a:ea typeface="BM DoHyeon OTF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69D6FCA-35AE-9C40-9816-7C037E64320C}"/>
              </a:ext>
            </a:extLst>
          </p:cNvPr>
          <p:cNvSpPr/>
          <p:nvPr/>
        </p:nvSpPr>
        <p:spPr>
          <a:xfrm>
            <a:off x="6688666" y="7569200"/>
            <a:ext cx="4910666" cy="38100"/>
          </a:xfrm>
          <a:prstGeom prst="rect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7EBA70-B5C2-5F46-A18E-5995DF861CC2}"/>
              </a:ext>
            </a:extLst>
          </p:cNvPr>
          <p:cNvSpPr txBox="1"/>
          <p:nvPr/>
        </p:nvSpPr>
        <p:spPr>
          <a:xfrm>
            <a:off x="6688666" y="7797800"/>
            <a:ext cx="4910666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2200" b="1">
                <a:solidFill>
                  <a:srgbClr val="E0282F"/>
                </a:solidFill>
                <a:latin typeface="BM DoHyeon OTF"/>
                <a:ea typeface="BM DoHyeon OTF"/>
              </a:rPr>
              <a:t>DP-300</a:t>
            </a:r>
            <a:endParaRPr lang="ko-KR" altLang="en-US" sz="2200" b="1">
              <a:solidFill>
                <a:srgbClr val="E0282F"/>
              </a:solidFill>
              <a:latin typeface="BM DoHyeon OTF"/>
              <a:ea typeface="BM DoHyeon OTF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FEF479-7EB0-2847-8EE9-DB64B8BCF88F}"/>
              </a:ext>
            </a:extLst>
          </p:cNvPr>
          <p:cNvSpPr txBox="1"/>
          <p:nvPr/>
        </p:nvSpPr>
        <p:spPr>
          <a:xfrm>
            <a:off x="6688666" y="8255000"/>
            <a:ext cx="4910666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500">
                <a:solidFill>
                  <a:srgbClr val="5A5F66"/>
                </a:solidFill>
                <a:latin typeface="BM DoHyeon OTF"/>
                <a:ea typeface="BM DoHyeon OTF"/>
              </a:rPr>
              <a:t>Microsoft Certified: Azure Database Administrator Associate</a:t>
            </a:r>
            <a:endParaRPr lang="ko-KR" altLang="en-US" sz="1500">
              <a:solidFill>
                <a:srgbClr val="5A5F66"/>
              </a:solidFill>
              <a:latin typeface="BM DoHyeon OTF"/>
              <a:ea typeface="BM DoHyeon OTF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9D16A16-3D58-044E-AFAA-E8BB62EDC960}"/>
              </a:ext>
            </a:extLst>
          </p:cNvPr>
          <p:cNvSpPr/>
          <p:nvPr/>
        </p:nvSpPr>
        <p:spPr>
          <a:xfrm>
            <a:off x="12005733" y="7569200"/>
            <a:ext cx="4910666" cy="38100"/>
          </a:xfrm>
          <a:prstGeom prst="rect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583508-A410-2B4F-B652-84632AB90FA2}"/>
              </a:ext>
            </a:extLst>
          </p:cNvPr>
          <p:cNvSpPr txBox="1"/>
          <p:nvPr/>
        </p:nvSpPr>
        <p:spPr>
          <a:xfrm>
            <a:off x="12005733" y="7797800"/>
            <a:ext cx="4910666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2200" b="1">
                <a:solidFill>
                  <a:srgbClr val="E0282F"/>
                </a:solidFill>
                <a:latin typeface="BM DoHyeon OTF"/>
                <a:ea typeface="BM DoHyeon OTF"/>
              </a:rPr>
              <a:t>GH-300</a:t>
            </a:r>
            <a:endParaRPr lang="ko-KR" altLang="en-US" sz="2200" b="1">
              <a:solidFill>
                <a:srgbClr val="E0282F"/>
              </a:solidFill>
              <a:latin typeface="BM DoHyeon OTF"/>
              <a:ea typeface="BM DoHyeon OTF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05D882-63A9-CE4B-8A3C-82E583553B6B}"/>
              </a:ext>
            </a:extLst>
          </p:cNvPr>
          <p:cNvSpPr txBox="1"/>
          <p:nvPr/>
        </p:nvSpPr>
        <p:spPr>
          <a:xfrm>
            <a:off x="12005733" y="8255000"/>
            <a:ext cx="4910666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500">
                <a:solidFill>
                  <a:srgbClr val="5A5F66"/>
                </a:solidFill>
                <a:latin typeface="BM DoHyeon OTF"/>
                <a:ea typeface="BM DoHyeon OTF"/>
              </a:rPr>
              <a:t>GitHub Copilot Certification</a:t>
            </a:r>
            <a:endParaRPr lang="ko-KR" altLang="en-US" sz="1500">
              <a:solidFill>
                <a:srgbClr val="5A5F66"/>
              </a:solidFill>
              <a:latin typeface="BM DoHyeon OTF"/>
              <a:ea typeface="BM DoHyeon OTF"/>
            </a:endParaRPr>
          </a:p>
        </p:txBody>
      </p:sp>
      <p:pic>
        <p:nvPicPr>
          <p:cNvPr id="901" name="Graphic 901" descr="강사를 나타내는 사람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46200" y="2603500"/>
            <a:ext cx="2921000" cy="2921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842F27-284A-914B-84E8-DFF7FC5B94FD}"/>
              </a:ext>
            </a:extLst>
          </p:cNvPr>
          <p:cNvSpPr txBox="1"/>
          <p:nvPr/>
        </p:nvSpPr>
        <p:spPr>
          <a:xfrm>
            <a:off x="1371600" y="7061200"/>
            <a:ext cx="381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E0282F"/>
                </a:solidFill>
                <a:latin typeface="BM DoHyeon OTF"/>
                <a:ea typeface="BM DoHyeon OTF"/>
              </a:rPr>
              <a:t>보유 자격</a:t>
            </a:r>
          </a:p>
        </p:txBody>
      </p:sp>
    </p:spTree>
    <p:extLst>
      <p:ext uri="{BB962C8B-B14F-4D97-AF65-F5344CB8AC3E}">
        <p14:creationId xmlns:p14="http://schemas.microsoft.com/office/powerpoint/2010/main" val="1942089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54100"/>
            <a:ext cx="164592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647700"/>
            <a:ext cx="466068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CURRICULUM — ROADMAP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473982" y="609600"/>
            <a:ext cx="31895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24" dirty="0">
                <a:solidFill>
                  <a:srgbClr val="6941F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AX 일방식 혁신 교육 · KT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40017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00</a:t>
            </a:r>
            <a:endParaRPr lang="en-US" sz="7800" dirty="0"/>
          </a:p>
        </p:txBody>
      </p:sp>
      <p:sp>
        <p:nvSpPr>
          <p:cNvPr id="6" name="Shape 4"/>
          <p:cNvSpPr/>
          <p:nvPr/>
        </p:nvSpPr>
        <p:spPr>
          <a:xfrm>
            <a:off x="2781300" y="1400175"/>
            <a:ext cx="9525" cy="1245691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48025" y="1400175"/>
            <a:ext cx="15538133" cy="744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2750"/>
              </a:lnSpc>
              <a:buNone/>
            </a:pPr>
            <a:r>
              <a:rPr lang="en-US" sz="5250" b="1" kern="0" spc="-79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전체 교육 커리큘럼</a:t>
            </a:r>
            <a:endParaRPr lang="en-US" sz="5250" dirty="0"/>
          </a:p>
        </p:txBody>
      </p:sp>
      <p:sp>
        <p:nvSpPr>
          <p:cNvPr id="8" name="Text 6"/>
          <p:cNvSpPr/>
          <p:nvPr/>
        </p:nvSpPr>
        <p:spPr>
          <a:xfrm>
            <a:off x="3248025" y="2259211"/>
            <a:ext cx="15538133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6875"/>
              </a:lnSpc>
              <a:buNone/>
            </a:pPr>
            <a:r>
              <a:rPr lang="en-US" sz="2400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패러다임 전환 · 환경 구축 · 오피스 실무 · 종합 플레이북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2969716"/>
            <a:ext cx="164592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14400" y="3241328"/>
            <a:ext cx="157162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6567"/>
              </a:lnSpc>
              <a:buNone/>
            </a:pPr>
            <a:r>
              <a:rPr lang="en-US" sz="435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01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2724150" y="3317528"/>
            <a:ext cx="12971145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0222"/>
              </a:lnSpc>
              <a:buNone/>
            </a:pPr>
            <a:r>
              <a:rPr lang="en-US" sz="30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M365 Copilot의 변화, 일을 더 잘 이해하게 된 AI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724150" y="3885158"/>
            <a:ext cx="129711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멀티 모델 전략 · Work IQ · Copilot Chat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4649450" y="3469928"/>
            <a:ext cx="27241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kern="0" spc="288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UNIT 01 — 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49450" y="3812828"/>
            <a:ext cx="27241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575" b="1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Microsoft 365 Copilot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914400" y="4456658"/>
            <a:ext cx="164592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14400" y="4751933"/>
            <a:ext cx="157162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6567"/>
              </a:lnSpc>
              <a:buNone/>
            </a:pPr>
            <a:r>
              <a:rPr lang="en-US" sz="435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02</a:t>
            </a:r>
            <a:endParaRPr lang="en-US" sz="4350" dirty="0"/>
          </a:p>
        </p:txBody>
      </p:sp>
      <p:sp>
        <p:nvSpPr>
          <p:cNvPr id="17" name="Text 15"/>
          <p:cNvSpPr/>
          <p:nvPr/>
        </p:nvSpPr>
        <p:spPr>
          <a:xfrm>
            <a:off x="2724150" y="4828133"/>
            <a:ext cx="12971145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0222"/>
              </a:lnSpc>
              <a:buNone/>
            </a:pPr>
            <a:r>
              <a:rPr lang="en-US" sz="30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사전 준비, Copilot 활용을 위한 업무 환경 만들기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724150" y="5395764"/>
            <a:ext cx="129711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문서 중앙화 · 팀 지식 베이스 · 권한 관리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4649450" y="4980533"/>
            <a:ext cx="27241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kern="0" spc="288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UNIT 05 — 08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314516" y="5323433"/>
            <a:ext cx="305908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b="1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OneDrive · SharePoint · Teams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914400" y="6085433"/>
            <a:ext cx="164592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14400" y="6380708"/>
            <a:ext cx="157162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6567"/>
              </a:lnSpc>
              <a:buNone/>
            </a:pPr>
            <a:r>
              <a:rPr lang="en-US" sz="435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03</a:t>
            </a:r>
            <a:endParaRPr lang="en-US" sz="4350" dirty="0"/>
          </a:p>
        </p:txBody>
      </p:sp>
      <p:sp>
        <p:nvSpPr>
          <p:cNvPr id="23" name="Text 21"/>
          <p:cNvSpPr/>
          <p:nvPr/>
        </p:nvSpPr>
        <p:spPr>
          <a:xfrm>
            <a:off x="2724150" y="6456908"/>
            <a:ext cx="12971145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0222"/>
              </a:lnSpc>
              <a:buNone/>
            </a:pPr>
            <a:r>
              <a:rPr lang="en-US" sz="30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산더미 같은 이메일 탈출과 스마트한 일정 관리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2724150" y="7024539"/>
            <a:ext cx="129711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메일 요약 · </a:t>
            </a:r>
            <a:r>
              <a:rPr lang="ko-KR" altLang="en-US" sz="187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일정 등록</a:t>
            </a:r>
            <a:r>
              <a:rPr lang="en-US" sz="187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 · 스마트 회의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4649450" y="6609308"/>
            <a:ext cx="27241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kern="0" spc="288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UNIT 09 — 12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649450" y="6952208"/>
            <a:ext cx="27241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575" b="1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Outlook · Teams</a:t>
            </a:r>
            <a:endParaRPr lang="en-US" sz="1575" dirty="0"/>
          </a:p>
        </p:txBody>
      </p:sp>
      <p:sp>
        <p:nvSpPr>
          <p:cNvPr id="27" name="Shape 25"/>
          <p:cNvSpPr/>
          <p:nvPr/>
        </p:nvSpPr>
        <p:spPr>
          <a:xfrm>
            <a:off x="914400" y="7596039"/>
            <a:ext cx="164592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914400" y="7891314"/>
            <a:ext cx="157162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6567"/>
              </a:lnSpc>
              <a:buNone/>
            </a:pPr>
            <a:r>
              <a:rPr lang="en-US" sz="435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04</a:t>
            </a:r>
            <a:endParaRPr lang="en-US" sz="4350" dirty="0"/>
          </a:p>
        </p:txBody>
      </p:sp>
      <p:sp>
        <p:nvSpPr>
          <p:cNvPr id="29" name="Text 27"/>
          <p:cNvSpPr/>
          <p:nvPr/>
        </p:nvSpPr>
        <p:spPr>
          <a:xfrm>
            <a:off x="2724150" y="7967514"/>
            <a:ext cx="12971145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0222"/>
              </a:lnSpc>
              <a:buNone/>
            </a:pPr>
            <a:r>
              <a:rPr lang="en-US" sz="30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데이터 기반 의사결정, 에이전트 모드 실전 플레이북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2724150" y="8535144"/>
            <a:ext cx="129711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Excel 분석 · Word 문서화 · PPT 보고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14649450" y="8119914"/>
            <a:ext cx="27241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kern="0" spc="288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UNIT 13 — 51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198138" y="8462814"/>
            <a:ext cx="317546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75" b="1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Excel · Word · PowerPoint · Teams</a:t>
            </a:r>
            <a:endParaRPr lang="en-US" sz="1575" dirty="0"/>
          </a:p>
        </p:txBody>
      </p:sp>
      <p:sp>
        <p:nvSpPr>
          <p:cNvPr id="33" name="Shape 31"/>
          <p:cNvSpPr/>
          <p:nvPr/>
        </p:nvSpPr>
        <p:spPr>
          <a:xfrm>
            <a:off x="914400" y="9512300"/>
            <a:ext cx="164592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914400" y="9652000"/>
            <a:ext cx="24365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KT AX 핵심 직무 교육과정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6498044" y="9652000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 / 60</a:t>
            </a:r>
            <a:endParaRPr lang="en-US" sz="1650" dirty="0"/>
          </a:p>
        </p:txBody>
      </p:sp>
      <p:sp>
        <p:nvSpPr>
          <p:cNvPr id="900" name="AccentBar"/>
          <p:cNvSpPr/>
          <p:nvPr/>
        </p:nvSpPr>
        <p:spPr>
          <a:xfrm>
            <a:off x="914400" y="381000"/>
            <a:ext cx="16459200" cy="63500"/>
          </a:xfrm>
          <a:prstGeom prst="rect">
            <a:avLst/>
          </a:prstGeom>
          <a:solidFill>
            <a:srgbClr val="6941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92572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54100"/>
            <a:ext cx="164592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638175"/>
            <a:ext cx="389140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01 · 챕터 간지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473982" y="609600"/>
            <a:ext cx="31895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24" dirty="0">
                <a:solidFill>
                  <a:srgbClr val="6941F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AX 일방식 혁신 교육 · KT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986213"/>
            <a:ext cx="3771900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69364"/>
              </a:lnSpc>
              <a:buNone/>
            </a:pPr>
            <a:r>
              <a:rPr lang="en-US" sz="2250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01</a:t>
            </a:r>
            <a:endParaRPr lang="en-US" sz="22500" dirty="0"/>
          </a:p>
        </p:txBody>
      </p:sp>
      <p:sp>
        <p:nvSpPr>
          <p:cNvPr id="6" name="Shape 4"/>
          <p:cNvSpPr/>
          <p:nvPr/>
        </p:nvSpPr>
        <p:spPr>
          <a:xfrm>
            <a:off x="5029200" y="2886373"/>
            <a:ext cx="9525" cy="4485531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48325" y="3060700"/>
            <a:ext cx="17594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400" b="1" kern="0" spc="468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648325" y="3353097"/>
            <a:ext cx="12077033" cy="2353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600" b="1" kern="0" spc="-132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M365 Copilot의 변화, </a:t>
            </a:r>
          </a:p>
          <a:p>
            <a:pPr marL="0" indent="0" algn="l">
              <a:buNone/>
            </a:pPr>
            <a:r>
              <a:rPr lang="en-US" sz="6600" b="1" kern="0" spc="-132" dirty="0" err="1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일을</a:t>
            </a:r>
            <a:r>
              <a:rPr lang="en-US" sz="6600" b="1" kern="0" spc="-132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 더 잘 이해하게 된 AI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5648325" y="5377458"/>
            <a:ext cx="12897803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24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2026년, 완전히 달라진 M365 Copilot</a:t>
            </a:r>
            <a:endParaRPr lang="en-US" sz="2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48325" y="6105079"/>
            <a:ext cx="438150" cy="43815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648325" y="6867079"/>
            <a:ext cx="11725275" cy="28575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648325" y="7105204"/>
            <a:ext cx="23620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Microsoft 365 Copilot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214717" y="7105204"/>
            <a:ext cx="20855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UNIT 01 · 04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14400" y="9512300"/>
            <a:ext cx="164592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914400" y="9652000"/>
            <a:ext cx="48654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01. M365 Copilot의 변화, 일을 더 잘 이해하게 된 AI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6498044" y="9652000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05 / 60</a:t>
            </a:r>
            <a:endParaRPr lang="en-US" sz="1650" dirty="0"/>
          </a:p>
        </p:txBody>
      </p:sp>
      <p:sp>
        <p:nvSpPr>
          <p:cNvPr id="900" name="AccentBar"/>
          <p:cNvSpPr/>
          <p:nvPr/>
        </p:nvSpPr>
        <p:spPr>
          <a:xfrm>
            <a:off x="914400" y="381000"/>
            <a:ext cx="16459200" cy="63500"/>
          </a:xfrm>
          <a:prstGeom prst="rect">
            <a:avLst/>
          </a:prstGeom>
          <a:solidFill>
            <a:srgbClr val="6941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363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694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01 — UNIT 01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024943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482143" y="623888"/>
            <a:ext cx="21200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6941F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M365 COPILOT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01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231850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5957233" cy="744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2750"/>
              </a:lnSpc>
              <a:buNone/>
            </a:pPr>
            <a:r>
              <a:rPr lang="en-US" sz="5250" b="1" kern="0" spc="-79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웹 기반의 범용 AI와 M365 Copilot의 핵심 차이</a:t>
            </a:r>
            <a:endParaRPr lang="en-US" sz="5250" dirty="0"/>
          </a:p>
        </p:txBody>
      </p:sp>
      <p:sp>
        <p:nvSpPr>
          <p:cNvPr id="10" name="Text 7"/>
          <p:cNvSpPr/>
          <p:nvPr/>
        </p:nvSpPr>
        <p:spPr>
          <a:xfrm>
            <a:off x="3019425" y="2163961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400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사내 업무 맥락과 엔터프라이즈 보안을 갖춘 AI로의 전환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62000" y="2765375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890961"/>
            <a:ext cx="7168477" cy="75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웹 기반 범용 AI </a:t>
            </a:r>
            <a:r>
              <a:rPr lang="en-US" sz="28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(</a:t>
            </a:r>
            <a:r>
              <a:rPr lang="en-US" sz="2800" b="1" dirty="0" err="1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ChatGPT등</a:t>
            </a:r>
            <a:r>
              <a:rPr lang="en-US" sz="28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)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5463078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1998" y="4896573"/>
            <a:ext cx="2087928" cy="573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r>
              <a:rPr lang="en-US" sz="2400" b="1" dirty="0" err="1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</a:rPr>
              <a:t>맥락</a:t>
            </a:r>
            <a:r>
              <a:rPr lang="en-US" sz="24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</a:rPr>
              <a:t> </a:t>
            </a:r>
            <a:r>
              <a:rPr lang="en-US" sz="2400" b="1" dirty="0" err="1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</a:rPr>
              <a:t>부재</a:t>
            </a:r>
            <a:endParaRPr lang="en-US" sz="2400" b="1" dirty="0">
              <a:solidFill>
                <a:srgbClr val="131415"/>
              </a:solidFill>
              <a:latin typeface="BM DoHyeon OTF" pitchFamily="34" charset="0"/>
              <a:ea typeface="BM DoHyeon OTF" pitchFamily="34" charset="-122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719802" y="4923039"/>
            <a:ext cx="5470966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사내 메일·Teams·문서를 모름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762000" y="6270024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1998" y="5736198"/>
            <a:ext cx="2087928" cy="573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r>
              <a:rPr lang="en-US" sz="2400" b="1" dirty="0" err="1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</a:rPr>
              <a:t>유출</a:t>
            </a:r>
            <a:r>
              <a:rPr lang="en-US" sz="24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</a:rPr>
              <a:t> </a:t>
            </a:r>
            <a:r>
              <a:rPr lang="en-US" sz="2400" b="1" dirty="0" err="1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</a:rPr>
              <a:t>위험</a:t>
            </a:r>
            <a:endParaRPr lang="en-US" sz="2400" b="1" dirty="0">
              <a:solidFill>
                <a:srgbClr val="131415"/>
              </a:solidFill>
              <a:latin typeface="BM DoHyeon OTF" pitchFamily="34" charset="0"/>
              <a:ea typeface="BM DoHyeon OTF" pitchFamily="34" charset="-122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2719802" y="5663103"/>
            <a:ext cx="498869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입력이 외부 모델에 노출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761998" y="6543144"/>
            <a:ext cx="2087928" cy="573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수동 작업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2719802" y="6470049"/>
            <a:ext cx="560383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브라우저↔오피스 복사·붙여넣기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9144000" y="3643313"/>
            <a:ext cx="9525" cy="400734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3890960"/>
            <a:ext cx="7646497" cy="75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</a:rPr>
              <a:t>M365 Copilot</a:t>
            </a:r>
          </a:p>
        </p:txBody>
      </p:sp>
      <p:sp>
        <p:nvSpPr>
          <p:cNvPr id="23" name="Shape 20"/>
          <p:cNvSpPr/>
          <p:nvPr/>
        </p:nvSpPr>
        <p:spPr>
          <a:xfrm>
            <a:off x="9572625" y="5468138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572623" y="4960396"/>
            <a:ext cx="2087928" cy="46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사내 맥락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11784367" y="4923039"/>
            <a:ext cx="4866077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내 메일·일정·문서를 즉시 연계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9572625" y="6276274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3" y="5736199"/>
            <a:ext cx="2087928" cy="46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데이터 보호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11784367" y="5663103"/>
            <a:ext cx="5470647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고객 데이터는 모델 학습에 미사용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9572624" y="6543145"/>
            <a:ext cx="2087928" cy="46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권한 준수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11784366" y="6470049"/>
            <a:ext cx="4747619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내 읽기 권한 범위에서만 답변</a:t>
            </a:r>
            <a:endParaRPr lang="en-US" sz="2400" dirty="0"/>
          </a:p>
        </p:txBody>
      </p:sp>
      <p:sp>
        <p:nvSpPr>
          <p:cNvPr id="31" name="Shape 28"/>
          <p:cNvSpPr/>
          <p:nvPr/>
        </p:nvSpPr>
        <p:spPr>
          <a:xfrm>
            <a:off x="768107" y="8610446"/>
            <a:ext cx="16764000" cy="28575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768107" y="8791422"/>
            <a:ext cx="508000" cy="620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15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요점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668651" y="8791422"/>
            <a:ext cx="14981793" cy="657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030"/>
              </a:lnSpc>
              <a:buNone/>
            </a:pPr>
            <a:r>
              <a:rPr lang="en-US" sz="24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웹 AI가 일반 지식 도우미라면, M365 Copilot은 사내 권한과 보안을 지키는 전담 동료입니다.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762000" y="9648825"/>
            <a:ext cx="48654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01. M365 Copilot의 변화, 일을 더 잘 이해하게 된 AI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06 / 60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3927737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694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5410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01 · UNIT 02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024943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482143" y="623888"/>
            <a:ext cx="21200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6941F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M365 COPILOT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02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5957233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2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Copilot 멀티 모델 전략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400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작업의 성격과 난이도에 따라 GPT와 Claude를 골라 씁니다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4335959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GPT-5.6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762000" y="5017889"/>
            <a:ext cx="875919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941"/>
              </a:lnSpc>
              <a:buNone/>
            </a:pPr>
            <a:r>
              <a:rPr lang="en-US" sz="2250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다단계 추론, 에이전트형 코딩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762000" y="6230838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762000" y="5670352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강점</a:t>
            </a:r>
            <a:endParaRPr lang="en-US" sz="2475" dirty="0"/>
          </a:p>
        </p:txBody>
      </p:sp>
      <p:sp>
        <p:nvSpPr>
          <p:cNvPr id="16" name="Text 13"/>
          <p:cNvSpPr/>
          <p:nvPr/>
        </p:nvSpPr>
        <p:spPr>
          <a:xfrm>
            <a:off x="2038350" y="5622727"/>
            <a:ext cx="418527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복합 계산, 통계 분석, 빠른 응답</a:t>
            </a:r>
            <a:endParaRPr lang="en-US" sz="2475" dirty="0"/>
          </a:p>
        </p:txBody>
      </p:sp>
      <p:sp>
        <p:nvSpPr>
          <p:cNvPr id="17" name="Text 14"/>
          <p:cNvSpPr/>
          <p:nvPr/>
        </p:nvSpPr>
        <p:spPr>
          <a:xfrm>
            <a:off x="762000" y="6478488"/>
            <a:ext cx="12511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사용 사례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2146548" y="6430863"/>
            <a:ext cx="6365081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CAPEX 회수율 계산, 트래픽 이상 탐지 (Excel)</a:t>
            </a:r>
            <a:endParaRPr lang="en-US" sz="2475" dirty="0"/>
          </a:p>
        </p:txBody>
      </p:sp>
      <p:sp>
        <p:nvSpPr>
          <p:cNvPr id="19" name="Shape 16"/>
          <p:cNvSpPr/>
          <p:nvPr/>
        </p:nvSpPr>
        <p:spPr>
          <a:xfrm>
            <a:off x="9144000" y="4088309"/>
            <a:ext cx="9525" cy="319831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9572625" y="4335959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</a:rPr>
              <a:t>Claude (Sonnet · Opus)</a:t>
            </a:r>
          </a:p>
        </p:txBody>
      </p:sp>
      <p:sp>
        <p:nvSpPr>
          <p:cNvPr id="21" name="Text 18"/>
          <p:cNvSpPr/>
          <p:nvPr/>
        </p:nvSpPr>
        <p:spPr>
          <a:xfrm>
            <a:off x="9572625" y="5017889"/>
            <a:ext cx="8748712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941"/>
              </a:lnSpc>
              <a:buNone/>
            </a:pPr>
            <a:r>
              <a:rPr lang="en-US" sz="2250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긴 문맥과 문서·코드에 강한 모델. 난도에 따라 선택합니다.</a:t>
            </a:r>
            <a:endParaRPr lang="en-US" sz="2250" dirty="0"/>
          </a:p>
        </p:txBody>
      </p:sp>
      <p:sp>
        <p:nvSpPr>
          <p:cNvPr id="22" name="Shape 19"/>
          <p:cNvSpPr/>
          <p:nvPr/>
        </p:nvSpPr>
        <p:spPr>
          <a:xfrm>
            <a:off x="9572625" y="6230838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9572625" y="5670352"/>
            <a:ext cx="1143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Sonnet</a:t>
            </a:r>
            <a:endParaRPr lang="en-US" sz="2475" dirty="0"/>
          </a:p>
        </p:txBody>
      </p:sp>
      <p:sp>
        <p:nvSpPr>
          <p:cNvPr id="24" name="Text 21"/>
          <p:cNvSpPr/>
          <p:nvPr/>
        </p:nvSpPr>
        <p:spPr>
          <a:xfrm>
            <a:off x="10848975" y="5622727"/>
            <a:ext cx="644595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문서작성 및 요약, 일반 분석, 일상적인 반복 업무</a:t>
            </a:r>
            <a:endParaRPr lang="en-US" sz="2475" dirty="0"/>
          </a:p>
        </p:txBody>
      </p:sp>
      <p:sp>
        <p:nvSpPr>
          <p:cNvPr id="25" name="Text 22"/>
          <p:cNvSpPr/>
          <p:nvPr/>
        </p:nvSpPr>
        <p:spPr>
          <a:xfrm>
            <a:off x="9572625" y="6478488"/>
            <a:ext cx="1143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Opus</a:t>
            </a:r>
            <a:endParaRPr lang="en-US" sz="2475" dirty="0"/>
          </a:p>
        </p:txBody>
      </p:sp>
      <p:sp>
        <p:nvSpPr>
          <p:cNvPr id="26" name="Text 23"/>
          <p:cNvSpPr/>
          <p:nvPr/>
        </p:nvSpPr>
        <p:spPr>
          <a:xfrm>
            <a:off x="10848975" y="6430863"/>
            <a:ext cx="5028545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복잡한 추론, 고난도 코드 설계/디버깅</a:t>
            </a:r>
            <a:endParaRPr lang="en-US" sz="2475" dirty="0"/>
          </a:p>
        </p:txBody>
      </p:sp>
      <p:sp>
        <p:nvSpPr>
          <p:cNvPr id="27" name="Shape 24"/>
          <p:cNvSpPr/>
          <p:nvPr/>
        </p:nvSpPr>
        <p:spPr>
          <a:xfrm>
            <a:off x="762000" y="7975600"/>
            <a:ext cx="16764000" cy="28575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762000" y="8153400"/>
            <a:ext cx="508000" cy="328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315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요점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663700" y="8153400"/>
            <a:ext cx="14986000" cy="505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23030"/>
              </a:lnSpc>
              <a:buNone/>
            </a:pPr>
            <a:r>
              <a:rPr lang="en-US" sz="24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빠른 계산·분석은 GPT-5.6, 문서·코드와 심층 추론은 Claude. </a:t>
            </a:r>
            <a:endParaRPr lang="en-US" sz="2400" dirty="0"/>
          </a:p>
        </p:txBody>
      </p:sp>
      <p:sp>
        <p:nvSpPr>
          <p:cNvPr id="30" name="Shape 27"/>
          <p:cNvSpPr/>
          <p:nvPr/>
        </p:nvSpPr>
        <p:spPr>
          <a:xfrm>
            <a:off x="762000" y="951230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762000" y="9652000"/>
            <a:ext cx="48654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01. M365 Copilot의 변화, 일을 더 잘 이해하게 된 AI</a:t>
            </a:r>
            <a:endParaRPr lang="en-US" sz="1650" dirty="0"/>
          </a:p>
        </p:txBody>
      </p:sp>
      <p:sp>
        <p:nvSpPr>
          <p:cNvPr id="32" name="Text 29"/>
          <p:cNvSpPr/>
          <p:nvPr/>
        </p:nvSpPr>
        <p:spPr>
          <a:xfrm>
            <a:off x="16650444" y="9652000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07 / 60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2061565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694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5410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01 — UNIT 03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024943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482143" y="623888"/>
            <a:ext cx="21200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6941F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M365 COPILOT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03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5957233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2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KT 사내 데이터 자산화 엔진 (Work IQ)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400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내 권한 범위의 메일·Teams·문서를 Copilot이 근거로 쓰게 해주는 사내 검색 엔진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794224"/>
            <a:ext cx="807720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무엇을 하나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5141416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580930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연결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1702191" y="4533305"/>
            <a:ext cx="679450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메일·Teams 대화·SharePoint 문서를 하나로 색인</a:t>
            </a:r>
            <a:endParaRPr lang="en-US" sz="2475" dirty="0"/>
          </a:p>
        </p:txBody>
      </p:sp>
      <p:sp>
        <p:nvSpPr>
          <p:cNvPr id="16" name="Shape 13"/>
          <p:cNvSpPr/>
          <p:nvPr/>
        </p:nvSpPr>
        <p:spPr>
          <a:xfrm>
            <a:off x="762000" y="5949553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5389066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권한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1702191" y="5341441"/>
            <a:ext cx="3709199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내가 열 수 있는 자료만 사용</a:t>
            </a:r>
            <a:endParaRPr lang="en-US" sz="2475" dirty="0"/>
          </a:p>
        </p:txBody>
      </p:sp>
      <p:sp>
        <p:nvSpPr>
          <p:cNvPr id="19" name="Text 16"/>
          <p:cNvSpPr/>
          <p:nvPr/>
        </p:nvSpPr>
        <p:spPr>
          <a:xfrm>
            <a:off x="762000" y="6197203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출처</a:t>
            </a:r>
            <a:endParaRPr lang="en-US" sz="2475" dirty="0"/>
          </a:p>
        </p:txBody>
      </p:sp>
      <p:sp>
        <p:nvSpPr>
          <p:cNvPr id="20" name="Text 17"/>
          <p:cNvSpPr/>
          <p:nvPr/>
        </p:nvSpPr>
        <p:spPr>
          <a:xfrm>
            <a:off x="1702191" y="6149578"/>
            <a:ext cx="3241477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답변마다 근거 링크 표시</a:t>
            </a:r>
            <a:endParaRPr lang="en-US" sz="2475" dirty="0"/>
          </a:p>
        </p:txBody>
      </p:sp>
      <p:sp>
        <p:nvSpPr>
          <p:cNvPr id="21" name="Shape 18"/>
          <p:cNvSpPr/>
          <p:nvPr/>
        </p:nvSpPr>
        <p:spPr>
          <a:xfrm>
            <a:off x="9144000" y="3546574"/>
            <a:ext cx="9525" cy="345876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3794224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>
              <a:lnSpc>
                <a:spcPct val="114727"/>
              </a:lnSpc>
            </a:pPr>
            <a:r>
              <a:rPr lang="en-US" sz="3600" b="1" dirty="0" err="1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</a:rPr>
              <a:t>어떻게</a:t>
            </a: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</a:rPr>
              <a:t> </a:t>
            </a:r>
            <a:r>
              <a:rPr lang="en-US" sz="3600" b="1" dirty="0" err="1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</a:rPr>
              <a:t>쓰나</a:t>
            </a:r>
            <a:endParaRPr lang="en-US" sz="3600" b="1" dirty="0">
              <a:solidFill>
                <a:srgbClr val="131415"/>
              </a:solidFill>
              <a:latin typeface="BM DoHyeon OTF" pitchFamily="34" charset="0"/>
              <a:ea typeface="BM DoHyeon OTF" pitchFamily="34" charset="-122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9572625" y="5141416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572625" y="4580930"/>
            <a:ext cx="1143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1</a:t>
            </a:r>
            <a:endParaRPr lang="en-US" sz="2475" dirty="0"/>
          </a:p>
        </p:txBody>
      </p:sp>
      <p:sp>
        <p:nvSpPr>
          <p:cNvPr id="25" name="Text 22"/>
          <p:cNvSpPr/>
          <p:nvPr/>
        </p:nvSpPr>
        <p:spPr>
          <a:xfrm>
            <a:off x="10074994" y="4533305"/>
            <a:ext cx="393250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Copilot에서 Work IQ를 ON</a:t>
            </a:r>
            <a:endParaRPr lang="en-US" sz="2475" dirty="0"/>
          </a:p>
        </p:txBody>
      </p:sp>
      <p:sp>
        <p:nvSpPr>
          <p:cNvPr id="26" name="Shape 23"/>
          <p:cNvSpPr/>
          <p:nvPr/>
        </p:nvSpPr>
        <p:spPr>
          <a:xfrm>
            <a:off x="9572625" y="5949553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5389066"/>
            <a:ext cx="1143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</a:t>
            </a:r>
            <a:endParaRPr lang="en-US" sz="2475" dirty="0"/>
          </a:p>
        </p:txBody>
      </p:sp>
      <p:sp>
        <p:nvSpPr>
          <p:cNvPr id="28" name="Text 25"/>
          <p:cNvSpPr/>
          <p:nvPr/>
        </p:nvSpPr>
        <p:spPr>
          <a:xfrm>
            <a:off x="10074994" y="5341441"/>
            <a:ext cx="354041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대상과 기간을 지정해 질문</a:t>
            </a:r>
            <a:endParaRPr lang="en-US" sz="2475" dirty="0"/>
          </a:p>
        </p:txBody>
      </p:sp>
      <p:sp>
        <p:nvSpPr>
          <p:cNvPr id="29" name="Text 26"/>
          <p:cNvSpPr/>
          <p:nvPr/>
        </p:nvSpPr>
        <p:spPr>
          <a:xfrm>
            <a:off x="9572625" y="6197203"/>
            <a:ext cx="1143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3</a:t>
            </a:r>
            <a:endParaRPr lang="en-US" sz="2475" dirty="0"/>
          </a:p>
        </p:txBody>
      </p:sp>
      <p:sp>
        <p:nvSpPr>
          <p:cNvPr id="30" name="Text 27"/>
          <p:cNvSpPr/>
          <p:nvPr/>
        </p:nvSpPr>
        <p:spPr>
          <a:xfrm>
            <a:off x="10074994" y="6149578"/>
            <a:ext cx="294270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출처 링크로 원문 확인</a:t>
            </a:r>
            <a:endParaRPr lang="en-US" sz="2475" dirty="0"/>
          </a:p>
        </p:txBody>
      </p:sp>
      <p:sp>
        <p:nvSpPr>
          <p:cNvPr id="31" name="Shape 28"/>
          <p:cNvSpPr/>
          <p:nvPr/>
        </p:nvSpPr>
        <p:spPr>
          <a:xfrm>
            <a:off x="762000" y="7905750"/>
            <a:ext cx="16764000" cy="1409700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047750" y="8543925"/>
            <a:ext cx="16192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1047750" y="7970938"/>
            <a:ext cx="23241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36" name="Text 33"/>
          <p:cNvSpPr/>
          <p:nvPr/>
        </p:nvSpPr>
        <p:spPr>
          <a:xfrm>
            <a:off x="1047750" y="8478938"/>
            <a:ext cx="16427450" cy="906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지난 2주 서부코어운용센터 Teams </a:t>
            </a:r>
            <a:r>
              <a:rPr lang="en-US" sz="2400" dirty="0" err="1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대화와</a:t>
            </a: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 </a:t>
            </a:r>
            <a:r>
              <a:rPr lang="en-US" sz="2400" dirty="0" err="1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이메일의</a:t>
            </a: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 장애 보고서를 근거로 반복 장애 원인 3가지를 출처와 함께 정리해줘.</a:t>
            </a:r>
            <a:endParaRPr lang="en-US" sz="2400" dirty="0"/>
          </a:p>
        </p:txBody>
      </p:sp>
      <p:sp>
        <p:nvSpPr>
          <p:cNvPr id="37" name="Shape 34"/>
          <p:cNvSpPr/>
          <p:nvPr/>
        </p:nvSpPr>
        <p:spPr>
          <a:xfrm>
            <a:off x="762000" y="951230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62000" y="9652000"/>
            <a:ext cx="48654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01. M365 Copilot의 변화, 일을 더 잘 이해하게 된 AI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16650444" y="9652000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08 / 60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25271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694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5410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01 — UNIT 04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024943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482143" y="623888"/>
            <a:ext cx="21200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6941F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M365 COPILOT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04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231850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5957233" cy="744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2750"/>
              </a:lnSpc>
              <a:buNone/>
            </a:pPr>
            <a:r>
              <a:rPr lang="en-US" sz="5250" b="1" kern="0" spc="-79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실시간 통합 워크스페이스 (Copilot Chat)</a:t>
            </a:r>
            <a:endParaRPr lang="en-US" sz="5250" dirty="0"/>
          </a:p>
        </p:txBody>
      </p:sp>
      <p:sp>
        <p:nvSpPr>
          <p:cNvPr id="10" name="Text 7"/>
          <p:cNvSpPr/>
          <p:nvPr/>
        </p:nvSpPr>
        <p:spPr>
          <a:xfrm>
            <a:off x="3019425" y="2163961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400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Teams, SharePoint, Outlook을 횡단하며 사내 맥락을 실시간으로 융합하는 중앙 허브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765375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4561582"/>
            <a:ext cx="56856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33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횡단 질의</a:t>
            </a:r>
            <a:endParaRPr lang="en-US" sz="3375" dirty="0"/>
          </a:p>
        </p:txBody>
      </p:sp>
      <p:sp>
        <p:nvSpPr>
          <p:cNvPr id="13" name="Text 10"/>
          <p:cNvSpPr/>
          <p:nvPr/>
        </p:nvSpPr>
        <p:spPr>
          <a:xfrm>
            <a:off x="762000" y="5152132"/>
            <a:ext cx="5685681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941"/>
              </a:lnSpc>
              <a:buNone/>
            </a:pPr>
            <a:r>
              <a:rPr lang="en-US" sz="2250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Teams 대화와 문서를 한 번에 대조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6349901" y="4313932"/>
            <a:ext cx="9525" cy="1500188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6778526" y="4561582"/>
            <a:ext cx="521435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33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출처 확인</a:t>
            </a:r>
            <a:endParaRPr lang="en-US" sz="3375" dirty="0"/>
          </a:p>
        </p:txBody>
      </p:sp>
      <p:sp>
        <p:nvSpPr>
          <p:cNvPr id="16" name="Text 13"/>
          <p:cNvSpPr/>
          <p:nvPr/>
        </p:nvSpPr>
        <p:spPr>
          <a:xfrm>
            <a:off x="6778526" y="5152132"/>
            <a:ext cx="521435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941"/>
              </a:lnSpc>
              <a:buNone/>
            </a:pPr>
            <a:r>
              <a:rPr lang="en-US" sz="2250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답변마다 근거 대화·파일 링크 제공</a:t>
            </a:r>
            <a:endParaRPr lang="en-US" sz="2250" dirty="0"/>
          </a:p>
        </p:txBody>
      </p:sp>
      <p:sp>
        <p:nvSpPr>
          <p:cNvPr id="17" name="Shape 14"/>
          <p:cNvSpPr/>
          <p:nvPr/>
        </p:nvSpPr>
        <p:spPr>
          <a:xfrm>
            <a:off x="11937950" y="4313932"/>
            <a:ext cx="9525" cy="1500188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12366575" y="4561582"/>
            <a:ext cx="567536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33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바로 실행</a:t>
            </a:r>
            <a:endParaRPr lang="en-US" sz="3375" dirty="0"/>
          </a:p>
        </p:txBody>
      </p:sp>
      <p:sp>
        <p:nvSpPr>
          <p:cNvPr id="19" name="Text 16"/>
          <p:cNvSpPr/>
          <p:nvPr/>
        </p:nvSpPr>
        <p:spPr>
          <a:xfrm>
            <a:off x="12366575" y="5152132"/>
            <a:ext cx="567536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941"/>
              </a:lnSpc>
              <a:buNone/>
            </a:pPr>
            <a:r>
              <a:rPr lang="en-US" sz="2250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요약 결과로 회신 메일 초안까지 생성</a:t>
            </a:r>
            <a:endParaRPr lang="en-US" sz="2250" dirty="0"/>
          </a:p>
        </p:txBody>
      </p:sp>
      <p:sp>
        <p:nvSpPr>
          <p:cNvPr id="20" name="Shape 17"/>
          <p:cNvSpPr/>
          <p:nvPr/>
        </p:nvSpPr>
        <p:spPr>
          <a:xfrm>
            <a:off x="762000" y="7562850"/>
            <a:ext cx="16764000" cy="1752600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1047750" y="8201025"/>
            <a:ext cx="16192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1047750" y="7791450"/>
            <a:ext cx="158308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16094422" y="8048625"/>
            <a:ext cx="1145828" cy="19050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16056322" y="7791450"/>
            <a:ext cx="1222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프롬프트 복사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047750" y="8299450"/>
            <a:ext cx="161798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[Teams: 서부코어운용센터 채널]에서 오늘 오전 9시 이후 </a:t>
            </a:r>
            <a:r>
              <a:rPr lang="en-US" sz="2400" dirty="0" err="1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논의된</a:t>
            </a: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 ＇</a:t>
            </a:r>
            <a:r>
              <a:rPr lang="ko-KR" alt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코어</a:t>
            </a:r>
            <a:r>
              <a:rPr lang="en-US" altLang="ko-KR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 </a:t>
            </a:r>
            <a:r>
              <a:rPr lang="en-US" altLang="ko-KR" sz="2400" dirty="0" err="1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in:site</a:t>
            </a:r>
            <a:r>
              <a:rPr lang="en-US" altLang="ko-KR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 Day</a:t>
            </a: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' 관련 대화와, [SharePoint: 8</a:t>
            </a:r>
            <a:r>
              <a:rPr lang="ko-KR" alt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월 코어 </a:t>
            </a:r>
            <a:r>
              <a:rPr lang="en-US" altLang="ko-KR" sz="2400" dirty="0" err="1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in:sit</a:t>
            </a:r>
            <a:r>
              <a:rPr lang="en-US" altLang="ko-KR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 </a:t>
            </a:r>
            <a:r>
              <a:rPr lang="en-US" altLang="ko-KR" sz="2400" dirty="0" err="1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Day</a:t>
            </a:r>
            <a:r>
              <a:rPr lang="en-US" sz="2400" dirty="0" err="1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.docx</a:t>
            </a: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] 문서를 대조해서 발생 </a:t>
            </a:r>
            <a:r>
              <a:rPr lang="en-US" sz="2400" dirty="0" err="1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원인과</a:t>
            </a: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 </a:t>
            </a:r>
            <a:r>
              <a:rPr lang="ko-KR" alt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각 팀 호의결과를</a:t>
            </a: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 </a:t>
            </a:r>
            <a:r>
              <a:rPr lang="ko-KR" alt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팀별 </a:t>
            </a: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3줄로 요약하고, </a:t>
            </a:r>
            <a:r>
              <a:rPr lang="ko-KR" altLang="en-US" sz="2400" dirty="0" err="1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서부코어운용센터</a:t>
            </a:r>
            <a:r>
              <a:rPr lang="ko-KR" alt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 직원들</a:t>
            </a:r>
            <a:r>
              <a:rPr lang="en-US" sz="2400" dirty="0" err="1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에게</a:t>
            </a: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 보낼 회신 메일 초안을 작성해줘.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762000" y="951230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762000" y="9652000"/>
            <a:ext cx="48654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01. M365 Copilot의 변화, 일을 더 잘 이해하게 된 AI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16650444" y="9652000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09 / 60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1074371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54100"/>
            <a:ext cx="164592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638175"/>
            <a:ext cx="389140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02 · 챕터 간지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473982" y="609600"/>
            <a:ext cx="31895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24" dirty="0">
                <a:solidFill>
                  <a:srgbClr val="6941F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AX 일방식 혁신 교육 · KT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986213"/>
            <a:ext cx="3771900" cy="210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50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02</a:t>
            </a:r>
            <a:endParaRPr lang="en-US" sz="22500" dirty="0"/>
          </a:p>
        </p:txBody>
      </p:sp>
      <p:sp>
        <p:nvSpPr>
          <p:cNvPr id="6" name="Shape 4"/>
          <p:cNvSpPr/>
          <p:nvPr/>
        </p:nvSpPr>
        <p:spPr>
          <a:xfrm>
            <a:off x="5029200" y="2886373"/>
            <a:ext cx="9525" cy="4485531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48325" y="2886373"/>
            <a:ext cx="17594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400" b="1" kern="0" spc="468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648325" y="3353098"/>
            <a:ext cx="11874500" cy="254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600" b="1" kern="0" spc="-132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사전 준비, Copilot 활용을 위한 업무 환경 만들기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5648325" y="6324600"/>
            <a:ext cx="12897803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24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문서 중앙화, 일하는 방식 변화의 시작</a:t>
            </a:r>
            <a:endParaRPr lang="en-US" sz="2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51500" y="7124700"/>
            <a:ext cx="254000" cy="25400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6300" y="7124700"/>
            <a:ext cx="254000" cy="254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648325" y="6867079"/>
            <a:ext cx="11725275" cy="28575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6311900" y="7105204"/>
            <a:ext cx="34893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OneDrive · SharePoint · Teams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9906000" y="7105204"/>
            <a:ext cx="20855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UNIT 05 · 08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914400" y="9512300"/>
            <a:ext cx="164592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914400" y="9652000"/>
            <a:ext cx="48045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02. 사전 준비, Copilot 활용을 위한 업무 환경 만들기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16498044" y="9652000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10 / 60</a:t>
            </a:r>
            <a:endParaRPr lang="en-US" sz="1650" dirty="0"/>
          </a:p>
        </p:txBody>
      </p:sp>
      <p:sp>
        <p:nvSpPr>
          <p:cNvPr id="900" name="AccentBar"/>
          <p:cNvSpPr/>
          <p:nvPr/>
        </p:nvSpPr>
        <p:spPr>
          <a:xfrm>
            <a:off x="914400" y="381000"/>
            <a:ext cx="16459200" cy="63500"/>
          </a:xfrm>
          <a:prstGeom prst="rect">
            <a:avLst/>
          </a:prstGeom>
          <a:solidFill>
            <a:srgbClr val="6941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6075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694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02 — UNIT 05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024943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482143" y="623888"/>
            <a:ext cx="21200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6941F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M365 COPILOT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05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49637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Copilot 도입과 문서 중앙화의 필요성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파편화된 로컬 문서를 OneDrive로 옮기는 것이 Copilot 성능의 선결 조건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977878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로컬 PC 파편화의 한계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5325070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1999" y="4750744"/>
            <a:ext cx="2107111" cy="43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인덱싱 불가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2418457" y="4640759"/>
            <a:ext cx="6577905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바탕화면·C드라이브 파일은 Copilot이 접근 못함</a:t>
            </a:r>
            <a:endParaRPr lang="en-US" sz="2475" dirty="0"/>
          </a:p>
        </p:txBody>
      </p:sp>
      <p:sp>
        <p:nvSpPr>
          <p:cNvPr id="16" name="Shape 13"/>
          <p:cNvSpPr/>
          <p:nvPr/>
        </p:nvSpPr>
        <p:spPr>
          <a:xfrm>
            <a:off x="762000" y="6133207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1999" y="5558880"/>
            <a:ext cx="1656457" cy="43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지식 고립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2418457" y="5448895"/>
            <a:ext cx="5458941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담당자 부재 시 설정 파일·SOP 조회 불가</a:t>
            </a:r>
            <a:endParaRPr lang="en-US" sz="2475" dirty="0"/>
          </a:p>
        </p:txBody>
      </p:sp>
      <p:sp>
        <p:nvSpPr>
          <p:cNvPr id="19" name="Text 16"/>
          <p:cNvSpPr/>
          <p:nvPr/>
        </p:nvSpPr>
        <p:spPr>
          <a:xfrm>
            <a:off x="761999" y="6367017"/>
            <a:ext cx="1656457" cy="43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버전 충돌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2418457" y="6276082"/>
            <a:ext cx="4961587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"최종_진짜최종.xlsx" 류의 파일 혼선</a:t>
            </a:r>
            <a:endParaRPr lang="en-US" sz="2475" dirty="0"/>
          </a:p>
        </p:txBody>
      </p:sp>
      <p:sp>
        <p:nvSpPr>
          <p:cNvPr id="21" name="Shape 18"/>
          <p:cNvSpPr/>
          <p:nvPr/>
        </p:nvSpPr>
        <p:spPr>
          <a:xfrm>
            <a:off x="9144000" y="3730228"/>
            <a:ext cx="9525" cy="3914477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3977878"/>
            <a:ext cx="8410575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 err="1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</a:rPr>
              <a:t>클라우드</a:t>
            </a: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</a:rPr>
              <a:t> </a:t>
            </a:r>
            <a:r>
              <a:rPr lang="en-US" sz="3600" b="1" dirty="0" err="1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</a:rPr>
              <a:t>문서</a:t>
            </a: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</a:rPr>
              <a:t> </a:t>
            </a:r>
            <a:r>
              <a:rPr lang="en-US" sz="3600" b="1" dirty="0" err="1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</a:rPr>
              <a:t>중앙화</a:t>
            </a:r>
            <a:endParaRPr lang="en-US" sz="3600" b="1" dirty="0">
              <a:solidFill>
                <a:srgbClr val="131415"/>
              </a:solidFill>
              <a:latin typeface="BM DoHyeon OTF" pitchFamily="34" charset="0"/>
              <a:ea typeface="BM DoHyeon OTF" pitchFamily="34" charset="-122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9572625" y="5325070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572624" y="4750744"/>
            <a:ext cx="2107111" cy="43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자동 인덱싱</a:t>
            </a:r>
            <a:endParaRPr lang="en-US" sz="2300" dirty="0"/>
          </a:p>
        </p:txBody>
      </p:sp>
      <p:sp>
        <p:nvSpPr>
          <p:cNvPr id="25" name="Text 22"/>
          <p:cNvSpPr/>
          <p:nvPr/>
        </p:nvSpPr>
        <p:spPr>
          <a:xfrm>
            <a:off x="11229082" y="4640759"/>
            <a:ext cx="573037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업로드하면 Copilot 지식 기반에 자동 반영</a:t>
            </a:r>
            <a:endParaRPr lang="en-US" sz="2475" dirty="0"/>
          </a:p>
        </p:txBody>
      </p:sp>
      <p:sp>
        <p:nvSpPr>
          <p:cNvPr id="26" name="Shape 23"/>
          <p:cNvSpPr/>
          <p:nvPr/>
        </p:nvSpPr>
        <p:spPr>
          <a:xfrm>
            <a:off x="9572625" y="6142732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5558880"/>
            <a:ext cx="1513214" cy="43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3대 축</a:t>
            </a:r>
            <a:endParaRPr lang="en-US" sz="2300" dirty="0"/>
          </a:p>
        </p:txBody>
      </p:sp>
      <p:sp>
        <p:nvSpPr>
          <p:cNvPr id="28" name="Text 25"/>
          <p:cNvSpPr/>
          <p:nvPr/>
        </p:nvSpPr>
        <p:spPr>
          <a:xfrm>
            <a:off x="11229082" y="5448896"/>
            <a:ext cx="6582061" cy="64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OneDrive(개인) · SharePoint(부서) · Teams</a:t>
            </a:r>
            <a:endParaRPr lang="en-US" sz="2475" dirty="0"/>
          </a:p>
        </p:txBody>
      </p:sp>
      <p:sp>
        <p:nvSpPr>
          <p:cNvPr id="29" name="Text 26"/>
          <p:cNvSpPr/>
          <p:nvPr/>
        </p:nvSpPr>
        <p:spPr>
          <a:xfrm>
            <a:off x="9572624" y="6376542"/>
            <a:ext cx="1656457" cy="43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버전 이력</a:t>
            </a:r>
            <a:endParaRPr lang="en-US" sz="2300" dirty="0"/>
          </a:p>
        </p:txBody>
      </p:sp>
      <p:sp>
        <p:nvSpPr>
          <p:cNvPr id="30" name="Text 27"/>
          <p:cNvSpPr/>
          <p:nvPr/>
        </p:nvSpPr>
        <p:spPr>
          <a:xfrm>
            <a:off x="11229082" y="6285607"/>
            <a:ext cx="4521205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덮어써도 이전 시점으로 복원 가능</a:t>
            </a:r>
            <a:endParaRPr lang="en-US" sz="2475" dirty="0"/>
          </a:p>
        </p:txBody>
      </p:sp>
      <p:sp>
        <p:nvSpPr>
          <p:cNvPr id="31" name="Shape 28"/>
          <p:cNvSpPr/>
          <p:nvPr/>
        </p:nvSpPr>
        <p:spPr>
          <a:xfrm>
            <a:off x="762000" y="8728770"/>
            <a:ext cx="16764000" cy="28575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762000" y="9033570"/>
            <a:ext cx="50229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75" b="1" kern="0" spc="315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요점</a:t>
            </a:r>
            <a:endParaRPr lang="en-US" sz="1575" dirty="0"/>
          </a:p>
        </p:txBody>
      </p:sp>
      <p:sp>
        <p:nvSpPr>
          <p:cNvPr id="33" name="Text 30"/>
          <p:cNvSpPr/>
          <p:nvPr/>
        </p:nvSpPr>
        <p:spPr>
          <a:xfrm>
            <a:off x="1473845" y="8928795"/>
            <a:ext cx="9907786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3030"/>
              </a:lnSpc>
              <a:buNone/>
            </a:pPr>
            <a:r>
              <a:rPr lang="en-US" sz="21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Copilot은 내 PC를 보지 못합니다. OneDrive에 올라간 문서만 답변 근거가 됩니다.</a:t>
            </a:r>
            <a:endParaRPr lang="en-US" sz="2175" dirty="0"/>
          </a:p>
        </p:txBody>
      </p:sp>
      <p:sp>
        <p:nvSpPr>
          <p:cNvPr id="34" name="Shape 31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762000" y="9648825"/>
            <a:ext cx="48045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02. 사전 준비, Copilot 활용을 위한 업무 환경 만들기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11 / 60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4167255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694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02 — UNIT 06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024943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482143" y="623888"/>
            <a:ext cx="21200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6941F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M365 COPILOT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06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5957233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OneDrive로 개인 업무 문서 중앙화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개인 분석 데이터와 로그 메모를 Copilot이 참조할 수 있게 만드는 3단계 세팅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4432399"/>
            <a:ext cx="56856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33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PC 폴더 백업 동기화</a:t>
            </a:r>
            <a:endParaRPr lang="en-US" sz="3375" dirty="0"/>
          </a:p>
        </p:txBody>
      </p:sp>
      <p:sp>
        <p:nvSpPr>
          <p:cNvPr id="13" name="Text 10"/>
          <p:cNvSpPr/>
          <p:nvPr/>
        </p:nvSpPr>
        <p:spPr>
          <a:xfrm>
            <a:off x="762000" y="5080099"/>
            <a:ext cx="5685681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941"/>
              </a:lnSpc>
              <a:buNone/>
            </a:pPr>
            <a:r>
              <a:rPr lang="en-US" sz="2250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STEP 1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762000" y="5865912"/>
            <a:ext cx="228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—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66800" y="5684937"/>
            <a:ext cx="5009921" cy="1357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4861"/>
              </a:lnSpc>
              <a:buNone/>
            </a:pPr>
            <a:r>
              <a:rPr lang="en-US" sz="2300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바탕화면·문서 폴더를 </a:t>
            </a:r>
            <a:r>
              <a:rPr lang="en-US" sz="2300" dirty="0" err="1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OneDrive에</a:t>
            </a:r>
            <a:r>
              <a:rPr lang="en-US" sz="2300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 </a:t>
            </a:r>
          </a:p>
          <a:p>
            <a:pPr marL="0" indent="0" algn="l">
              <a:lnSpc>
                <a:spcPct val="124861"/>
              </a:lnSpc>
              <a:buNone/>
            </a:pPr>
            <a:r>
              <a:rPr lang="en-US" sz="2300" dirty="0" err="1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자동</a:t>
            </a:r>
            <a:r>
              <a:rPr lang="en-US" sz="2300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 동기화하면 저장과 동시에 인덱싱됩니다.</a:t>
            </a:r>
            <a:endParaRPr lang="en-US" sz="2300" dirty="0"/>
          </a:p>
        </p:txBody>
      </p:sp>
      <p:sp>
        <p:nvSpPr>
          <p:cNvPr id="16" name="Shape 13"/>
          <p:cNvSpPr/>
          <p:nvPr/>
        </p:nvSpPr>
        <p:spPr>
          <a:xfrm>
            <a:off x="6349901" y="4184749"/>
            <a:ext cx="9525" cy="3031927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6778526" y="4432399"/>
            <a:ext cx="521435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33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파일명 규칙 통일</a:t>
            </a:r>
            <a:endParaRPr lang="en-US" sz="3375" dirty="0"/>
          </a:p>
        </p:txBody>
      </p:sp>
      <p:sp>
        <p:nvSpPr>
          <p:cNvPr id="18" name="Text 15"/>
          <p:cNvSpPr/>
          <p:nvPr/>
        </p:nvSpPr>
        <p:spPr>
          <a:xfrm>
            <a:off x="6778526" y="5080099"/>
            <a:ext cx="521435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941"/>
              </a:lnSpc>
              <a:buNone/>
            </a:pPr>
            <a:r>
              <a:rPr lang="en-US" sz="2250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STEP 2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6778526" y="5865912"/>
            <a:ext cx="228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083326" y="5684937"/>
            <a:ext cx="4568590" cy="200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861"/>
              </a:lnSpc>
              <a:buNone/>
            </a:pPr>
            <a:r>
              <a:rPr lang="en-US" sz="2300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[연도]_[</a:t>
            </a:r>
            <a:r>
              <a:rPr lang="en-US" sz="2300" dirty="0" err="1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프로젝트</a:t>
            </a:r>
            <a:r>
              <a:rPr lang="en-US" sz="2300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] </a:t>
            </a:r>
            <a:r>
              <a:rPr lang="en-US" sz="2300" dirty="0" err="1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규칙으로</a:t>
            </a:r>
            <a:r>
              <a:rPr lang="en-US" sz="2300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 </a:t>
            </a:r>
            <a:r>
              <a:rPr lang="en-US" sz="2300" dirty="0" err="1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정리하면</a:t>
            </a:r>
            <a:r>
              <a:rPr lang="en-US" sz="2300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 </a:t>
            </a:r>
          </a:p>
          <a:p>
            <a:pPr marL="0" indent="0" algn="l">
              <a:lnSpc>
                <a:spcPct val="124861"/>
              </a:lnSpc>
              <a:buNone/>
            </a:pPr>
            <a:r>
              <a:rPr lang="en-US" sz="2300" dirty="0" err="1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검색</a:t>
            </a:r>
            <a:r>
              <a:rPr lang="en-US" sz="2300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 정확도가 올라갑니다.</a:t>
            </a:r>
            <a:endParaRPr lang="en-US" sz="2300" dirty="0"/>
          </a:p>
        </p:txBody>
      </p:sp>
      <p:sp>
        <p:nvSpPr>
          <p:cNvPr id="21" name="Shape 18"/>
          <p:cNvSpPr/>
          <p:nvPr/>
        </p:nvSpPr>
        <p:spPr>
          <a:xfrm>
            <a:off x="11937950" y="4184749"/>
            <a:ext cx="9525" cy="3031927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12366575" y="4432399"/>
            <a:ext cx="567536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33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자동 저장 켜기</a:t>
            </a:r>
            <a:endParaRPr lang="en-US" sz="3375" dirty="0"/>
          </a:p>
        </p:txBody>
      </p:sp>
      <p:sp>
        <p:nvSpPr>
          <p:cNvPr id="23" name="Text 20"/>
          <p:cNvSpPr/>
          <p:nvPr/>
        </p:nvSpPr>
        <p:spPr>
          <a:xfrm>
            <a:off x="12366575" y="5080099"/>
            <a:ext cx="567536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941"/>
              </a:lnSpc>
              <a:buNone/>
            </a:pPr>
            <a:r>
              <a:rPr lang="en-US" sz="2250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STEP 3</a:t>
            </a:r>
            <a:endParaRPr lang="en-US" sz="2250" dirty="0"/>
          </a:p>
        </p:txBody>
      </p:sp>
      <p:sp>
        <p:nvSpPr>
          <p:cNvPr id="24" name="Text 21"/>
          <p:cNvSpPr/>
          <p:nvPr/>
        </p:nvSpPr>
        <p:spPr>
          <a:xfrm>
            <a:off x="12366575" y="5865912"/>
            <a:ext cx="228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—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2671375" y="5684937"/>
            <a:ext cx="5000263" cy="1357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861"/>
              </a:lnSpc>
              <a:buNone/>
            </a:pPr>
            <a:r>
              <a:rPr lang="en-US" sz="2300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Office 상단 자동 저장을 켜두면 작업 </a:t>
            </a:r>
            <a:r>
              <a:rPr lang="en-US" sz="2300" dirty="0" err="1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중</a:t>
            </a:r>
            <a:r>
              <a:rPr lang="en-US" sz="2300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 </a:t>
            </a:r>
          </a:p>
          <a:p>
            <a:pPr marL="0" indent="0" algn="l">
              <a:lnSpc>
                <a:spcPct val="124861"/>
              </a:lnSpc>
              <a:buNone/>
            </a:pPr>
            <a:r>
              <a:rPr lang="en-US" sz="2300" dirty="0" err="1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내용도</a:t>
            </a:r>
            <a:r>
              <a:rPr lang="en-US" sz="2300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 최신 상태로 참조됩니다.</a:t>
            </a:r>
            <a:endParaRPr lang="en-US" sz="2300" dirty="0"/>
          </a:p>
        </p:txBody>
      </p:sp>
      <p:sp>
        <p:nvSpPr>
          <p:cNvPr id="26" name="Shape 23"/>
          <p:cNvSpPr/>
          <p:nvPr/>
        </p:nvSpPr>
        <p:spPr>
          <a:xfrm>
            <a:off x="762000" y="8755410"/>
            <a:ext cx="16764000" cy="28575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762000" y="9041160"/>
            <a:ext cx="50229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b="1" kern="0" spc="315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요점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473845" y="8955435"/>
            <a:ext cx="1093359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4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개인 자료는 OneDrive, 팀 자료는 SharePoint — 저장 위치가 Copilot의 검색 범위를 결정합니다.</a:t>
            </a:r>
            <a:endParaRPr lang="en-US" sz="2400" dirty="0"/>
          </a:p>
        </p:txBody>
      </p:sp>
      <p:sp>
        <p:nvSpPr>
          <p:cNvPr id="29" name="Shape 26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762000" y="9648825"/>
            <a:ext cx="48045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02. 사전 준비, Copilot 활용을 위한 업무 환경 만들기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12 / 60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1048677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694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02 — UNIT 07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024943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482143" y="623888"/>
            <a:ext cx="21200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6941F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M365 COPILOT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07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5957233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SharePoint 팀 지식 베이스 통합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장비 Config 표준, 망 구성도, 장애 이력을 하나의 팀 허브로 일원화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4205734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무엇을 올리나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5552926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992439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표준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2038350" y="4944814"/>
            <a:ext cx="527182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라우터·스위치 Config 표준 라이브러리</a:t>
            </a:r>
            <a:endParaRPr lang="en-US" sz="2475" dirty="0"/>
          </a:p>
        </p:txBody>
      </p:sp>
      <p:sp>
        <p:nvSpPr>
          <p:cNvPr id="16" name="Shape 13"/>
          <p:cNvSpPr/>
          <p:nvPr/>
        </p:nvSpPr>
        <p:spPr>
          <a:xfrm>
            <a:off x="762000" y="6361063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5800576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가이드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2038350" y="5752951"/>
            <a:ext cx="511891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사업자 간 상호연동 인터페이스 가이드</a:t>
            </a:r>
            <a:endParaRPr lang="en-US" sz="2475" dirty="0"/>
          </a:p>
        </p:txBody>
      </p:sp>
      <p:sp>
        <p:nvSpPr>
          <p:cNvPr id="19" name="Text 16"/>
          <p:cNvSpPr/>
          <p:nvPr/>
        </p:nvSpPr>
        <p:spPr>
          <a:xfrm>
            <a:off x="762000" y="6608713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이력</a:t>
            </a:r>
            <a:endParaRPr lang="en-US" sz="2475" dirty="0"/>
          </a:p>
        </p:txBody>
      </p:sp>
      <p:sp>
        <p:nvSpPr>
          <p:cNvPr id="20" name="Text 17"/>
          <p:cNvSpPr/>
          <p:nvPr/>
        </p:nvSpPr>
        <p:spPr>
          <a:xfrm>
            <a:off x="2038350" y="6561088"/>
            <a:ext cx="5068982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비상 장애 대응 SOP와 과거 장애 이력</a:t>
            </a:r>
            <a:endParaRPr lang="en-US" sz="2475" dirty="0"/>
          </a:p>
        </p:txBody>
      </p:sp>
      <p:sp>
        <p:nvSpPr>
          <p:cNvPr id="21" name="Shape 18"/>
          <p:cNvSpPr/>
          <p:nvPr/>
        </p:nvSpPr>
        <p:spPr>
          <a:xfrm>
            <a:off x="9144000" y="3958084"/>
            <a:ext cx="9525" cy="345876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4205734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무엇이 달라지나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9572625" y="5552926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572625" y="4992439"/>
            <a:ext cx="12511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야간 대응</a:t>
            </a:r>
            <a:endParaRPr lang="en-US" sz="2475" dirty="0"/>
          </a:p>
        </p:txBody>
      </p:sp>
      <p:sp>
        <p:nvSpPr>
          <p:cNvPr id="25" name="Text 22"/>
          <p:cNvSpPr/>
          <p:nvPr/>
        </p:nvSpPr>
        <p:spPr>
          <a:xfrm>
            <a:off x="11242923" y="4944814"/>
            <a:ext cx="612475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선임 연락 없이도 축적된 문서로 1차 방향 확인</a:t>
            </a:r>
            <a:endParaRPr lang="en-US" sz="2475" dirty="0"/>
          </a:p>
        </p:txBody>
      </p:sp>
      <p:sp>
        <p:nvSpPr>
          <p:cNvPr id="26" name="Shape 23"/>
          <p:cNvSpPr/>
          <p:nvPr/>
        </p:nvSpPr>
        <p:spPr>
          <a:xfrm>
            <a:off x="9572625" y="6361063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5800576"/>
            <a:ext cx="15915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신규 온보딩</a:t>
            </a:r>
            <a:endParaRPr lang="en-US" sz="2475" dirty="0"/>
          </a:p>
        </p:txBody>
      </p:sp>
      <p:sp>
        <p:nvSpPr>
          <p:cNvPr id="28" name="Text 25"/>
          <p:cNvSpPr/>
          <p:nvPr/>
        </p:nvSpPr>
        <p:spPr>
          <a:xfrm>
            <a:off x="11229082" y="5752951"/>
            <a:ext cx="4521205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부서 매뉴얼을 질문으로 바로 탐색</a:t>
            </a:r>
            <a:endParaRPr lang="en-US" sz="2475" dirty="0"/>
          </a:p>
        </p:txBody>
      </p:sp>
      <p:sp>
        <p:nvSpPr>
          <p:cNvPr id="29" name="Text 26"/>
          <p:cNvSpPr/>
          <p:nvPr/>
        </p:nvSpPr>
        <p:spPr>
          <a:xfrm>
            <a:off x="9572625" y="6608713"/>
            <a:ext cx="12511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검증 필수</a:t>
            </a:r>
            <a:endParaRPr lang="en-US" sz="2475" dirty="0"/>
          </a:p>
        </p:txBody>
      </p:sp>
      <p:sp>
        <p:nvSpPr>
          <p:cNvPr id="30" name="Text 27"/>
          <p:cNvSpPr/>
          <p:nvPr/>
        </p:nvSpPr>
        <p:spPr>
          <a:xfrm>
            <a:off x="11242923" y="6561088"/>
            <a:ext cx="5677659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실제 조치·명령 실행은 담당자 확인 후 진행</a:t>
            </a:r>
            <a:endParaRPr lang="en-US" sz="2475" dirty="0"/>
          </a:p>
        </p:txBody>
      </p:sp>
      <p:sp>
        <p:nvSpPr>
          <p:cNvPr id="31" name="Shape 28"/>
          <p:cNvSpPr/>
          <p:nvPr/>
        </p:nvSpPr>
        <p:spPr>
          <a:xfrm>
            <a:off x="762000" y="8728770"/>
            <a:ext cx="16764000" cy="28575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762000" y="9033570"/>
            <a:ext cx="50229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b="1" kern="0" spc="315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요점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473845" y="8928795"/>
            <a:ext cx="13358321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23030"/>
              </a:lnSpc>
              <a:buNone/>
            </a:pPr>
            <a:r>
              <a:rPr lang="en-US" sz="24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Copilot이 주는 것은 문서 기반 1차 초안입니다. 최신 펌웨어·설정 기준과의 정합성은 엔지니어가 교차 검증합니다.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762000" y="9648825"/>
            <a:ext cx="48045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02. 사전 준비, Copilot 활용을 위한 업무 환경 만들기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6665922" y="9648825"/>
            <a:ext cx="93627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13 / 60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833377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454B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02 — UNIT 08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116895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574095" y="623888"/>
            <a:ext cx="10281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454BF6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TEAMS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08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5957233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Teams 협업 채널 중앙화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현장·관제·엔지니어링 부서의 대화와 회의 기록을 Copilot이 읽을 수 있게 만듭니다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4198293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1. 채널 파일 탭 사용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5545485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984998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방법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1712922" y="4937373"/>
            <a:ext cx="493719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메일 첨부 대신 채널 [파일] 탭에 저장</a:t>
            </a:r>
            <a:endParaRPr lang="en-US" sz="2475" dirty="0"/>
          </a:p>
        </p:txBody>
      </p:sp>
      <p:sp>
        <p:nvSpPr>
          <p:cNvPr id="16" name="Text 13"/>
          <p:cNvSpPr/>
          <p:nvPr/>
        </p:nvSpPr>
        <p:spPr>
          <a:xfrm>
            <a:off x="762000" y="5793135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효과</a:t>
            </a:r>
            <a:endParaRPr lang="en-US" sz="2475" dirty="0"/>
          </a:p>
        </p:txBody>
      </p:sp>
      <p:sp>
        <p:nvSpPr>
          <p:cNvPr id="17" name="Text 14"/>
          <p:cNvSpPr/>
          <p:nvPr/>
        </p:nvSpPr>
        <p:spPr>
          <a:xfrm>
            <a:off x="1712922" y="5745510"/>
            <a:ext cx="6323335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SharePoint와 연동돼 팀 지식으로 자동 인덱싱</a:t>
            </a:r>
            <a:endParaRPr lang="en-US" sz="2475" dirty="0"/>
          </a:p>
        </p:txBody>
      </p:sp>
      <p:sp>
        <p:nvSpPr>
          <p:cNvPr id="18" name="Shape 15"/>
          <p:cNvSpPr/>
          <p:nvPr/>
        </p:nvSpPr>
        <p:spPr>
          <a:xfrm>
            <a:off x="9144000" y="3950643"/>
            <a:ext cx="9525" cy="2650629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9572625" y="4198293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2. 회의 녹음·대화 기록</a:t>
            </a:r>
            <a:endParaRPr lang="en-US" sz="3600" dirty="0"/>
          </a:p>
        </p:txBody>
      </p:sp>
      <p:sp>
        <p:nvSpPr>
          <p:cNvPr id="20" name="Shape 17"/>
          <p:cNvSpPr/>
          <p:nvPr/>
        </p:nvSpPr>
        <p:spPr>
          <a:xfrm>
            <a:off x="9572625" y="5545485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9572625" y="4984998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방법</a:t>
            </a:r>
            <a:endParaRPr lang="en-US" sz="2475" dirty="0"/>
          </a:p>
        </p:txBody>
      </p:sp>
      <p:sp>
        <p:nvSpPr>
          <p:cNvPr id="22" name="Text 19"/>
          <p:cNvSpPr/>
          <p:nvPr/>
        </p:nvSpPr>
        <p:spPr>
          <a:xfrm>
            <a:off x="10523547" y="4937373"/>
            <a:ext cx="5593348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장애 대책 회의에서 녹음·대화 기록을 켜둠</a:t>
            </a:r>
            <a:endParaRPr lang="en-US" sz="2475" dirty="0"/>
          </a:p>
        </p:txBody>
      </p:sp>
      <p:sp>
        <p:nvSpPr>
          <p:cNvPr id="23" name="Text 20"/>
          <p:cNvSpPr/>
          <p:nvPr/>
        </p:nvSpPr>
        <p:spPr>
          <a:xfrm>
            <a:off x="9572625" y="5793135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효과</a:t>
            </a:r>
            <a:endParaRPr lang="en-US" sz="2475" dirty="0"/>
          </a:p>
        </p:txBody>
      </p:sp>
      <p:sp>
        <p:nvSpPr>
          <p:cNvPr id="24" name="Text 21"/>
          <p:cNvSpPr/>
          <p:nvPr/>
        </p:nvSpPr>
        <p:spPr>
          <a:xfrm>
            <a:off x="10523547" y="5745510"/>
            <a:ext cx="537217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회의 직후 결정 사항과 할 일이 자동 정리</a:t>
            </a:r>
            <a:endParaRPr lang="en-US" sz="2475" dirty="0"/>
          </a:p>
        </p:txBody>
      </p:sp>
      <p:sp>
        <p:nvSpPr>
          <p:cNvPr id="25" name="Shape 22"/>
          <p:cNvSpPr/>
          <p:nvPr/>
        </p:nvSpPr>
        <p:spPr>
          <a:xfrm>
            <a:off x="762000" y="7905750"/>
            <a:ext cx="16764000" cy="1409700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1047750" y="8543925"/>
            <a:ext cx="16192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1047750" y="8134350"/>
            <a:ext cx="158308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16094422" y="8391525"/>
            <a:ext cx="1145828" cy="19050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16056322" y="8134350"/>
            <a:ext cx="1222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프롬프트 복사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1047750" y="8642350"/>
            <a:ext cx="1642745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이 채널의 지난주 대화와 회의 기록에서 미해결 액션 아이템을 담당자별로 정리해줘.</a:t>
            </a:r>
            <a:endParaRPr lang="en-US" sz="2400" dirty="0"/>
          </a:p>
        </p:txBody>
      </p:sp>
      <p:sp>
        <p:nvSpPr>
          <p:cNvPr id="31" name="Shape 28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762000" y="9648825"/>
            <a:ext cx="48045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02. 사전 준비, Copilot 활용을 위한 업무 환경 만들기</a:t>
            </a:r>
            <a:endParaRPr lang="en-US" sz="1650" dirty="0"/>
          </a:p>
        </p:txBody>
      </p:sp>
      <p:sp>
        <p:nvSpPr>
          <p:cNvPr id="33" name="Text 30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14 / 60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3005898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47750"/>
            <a:ext cx="164592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638175"/>
            <a:ext cx="389140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03 · 챕터 간지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473982" y="609600"/>
            <a:ext cx="31895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AX 일방식 혁신 교육 · KT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986213"/>
            <a:ext cx="3771900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69364"/>
              </a:lnSpc>
              <a:buNone/>
            </a:pPr>
            <a:r>
              <a:rPr lang="en-US" sz="2250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03</a:t>
            </a:r>
            <a:endParaRPr lang="en-US" sz="22500" dirty="0"/>
          </a:p>
        </p:txBody>
      </p:sp>
      <p:sp>
        <p:nvSpPr>
          <p:cNvPr id="6" name="Shape 4"/>
          <p:cNvSpPr/>
          <p:nvPr/>
        </p:nvSpPr>
        <p:spPr>
          <a:xfrm>
            <a:off x="5029200" y="2886373"/>
            <a:ext cx="9525" cy="4485531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48325" y="2886373"/>
            <a:ext cx="17594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kern="0" spc="468" dirty="0">
                <a:solidFill>
                  <a:srgbClr val="9FA4A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648325" y="3353098"/>
            <a:ext cx="12077033" cy="181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451"/>
              </a:lnSpc>
              <a:buNone/>
            </a:pPr>
            <a:r>
              <a:rPr lang="en-US" sz="6600" b="1" kern="0" spc="-132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산더미 같은 이메일 </a:t>
            </a:r>
            <a:r>
              <a:rPr lang="en-US" sz="6600" b="1" kern="0" spc="-132" dirty="0" err="1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탈출과</a:t>
            </a:r>
            <a:r>
              <a:rPr lang="en-US" sz="6600" b="1" kern="0" spc="-132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 </a:t>
            </a:r>
          </a:p>
          <a:p>
            <a:pPr marL="0" indent="0" algn="l">
              <a:lnSpc>
                <a:spcPct val="91451"/>
              </a:lnSpc>
              <a:buNone/>
            </a:pPr>
            <a:r>
              <a:rPr lang="en-US" sz="6600" b="1" kern="0" spc="-132" dirty="0" err="1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스마트한</a:t>
            </a:r>
            <a:r>
              <a:rPr lang="en-US" sz="6600" b="1" kern="0" spc="-132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 일정 관리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5648325" y="5377458"/>
            <a:ext cx="12897803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24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퇴근이 빨라지는 Outlook Copilot 실무 활용</a:t>
            </a:r>
            <a:endParaRPr lang="en-US" sz="2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48325" y="6105079"/>
            <a:ext cx="438150" cy="43815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76975" y="6105079"/>
            <a:ext cx="438150" cy="43815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648325" y="6867079"/>
            <a:ext cx="11725275" cy="28575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5648325" y="7105204"/>
            <a:ext cx="18261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Outlook · Teams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727603" y="7105204"/>
            <a:ext cx="20855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UNIT 09 — 12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914400" y="9391650"/>
            <a:ext cx="164592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914400" y="9534525"/>
            <a:ext cx="455722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03. 산더미 같은 이메일 탈출과 스마트한 일정 관리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16498044" y="95345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15 / 60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1015471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694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03 — UNIT 09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024943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482143" y="623888"/>
            <a:ext cx="21200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6941F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M365 COPILOT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09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5957233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좋은 프롬프트 작성법과 Prompt Coach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MS Learn 권고 4요소(Goal · Context · Source · Expectations)와 Prompt Coach 코칭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294757"/>
            <a:ext cx="875919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30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좋은 프롬프트의 4요소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762000" y="4467671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3990082"/>
            <a:ext cx="1143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Goal</a:t>
            </a:r>
            <a:endParaRPr lang="en-US" sz="2025" dirty="0"/>
          </a:p>
        </p:txBody>
      </p:sp>
      <p:sp>
        <p:nvSpPr>
          <p:cNvPr id="15" name="Text 12"/>
          <p:cNvSpPr/>
          <p:nvPr/>
        </p:nvSpPr>
        <p:spPr>
          <a:xfrm>
            <a:off x="2590800" y="3942457"/>
            <a:ext cx="4990728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수행할 작업을 모호하지 않고 구체적으로 정의</a:t>
            </a:r>
            <a:endParaRPr lang="en-US" sz="2025" dirty="0"/>
          </a:p>
        </p:txBody>
      </p:sp>
      <p:sp>
        <p:nvSpPr>
          <p:cNvPr id="16" name="Shape 13"/>
          <p:cNvSpPr/>
          <p:nvPr/>
        </p:nvSpPr>
        <p:spPr>
          <a:xfrm>
            <a:off x="762000" y="5192911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4715321"/>
            <a:ext cx="1143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Context</a:t>
            </a:r>
            <a:endParaRPr lang="en-US" sz="2025" dirty="0"/>
          </a:p>
        </p:txBody>
      </p:sp>
      <p:sp>
        <p:nvSpPr>
          <p:cNvPr id="18" name="Text 15"/>
          <p:cNvSpPr/>
          <p:nvPr/>
        </p:nvSpPr>
        <p:spPr>
          <a:xfrm>
            <a:off x="2590800" y="4667696"/>
            <a:ext cx="3913346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대상, 배경, 중요성 등의 정보를 제공</a:t>
            </a:r>
            <a:endParaRPr lang="en-US" sz="2025" dirty="0"/>
          </a:p>
        </p:txBody>
      </p:sp>
      <p:sp>
        <p:nvSpPr>
          <p:cNvPr id="19" name="Shape 16"/>
          <p:cNvSpPr/>
          <p:nvPr/>
        </p:nvSpPr>
        <p:spPr>
          <a:xfrm>
            <a:off x="762000" y="5918150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762000" y="5440561"/>
            <a:ext cx="1143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Source</a:t>
            </a:r>
            <a:endParaRPr lang="en-US" sz="2025" dirty="0"/>
          </a:p>
        </p:txBody>
      </p:sp>
      <p:sp>
        <p:nvSpPr>
          <p:cNvPr id="21" name="Text 18"/>
          <p:cNvSpPr/>
          <p:nvPr/>
        </p:nvSpPr>
        <p:spPr>
          <a:xfrm>
            <a:off x="2590800" y="5392936"/>
            <a:ext cx="3699212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참고할 특정 문서나 데이터를 지정</a:t>
            </a:r>
            <a:endParaRPr lang="en-US" sz="2025" dirty="0"/>
          </a:p>
        </p:txBody>
      </p:sp>
      <p:sp>
        <p:nvSpPr>
          <p:cNvPr id="22" name="Text 19"/>
          <p:cNvSpPr/>
          <p:nvPr/>
        </p:nvSpPr>
        <p:spPr>
          <a:xfrm>
            <a:off x="762000" y="6165800"/>
            <a:ext cx="161975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Expectations</a:t>
            </a:r>
            <a:endParaRPr lang="en-US" sz="2025" dirty="0"/>
          </a:p>
        </p:txBody>
      </p:sp>
      <p:sp>
        <p:nvSpPr>
          <p:cNvPr id="23" name="Text 20"/>
          <p:cNvSpPr/>
          <p:nvPr/>
        </p:nvSpPr>
        <p:spPr>
          <a:xfrm>
            <a:off x="2590800" y="6118175"/>
            <a:ext cx="3913346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결과물의 형식, 길이, 어조 등을 명시</a:t>
            </a:r>
            <a:endParaRPr lang="en-US" sz="2025" dirty="0"/>
          </a:p>
        </p:txBody>
      </p:sp>
      <p:sp>
        <p:nvSpPr>
          <p:cNvPr id="24" name="Shape 21"/>
          <p:cNvSpPr/>
          <p:nvPr/>
        </p:nvSpPr>
        <p:spPr>
          <a:xfrm>
            <a:off x="9144000" y="3047107"/>
            <a:ext cx="9525" cy="6076801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9572625" y="3294757"/>
            <a:ext cx="874871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3000" b="1" dirty="0"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Prompt Coach 에이전트</a:t>
            </a:r>
            <a:endParaRPr lang="en-US" sz="3000" dirty="0"/>
          </a:p>
        </p:txBody>
      </p:sp>
      <p:sp>
        <p:nvSpPr>
          <p:cNvPr id="26" name="Shape 23"/>
          <p:cNvSpPr/>
          <p:nvPr/>
        </p:nvSpPr>
        <p:spPr>
          <a:xfrm>
            <a:off x="9572625" y="4467671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3990082"/>
            <a:ext cx="1143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역할</a:t>
            </a:r>
            <a:endParaRPr lang="en-US" sz="2025" dirty="0"/>
          </a:p>
        </p:txBody>
      </p:sp>
      <p:sp>
        <p:nvSpPr>
          <p:cNvPr id="28" name="Text 25"/>
          <p:cNvSpPr/>
          <p:nvPr/>
        </p:nvSpPr>
        <p:spPr>
          <a:xfrm>
            <a:off x="10848975" y="3942457"/>
            <a:ext cx="4576376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보내기 전 누락된 맥락·모호한 지시를 지적</a:t>
            </a:r>
            <a:endParaRPr lang="en-US" sz="2025" dirty="0"/>
          </a:p>
        </p:txBody>
      </p:sp>
      <p:sp>
        <p:nvSpPr>
          <p:cNvPr id="29" name="Shape 26"/>
          <p:cNvSpPr/>
          <p:nvPr/>
        </p:nvSpPr>
        <p:spPr>
          <a:xfrm>
            <a:off x="9572625" y="5192911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9572625" y="4715321"/>
            <a:ext cx="1143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쓰는 법</a:t>
            </a:r>
            <a:endParaRPr lang="en-US" sz="2025" dirty="0"/>
          </a:p>
        </p:txBody>
      </p:sp>
      <p:sp>
        <p:nvSpPr>
          <p:cNvPr id="31" name="Text 28"/>
          <p:cNvSpPr/>
          <p:nvPr/>
        </p:nvSpPr>
        <p:spPr>
          <a:xfrm>
            <a:off x="10848975" y="4667696"/>
            <a:ext cx="4646608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초안을 붙여넣고 "이 프롬프트를 보완해줘"</a:t>
            </a:r>
            <a:endParaRPr lang="en-US" sz="2025" dirty="0"/>
          </a:p>
        </p:txBody>
      </p:sp>
      <p:sp>
        <p:nvSpPr>
          <p:cNvPr id="32" name="Text 29"/>
          <p:cNvSpPr/>
          <p:nvPr/>
        </p:nvSpPr>
        <p:spPr>
          <a:xfrm>
            <a:off x="9572625" y="5535811"/>
            <a:ext cx="228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—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877425" y="5392936"/>
            <a:ext cx="7878032" cy="190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이 에이전트는 사용자에게 프롬프트 생성, 분석, 개선에 대한 지침을 제공하는 튜터 역할을 합니다. 주요 기능으로는 사용자에게 잘 구성된 프롬프트를 생성하도록 돕고, 피드백을 제공하며, 책임감 있는 AI 지침 준수를 보장하고, 문제 해결 및 예시를 제안하는 기능이 있습니다. 목표는 사용자가 최적의 Copilot 응답을 위해 명확하게 요청을 표현하도록 돕는 것입니다.</a:t>
            </a:r>
            <a:endParaRPr lang="en-US" sz="2025" dirty="0"/>
          </a:p>
        </p:txBody>
      </p:sp>
      <p:sp>
        <p:nvSpPr>
          <p:cNvPr id="34" name="Shape 31"/>
          <p:cNvSpPr/>
          <p:nvPr/>
        </p:nvSpPr>
        <p:spPr>
          <a:xfrm>
            <a:off x="9572625" y="7447508"/>
            <a:ext cx="7953375" cy="1428750"/>
          </a:xfrm>
          <a:prstGeom prst="rect">
            <a:avLst/>
          </a:prstGeom>
          <a:ln w="9525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9772650" y="7512994"/>
            <a:ext cx="1350462" cy="363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257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PROMPT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17012841" y="7847558"/>
            <a:ext cx="313134" cy="19050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16650444" y="7512994"/>
            <a:ext cx="1030135" cy="372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복사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9599202" y="7846368"/>
            <a:ext cx="7953374" cy="1020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[Goal] 장애 회신 메일 초안 [Context] 어제 02시 BGP 순단 [Source] 장애로그.xlsx [Expectations] 3단락, 정중한 문체</a:t>
            </a:r>
            <a:endParaRPr lang="en-US" sz="2400" dirty="0"/>
          </a:p>
        </p:txBody>
      </p:sp>
      <p:sp>
        <p:nvSpPr>
          <p:cNvPr id="39" name="Shape 36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762000" y="9648825"/>
            <a:ext cx="455722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03. 산더미 같은 이메일 탈출과 스마트한 일정 관리</a:t>
            </a:r>
            <a:endParaRPr lang="en-US" sz="1650" dirty="0"/>
          </a:p>
        </p:txBody>
      </p:sp>
      <p:sp>
        <p:nvSpPr>
          <p:cNvPr id="41" name="Text 38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16 / 60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1544040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005C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03 — UNIT 10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721459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178659" y="623888"/>
            <a:ext cx="14235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005CCC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OUTLOOK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10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5957233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긴급 장애 메일 요약 및 핵심 분류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수십 통이 얽힌 백본망 트래픽 스레드를 타임라인으로 요약하고 과거 기술 메일을 찾아냅니다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851374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1. 스레드 한 번에 요약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5197822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638080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설명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1924052" y="4590455"/>
            <a:ext cx="7001446" cy="94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30통이 넘는 답장을 읽지 않고 핵심 사건과 액션 아이템만 추출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762000" y="6005959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5445472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위치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1970304" y="5397847"/>
            <a:ext cx="4168186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메일 상단 [Copilot 요약] 버튼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762000" y="6662440"/>
            <a:ext cx="7962900" cy="1657350"/>
          </a:xfrm>
          <a:prstGeom prst="rect">
            <a:avLst/>
          </a:prstGeom>
          <a:ln w="9525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962025" y="6843415"/>
            <a:ext cx="13473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PROMPT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129290" y="7119640"/>
            <a:ext cx="395585" cy="19050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8091190" y="6843415"/>
            <a:ext cx="47178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복사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62025" y="7252990"/>
            <a:ext cx="6328123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167"/>
              </a:lnSpc>
              <a:buNone/>
            </a:pPr>
            <a:r>
              <a:rPr lang="en-US" sz="2325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이 스레드에서 최초 장애 알람 시각, 담당자별 조치 내역, 미해결 이슈를 타임라인 표로 정리해줘.</a:t>
            </a:r>
            <a:endParaRPr lang="en-US" sz="2325" dirty="0"/>
          </a:p>
        </p:txBody>
      </p:sp>
      <p:sp>
        <p:nvSpPr>
          <p:cNvPr id="24" name="Shape 21"/>
          <p:cNvSpPr/>
          <p:nvPr/>
        </p:nvSpPr>
        <p:spPr>
          <a:xfrm>
            <a:off x="9144000" y="3603724"/>
            <a:ext cx="9525" cy="496371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9572625" y="3851374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2. 맥락 기반 검색</a:t>
            </a:r>
            <a:endParaRPr lang="en-US" sz="3600" dirty="0"/>
          </a:p>
        </p:txBody>
      </p:sp>
      <p:sp>
        <p:nvSpPr>
          <p:cNvPr id="26" name="Shape 23"/>
          <p:cNvSpPr/>
          <p:nvPr/>
        </p:nvSpPr>
        <p:spPr>
          <a:xfrm>
            <a:off x="9572625" y="5198566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4638080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설명</a:t>
            </a:r>
            <a:endParaRPr lang="en-US" sz="2475" dirty="0"/>
          </a:p>
        </p:txBody>
      </p:sp>
      <p:sp>
        <p:nvSpPr>
          <p:cNvPr id="28" name="Text 25"/>
          <p:cNvSpPr/>
          <p:nvPr/>
        </p:nvSpPr>
        <p:spPr>
          <a:xfrm>
            <a:off x="10730063" y="4590455"/>
            <a:ext cx="728405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키워드가 아닌 자연어 맥락으로 과거 벤더 메일을 탐색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9572625" y="6006703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9572625" y="5446216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위치</a:t>
            </a:r>
            <a:endParaRPr lang="en-US" sz="2475" dirty="0"/>
          </a:p>
        </p:txBody>
      </p:sp>
      <p:sp>
        <p:nvSpPr>
          <p:cNvPr id="31" name="Text 28"/>
          <p:cNvSpPr/>
          <p:nvPr/>
        </p:nvSpPr>
        <p:spPr>
          <a:xfrm>
            <a:off x="10757031" y="5398591"/>
            <a:ext cx="5632086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Copilot Chat에서 Outlook 데이터 질의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72625" y="6662440"/>
            <a:ext cx="7953375" cy="1657350"/>
          </a:xfrm>
          <a:prstGeom prst="rect">
            <a:avLst/>
          </a:prstGeom>
          <a:ln w="9525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9772650" y="6843415"/>
            <a:ext cx="13473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PROMPT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16930390" y="7119640"/>
            <a:ext cx="395585" cy="19050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6892290" y="6843415"/>
            <a:ext cx="47178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복사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9772650" y="7252990"/>
            <a:ext cx="6272659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167"/>
              </a:lnSpc>
              <a:buNone/>
            </a:pPr>
            <a:r>
              <a:rPr lang="en-US" sz="2325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지난 분기 코어 라우터 OS 버그 패치와 관련해 벤더사가 보낸 권고 메일을 찾아줘.</a:t>
            </a:r>
            <a:endParaRPr lang="en-US" sz="2325" dirty="0"/>
          </a:p>
        </p:txBody>
      </p:sp>
      <p:sp>
        <p:nvSpPr>
          <p:cNvPr id="37" name="Shape 34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62000" y="9648825"/>
            <a:ext cx="455722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03. 산더미 같은 이메일 탈출과 스마트한 일정 관리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17 / 60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3327267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005C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630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03 — UNIT 11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721459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178659" y="623888"/>
            <a:ext cx="14235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005CCC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OUTLOOK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11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5957233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해외 벤더 기술 지원(TAC) 영문 메일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코어 장비 오류 로그를 첨부한 영문 TAC 케이스 오픈 메일을 자동 생성합니다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675162"/>
            <a:ext cx="1844040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해외 TAC 케이스 오픈 메일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5022354"/>
            <a:ext cx="167640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461867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설명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2038350" y="4414242"/>
            <a:ext cx="901032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장애 현상·장비 정보·로그를 넣으면 벤더 규격에 맞는 영문 메일 생성</a:t>
            </a:r>
            <a:endParaRPr lang="en-US" sz="2475" dirty="0"/>
          </a:p>
        </p:txBody>
      </p:sp>
      <p:sp>
        <p:nvSpPr>
          <p:cNvPr id="16" name="Shape 13"/>
          <p:cNvSpPr/>
          <p:nvPr/>
        </p:nvSpPr>
        <p:spPr>
          <a:xfrm>
            <a:off x="762000" y="5830491"/>
            <a:ext cx="167640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5270004"/>
            <a:ext cx="12511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포함 항목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2146548" y="5222379"/>
            <a:ext cx="6956569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발생 일시, 장비 모델, OS 버전, Severity, 첨부 로그</a:t>
            </a:r>
            <a:endParaRPr lang="en-US" sz="2475" dirty="0"/>
          </a:p>
        </p:txBody>
      </p:sp>
      <p:sp>
        <p:nvSpPr>
          <p:cNvPr id="19" name="Shape 16"/>
          <p:cNvSpPr/>
          <p:nvPr/>
        </p:nvSpPr>
        <p:spPr>
          <a:xfrm>
            <a:off x="762000" y="6638627"/>
            <a:ext cx="167640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762000" y="6078141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위치</a:t>
            </a:r>
            <a:endParaRPr lang="en-US" sz="2475" dirty="0"/>
          </a:p>
        </p:txBody>
      </p:sp>
      <p:sp>
        <p:nvSpPr>
          <p:cNvPr id="21" name="Text 18"/>
          <p:cNvSpPr/>
          <p:nvPr/>
        </p:nvSpPr>
        <p:spPr>
          <a:xfrm>
            <a:off x="2038350" y="6030516"/>
            <a:ext cx="5275421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Outlook 새 메일 → Copilot 초안 작성</a:t>
            </a:r>
            <a:endParaRPr lang="en-US" sz="2475" dirty="0"/>
          </a:p>
        </p:txBody>
      </p:sp>
      <p:sp>
        <p:nvSpPr>
          <p:cNvPr id="22" name="Shape 19"/>
          <p:cNvSpPr/>
          <p:nvPr/>
        </p:nvSpPr>
        <p:spPr>
          <a:xfrm>
            <a:off x="762000" y="6838652"/>
            <a:ext cx="16764000" cy="1657350"/>
          </a:xfrm>
          <a:prstGeom prst="rect">
            <a:avLst/>
          </a:prstGeom>
          <a:ln w="9525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962025" y="7019627"/>
            <a:ext cx="13473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PROMPT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6930390" y="7295852"/>
            <a:ext cx="395585" cy="19050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16892290" y="7019627"/>
            <a:ext cx="47178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복사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962025" y="7429202"/>
            <a:ext cx="14482567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167"/>
              </a:lnSpc>
              <a:buNone/>
            </a:pPr>
            <a:r>
              <a:rPr lang="en-US" sz="2325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OSPF LSA 플러딩과 패킷 드롭 현상에 대해 Cisco TAC에 Severity-2 티켓을 요청하는 정중한 영문 메일을 작성해줘. 발생 일시, 장비 모델(ASR 9000), IOS-XR 버전, 첨부한 show tech-support 로그를 포함해줘.</a:t>
            </a:r>
            <a:endParaRPr lang="en-US" sz="2325" dirty="0"/>
          </a:p>
        </p:txBody>
      </p:sp>
      <p:sp>
        <p:nvSpPr>
          <p:cNvPr id="27" name="Shape 24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762000" y="9648825"/>
            <a:ext cx="455722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03. 산더미 같은 이메일 탈출과 스마트한 일정 관리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18 / 60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23318120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005C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03 — UNIT 12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721459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178659" y="623888"/>
            <a:ext cx="14235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005CCC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OUTLOOK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12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5957233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스마트 회의 예약 및 공지 자동화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참석자 공통 빈 시간 탐색과 야간 작업 공지 초안·예약 전송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851374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1. 스마트 회의 잡기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5654278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638080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설명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2038350" y="4590455"/>
            <a:ext cx="6887147" cy="94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캘린더를 대조해 공통 빈 시간을 </a:t>
            </a:r>
            <a:r>
              <a:rPr lang="en-US" sz="2000" dirty="0" err="1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찾고</a:t>
            </a: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 </a:t>
            </a:r>
          </a:p>
          <a:p>
            <a:pPr marL="0" indent="0" algn="l">
              <a:lnSpc>
                <a:spcPct val="125921"/>
              </a:lnSpc>
              <a:buNone/>
            </a:pPr>
            <a:r>
              <a:rPr lang="en-US" sz="2000" dirty="0" err="1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안건·Teams</a:t>
            </a: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 링크가 든 초대 생성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762000" y="6462415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5901928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위치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2038350" y="5854303"/>
            <a:ext cx="6225436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Outlook 새 모임 → Schedule with Copilot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762000" y="6662440"/>
            <a:ext cx="7962900" cy="1657350"/>
          </a:xfrm>
          <a:prstGeom prst="rect">
            <a:avLst/>
          </a:prstGeom>
          <a:ln w="9525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962025" y="6843415"/>
            <a:ext cx="13473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PROMPT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129290" y="7119640"/>
            <a:ext cx="395585" cy="19050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8091190" y="6843415"/>
            <a:ext cx="47178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복사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62025" y="7252990"/>
            <a:ext cx="756285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167"/>
              </a:lnSpc>
              <a:buNone/>
            </a:pPr>
            <a:r>
              <a:rPr lang="en-US" sz="2325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이번 주 금요일 오후에 전송망팀과 무선팀 팀장이 모두 가능한 30분 미팅을 잡아줘.</a:t>
            </a:r>
            <a:endParaRPr lang="en-US" sz="2325" dirty="0"/>
          </a:p>
        </p:txBody>
      </p:sp>
      <p:sp>
        <p:nvSpPr>
          <p:cNvPr id="24" name="Shape 21"/>
          <p:cNvSpPr/>
          <p:nvPr/>
        </p:nvSpPr>
        <p:spPr>
          <a:xfrm>
            <a:off x="9144000" y="3603724"/>
            <a:ext cx="9525" cy="496371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9572625" y="3851374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2. 작업 공지 예약 발송</a:t>
            </a:r>
            <a:endParaRPr lang="en-US" sz="3600" dirty="0"/>
          </a:p>
        </p:txBody>
      </p:sp>
      <p:sp>
        <p:nvSpPr>
          <p:cNvPr id="26" name="Shape 23"/>
          <p:cNvSpPr/>
          <p:nvPr/>
        </p:nvSpPr>
        <p:spPr>
          <a:xfrm>
            <a:off x="9572625" y="5654278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4638080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설명</a:t>
            </a:r>
            <a:endParaRPr lang="en-US" sz="2475" dirty="0"/>
          </a:p>
        </p:txBody>
      </p:sp>
      <p:sp>
        <p:nvSpPr>
          <p:cNvPr id="28" name="Text 25"/>
          <p:cNvSpPr/>
          <p:nvPr/>
        </p:nvSpPr>
        <p:spPr>
          <a:xfrm>
            <a:off x="10848975" y="4590455"/>
            <a:ext cx="6877336" cy="94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Copilot이 공지 초안을 작성하고 예약 </a:t>
            </a:r>
            <a:r>
              <a:rPr lang="en-US" sz="2000" dirty="0" err="1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전송으로</a:t>
            </a: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 </a:t>
            </a:r>
          </a:p>
          <a:p>
            <a:pPr marL="0" indent="0" algn="l">
              <a:lnSpc>
                <a:spcPct val="125921"/>
              </a:lnSpc>
              <a:buNone/>
            </a:pPr>
            <a:r>
              <a:rPr lang="en-US" sz="2000" dirty="0" err="1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원하는</a:t>
            </a: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 시각에 발송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9572625" y="6462415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9572625" y="5901928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위치</a:t>
            </a:r>
            <a:endParaRPr lang="en-US" sz="2475" dirty="0"/>
          </a:p>
        </p:txBody>
      </p:sp>
      <p:sp>
        <p:nvSpPr>
          <p:cNvPr id="31" name="Text 28"/>
          <p:cNvSpPr/>
          <p:nvPr/>
        </p:nvSpPr>
        <p:spPr>
          <a:xfrm>
            <a:off x="10848975" y="5854303"/>
            <a:ext cx="570680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메일 작성 → 보내기 드롭다운 → 예약 전송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72625" y="6662440"/>
            <a:ext cx="7953375" cy="1657350"/>
          </a:xfrm>
          <a:prstGeom prst="rect">
            <a:avLst/>
          </a:prstGeom>
          <a:ln w="9525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9772650" y="6843415"/>
            <a:ext cx="13473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PROMPT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16930390" y="7119640"/>
            <a:ext cx="395585" cy="19050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6892290" y="6843415"/>
            <a:ext cx="47178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복사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9772650" y="7252990"/>
            <a:ext cx="777992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167"/>
              </a:lnSpc>
              <a:buNone/>
            </a:pPr>
            <a:r>
              <a:rPr lang="en-US" sz="2325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내일 새벽 02:00 L3 스위치 펌웨어 업그레이드에 따른 서비스 영향도 안내 메일 초안을 작성해줘.</a:t>
            </a:r>
            <a:endParaRPr lang="en-US" sz="2325" dirty="0"/>
          </a:p>
        </p:txBody>
      </p:sp>
      <p:sp>
        <p:nvSpPr>
          <p:cNvPr id="37" name="Shape 34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62000" y="9648825"/>
            <a:ext cx="455722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03. 산더미 같은 이메일 탈출과 스마트한 일정 관리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19 / 60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7958963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47750"/>
            <a:ext cx="164592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638175"/>
            <a:ext cx="389140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· 챕터 간지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473982" y="609600"/>
            <a:ext cx="31895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AX 일방식 혁신 교육 · KT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986213"/>
            <a:ext cx="3771900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69364"/>
              </a:lnSpc>
              <a:buNone/>
            </a:pPr>
            <a:r>
              <a:rPr lang="en-US" sz="2250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04</a:t>
            </a:r>
            <a:endParaRPr lang="en-US" sz="22500" dirty="0"/>
          </a:p>
        </p:txBody>
      </p:sp>
      <p:sp>
        <p:nvSpPr>
          <p:cNvPr id="6" name="Shape 4"/>
          <p:cNvSpPr/>
          <p:nvPr/>
        </p:nvSpPr>
        <p:spPr>
          <a:xfrm>
            <a:off x="5029200" y="2886373"/>
            <a:ext cx="9525" cy="4485531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48325" y="2886373"/>
            <a:ext cx="17594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kern="0" spc="468" dirty="0">
                <a:solidFill>
                  <a:srgbClr val="9FA4A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648325" y="3353098"/>
            <a:ext cx="12077033" cy="181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451"/>
              </a:lnSpc>
              <a:buNone/>
            </a:pPr>
            <a:r>
              <a:rPr lang="en-US" sz="6600" b="1" kern="0" spc="-132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데이터 기반 의사결정, </a:t>
            </a:r>
          </a:p>
          <a:p>
            <a:pPr marL="0" indent="0" algn="l">
              <a:lnSpc>
                <a:spcPct val="91451"/>
              </a:lnSpc>
              <a:buNone/>
            </a:pPr>
            <a:r>
              <a:rPr lang="en-US" sz="6600" b="1" kern="0" spc="-132" dirty="0" err="1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에이전트</a:t>
            </a:r>
            <a:r>
              <a:rPr lang="en-US" sz="6600" b="1" kern="0" spc="-132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 모드 실전 플레이북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5648325" y="5377458"/>
            <a:ext cx="12897803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24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정제, 분석, 보고를 5분으로 단축하는 실행 루틴</a:t>
            </a:r>
            <a:endParaRPr lang="en-US" sz="2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48325" y="6105079"/>
            <a:ext cx="438150" cy="43815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76975" y="6105079"/>
            <a:ext cx="438150" cy="438150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905625" y="6105079"/>
            <a:ext cx="438150" cy="438150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534275" y="6105079"/>
            <a:ext cx="438150" cy="43815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648325" y="6867079"/>
            <a:ext cx="11725275" cy="28575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9"/>
          <p:cNvSpPr/>
          <p:nvPr/>
        </p:nvSpPr>
        <p:spPr>
          <a:xfrm>
            <a:off x="5648325" y="7105204"/>
            <a:ext cx="39035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Excel · Word · PowerPoint · Teams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9616083" y="7105204"/>
            <a:ext cx="20855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UNIT 13 — 51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14400" y="9391650"/>
            <a:ext cx="164592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2"/>
          <p:cNvSpPr/>
          <p:nvPr/>
        </p:nvSpPr>
        <p:spPr>
          <a:xfrm>
            <a:off x="914400" y="9534525"/>
            <a:ext cx="50200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 기반 의사결정, 에이전트 모드 실전 플레이북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16498044" y="95345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20 / 60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34851053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167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13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153209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10409" y="623888"/>
            <a:ext cx="9917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167A00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EXCEL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13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Excel Copilot 4대 핵심 기능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5G 품질 지표(PRB Usage, Drop Rate) 정제 · 생성 · 시각화 · 분석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4630192"/>
            <a:ext cx="414909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30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01. 편집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62000" y="5163592"/>
            <a:ext cx="3885057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424"/>
              </a:lnSpc>
              <a:buNone/>
            </a:pPr>
            <a:r>
              <a:rPr lang="en-US" sz="2000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서식 적용, 레이아웃 정리, </a:t>
            </a:r>
          </a:p>
          <a:p>
            <a:pPr marL="0" indent="0" algn="l">
              <a:lnSpc>
                <a:spcPct val="127424"/>
              </a:lnSpc>
              <a:buNone/>
            </a:pPr>
            <a:r>
              <a:rPr lang="en-US" sz="2000" dirty="0" err="1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조건부</a:t>
            </a:r>
            <a:r>
              <a:rPr lang="en-US" sz="2000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 서식 강조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953000" y="4382542"/>
            <a:ext cx="9525" cy="1829693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381625" y="4630192"/>
            <a:ext cx="367760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30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02. 생성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5381625" y="5163592"/>
            <a:ext cx="3443573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424"/>
              </a:lnSpc>
              <a:buNone/>
            </a:pPr>
            <a:r>
              <a:rPr lang="en-US" sz="2000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수식 자동 생성, 예시 </a:t>
            </a:r>
            <a:r>
              <a:rPr lang="en-US" sz="2000" dirty="0" err="1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기반</a:t>
            </a:r>
            <a:r>
              <a:rPr lang="en-US" sz="2000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 </a:t>
            </a:r>
          </a:p>
          <a:p>
            <a:pPr marL="0" indent="0" algn="l">
              <a:lnSpc>
                <a:spcPct val="127424"/>
              </a:lnSpc>
              <a:buNone/>
            </a:pPr>
            <a:r>
              <a:rPr lang="en-US" sz="2000" dirty="0" err="1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열</a:t>
            </a:r>
            <a:r>
              <a:rPr lang="en-US" sz="2000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 자동 채우기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9144000" y="4382542"/>
            <a:ext cx="9525" cy="1829693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9572625" y="4630192"/>
            <a:ext cx="367760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30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03. 시각화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9572625" y="5163592"/>
            <a:ext cx="3443573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424"/>
              </a:lnSpc>
              <a:buNone/>
            </a:pPr>
            <a:r>
              <a:rPr lang="en-US" sz="2000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차트 즉시 생성, </a:t>
            </a:r>
          </a:p>
          <a:p>
            <a:pPr marL="0" indent="0" algn="l">
              <a:lnSpc>
                <a:spcPct val="127424"/>
              </a:lnSpc>
              <a:buNone/>
            </a:pPr>
            <a:r>
              <a:rPr lang="en-US" sz="2000" dirty="0" err="1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피벗</a:t>
            </a:r>
            <a:r>
              <a:rPr lang="en-US" sz="2000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 테이블 자동 구성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13335000" y="4382542"/>
            <a:ext cx="9525" cy="1829693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13763625" y="4630192"/>
            <a:ext cx="413861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30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04. 분석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13763625" y="5163591"/>
            <a:ext cx="4138612" cy="8389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424"/>
              </a:lnSpc>
              <a:buNone/>
            </a:pPr>
            <a:r>
              <a:rPr lang="en-US" sz="2000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요약, 이상치 발견, </a:t>
            </a:r>
          </a:p>
          <a:p>
            <a:pPr marL="0" indent="0" algn="l">
              <a:lnSpc>
                <a:spcPct val="127424"/>
              </a:lnSpc>
              <a:buNone/>
            </a:pPr>
            <a:r>
              <a:rPr lang="en-US" sz="2000" dirty="0" err="1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조건</a:t>
            </a:r>
            <a:r>
              <a:rPr lang="en-US" sz="2000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 필터링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762000" y="7948613"/>
            <a:ext cx="16764000" cy="1366838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1047750" y="8586788"/>
            <a:ext cx="16192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1047750" y="8177213"/>
            <a:ext cx="158308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16094422" y="8434388"/>
            <a:ext cx="1145828" cy="1905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16056322" y="8177213"/>
            <a:ext cx="1222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프롬프트 복사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1047750" y="8685213"/>
            <a:ext cx="16427450" cy="693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이 시트의 수도권 5G 기지국 트래픽 통계를 분석하고 이상치가 발생한 시간대를 피벗 테이블로 요약해줘.</a:t>
            </a:r>
            <a:endParaRPr lang="en-US" sz="2400" dirty="0"/>
          </a:p>
        </p:txBody>
      </p:sp>
      <p:sp>
        <p:nvSpPr>
          <p:cNvPr id="29" name="Shape 26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21 / 60</a:t>
            </a:r>
            <a:endParaRPr lang="en-US" sz="1650" dirty="0"/>
          </a:p>
        </p:txBody>
      </p:sp>
      <p:sp>
        <p:nvSpPr>
          <p:cNvPr id="32" name="DiffDot1">
            <a:extLst>
              <a:ext uri="{FF2B5EF4-FFF2-40B4-BE49-F238E27FC236}">
                <a16:creationId xmlns:a16="http://schemas.microsoft.com/office/drawing/2014/main" id="{0DCB5239-8A47-064B-AEE3-5CC031AC5177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DiffDot2">
            <a:extLst>
              <a:ext uri="{FF2B5EF4-FFF2-40B4-BE49-F238E27FC236}">
                <a16:creationId xmlns:a16="http://schemas.microsoft.com/office/drawing/2014/main" id="{18A0CD68-A1ED-9E42-BAF0-81BAB8CC56D2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4" name="DiffDot3">
            <a:extLst>
              <a:ext uri="{FF2B5EF4-FFF2-40B4-BE49-F238E27FC236}">
                <a16:creationId xmlns:a16="http://schemas.microsoft.com/office/drawing/2014/main" id="{A2FC8E69-BC3A-7C4D-BE1B-A9B7C9605325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5" name="DiffDot4">
            <a:extLst>
              <a:ext uri="{FF2B5EF4-FFF2-40B4-BE49-F238E27FC236}">
                <a16:creationId xmlns:a16="http://schemas.microsoft.com/office/drawing/2014/main" id="{FF0B7D6C-A8B1-9A4E-B6BE-F393DAEACB65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DiffDot5">
            <a:extLst>
              <a:ext uri="{FF2B5EF4-FFF2-40B4-BE49-F238E27FC236}">
                <a16:creationId xmlns:a16="http://schemas.microsoft.com/office/drawing/2014/main" id="{532CAA2D-12CC-D744-A4A0-964FCD278C7E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DiffLabel">
            <a:extLst>
              <a:ext uri="{FF2B5EF4-FFF2-40B4-BE49-F238E27FC236}">
                <a16:creationId xmlns:a16="http://schemas.microsoft.com/office/drawing/2014/main" id="{12F74229-6D97-374E-AD4F-9161419EE4C4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</p:spTree>
    <p:extLst>
      <p:ext uri="{BB962C8B-B14F-4D97-AF65-F5344CB8AC3E}">
        <p14:creationId xmlns:p14="http://schemas.microsoft.com/office/powerpoint/2010/main" val="39945838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167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14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153209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10409" y="623888"/>
            <a:ext cx="9917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167A00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EXCEL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14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정답을 부르는 엑셀 프롬프트 원칙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구체적 목표, 정확한 범위 지정, 점진적 구체화, 사용자 검증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986839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4대 작성 원칙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5334031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773544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목표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2038350" y="4725919"/>
            <a:ext cx="5502161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두루뭉술한 질문 대신 구체적 결과물 지정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762000" y="6142168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5581681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범위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2038350" y="5534056"/>
            <a:ext cx="4306907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열 이름과 셀 범위를 정확히 명시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762000" y="6950304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762000" y="6389818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구체화</a:t>
            </a:r>
            <a:endParaRPr lang="en-US" sz="2475" dirty="0"/>
          </a:p>
        </p:txBody>
      </p:sp>
      <p:sp>
        <p:nvSpPr>
          <p:cNvPr id="21" name="Text 18"/>
          <p:cNvSpPr/>
          <p:nvPr/>
        </p:nvSpPr>
        <p:spPr>
          <a:xfrm>
            <a:off x="2038350" y="6342193"/>
            <a:ext cx="460568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포괄 질문 후 결과를 보며 좁혀가기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762000" y="7197954"/>
            <a:ext cx="12511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맥락 유지</a:t>
            </a:r>
            <a:endParaRPr lang="en-US" sz="2475" dirty="0"/>
          </a:p>
        </p:txBody>
      </p:sp>
      <p:sp>
        <p:nvSpPr>
          <p:cNvPr id="23" name="Text 20"/>
          <p:cNvSpPr/>
          <p:nvPr/>
        </p:nvSpPr>
        <p:spPr>
          <a:xfrm>
            <a:off x="2146548" y="7150329"/>
            <a:ext cx="422243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이전 결과를 근거로 이어서 질문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9144000" y="3952131"/>
            <a:ext cx="9525" cy="4266902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9572625" y="3986839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엔지니어 검증 원칙</a:t>
            </a:r>
            <a:endParaRPr lang="en-US" sz="3600" dirty="0"/>
          </a:p>
        </p:txBody>
      </p:sp>
      <p:sp>
        <p:nvSpPr>
          <p:cNvPr id="26" name="Shape 23"/>
          <p:cNvSpPr/>
          <p:nvPr/>
        </p:nvSpPr>
        <p:spPr>
          <a:xfrm>
            <a:off x="9572625" y="5334031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4773544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수식</a:t>
            </a:r>
            <a:endParaRPr lang="en-US" sz="2475" dirty="0"/>
          </a:p>
        </p:txBody>
      </p:sp>
      <p:sp>
        <p:nvSpPr>
          <p:cNvPr id="28" name="Text 25"/>
          <p:cNvSpPr/>
          <p:nvPr/>
        </p:nvSpPr>
        <p:spPr>
          <a:xfrm>
            <a:off x="10848975" y="4725919"/>
            <a:ext cx="580093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생성된 수식이 원본 로직과 일치하는지 확인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9572625" y="6142168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9572625" y="5581681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표본</a:t>
            </a:r>
            <a:endParaRPr lang="en-US" sz="2475" dirty="0"/>
          </a:p>
        </p:txBody>
      </p:sp>
      <p:sp>
        <p:nvSpPr>
          <p:cNvPr id="31" name="Text 28"/>
          <p:cNvSpPr/>
          <p:nvPr/>
        </p:nvSpPr>
        <p:spPr>
          <a:xfrm>
            <a:off x="10848975" y="5534056"/>
            <a:ext cx="362472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일부 행을 수동 계산과 대조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9572625" y="6389818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기록</a:t>
            </a:r>
            <a:endParaRPr lang="en-US" sz="2475" dirty="0"/>
          </a:p>
        </p:txBody>
      </p:sp>
      <p:sp>
        <p:nvSpPr>
          <p:cNvPr id="33" name="Text 30"/>
          <p:cNvSpPr/>
          <p:nvPr/>
        </p:nvSpPr>
        <p:spPr>
          <a:xfrm>
            <a:off x="10848975" y="6342193"/>
            <a:ext cx="5502161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최종 검증자와 검증 일자를 시트에 남기기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22 / 60</a:t>
            </a:r>
            <a:endParaRPr lang="en-US" sz="1650" dirty="0"/>
          </a:p>
        </p:txBody>
      </p:sp>
      <p:sp>
        <p:nvSpPr>
          <p:cNvPr id="37" name="DiffDot1">
            <a:extLst>
              <a:ext uri="{FF2B5EF4-FFF2-40B4-BE49-F238E27FC236}">
                <a16:creationId xmlns:a16="http://schemas.microsoft.com/office/drawing/2014/main" id="{858C31F1-13E1-6844-83BD-4DABC54165BE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8" name="DiffDot2">
            <a:extLst>
              <a:ext uri="{FF2B5EF4-FFF2-40B4-BE49-F238E27FC236}">
                <a16:creationId xmlns:a16="http://schemas.microsoft.com/office/drawing/2014/main" id="{9677DC89-81B5-5147-A306-CF909B4997DA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9" name="DiffDot3">
            <a:extLst>
              <a:ext uri="{FF2B5EF4-FFF2-40B4-BE49-F238E27FC236}">
                <a16:creationId xmlns:a16="http://schemas.microsoft.com/office/drawing/2014/main" id="{2128ED46-EF9E-1D4E-8865-E7DC88987102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0" name="DiffDot4">
            <a:extLst>
              <a:ext uri="{FF2B5EF4-FFF2-40B4-BE49-F238E27FC236}">
                <a16:creationId xmlns:a16="http://schemas.microsoft.com/office/drawing/2014/main" id="{35FA9398-0469-E742-8313-C80F0DACB75A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ffDot5">
            <a:extLst>
              <a:ext uri="{FF2B5EF4-FFF2-40B4-BE49-F238E27FC236}">
                <a16:creationId xmlns:a16="http://schemas.microsoft.com/office/drawing/2014/main" id="{FE70CF27-8004-9748-A262-7568A8570763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DiffLabel">
            <a:extLst>
              <a:ext uri="{FF2B5EF4-FFF2-40B4-BE49-F238E27FC236}">
                <a16:creationId xmlns:a16="http://schemas.microsoft.com/office/drawing/2014/main" id="{32DE873C-3CA1-EC4D-B898-1E8B2D90B9CE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  <p:sp>
        <p:nvSpPr>
          <p:cNvPr id="43" name="TroubleshootBox">
            <a:extLst>
              <a:ext uri="{FF2B5EF4-FFF2-40B4-BE49-F238E27FC236}">
                <a16:creationId xmlns:a16="http://schemas.microsoft.com/office/drawing/2014/main" id="{828C00E0-E464-344A-BB27-999D32E20EDB}"/>
              </a:ext>
            </a:extLst>
          </p:cNvPr>
          <p:cNvSpPr/>
          <p:nvPr/>
        </p:nvSpPr>
        <p:spPr>
          <a:xfrm>
            <a:off x="762000" y="7848600"/>
            <a:ext cx="16764000" cy="1524000"/>
          </a:xfrm>
          <a:prstGeom prst="roundRect">
            <a:avLst/>
          </a:prstGeom>
          <a:solidFill>
            <a:srgbClr val="FFF4EC"/>
          </a:solidFill>
          <a:ln w="15875" cap="flat" cmpd="sng" algn="ctr">
            <a:solidFill>
              <a:srgbClr val="ED7D3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TroubleshootTitle">
            <a:extLst>
              <a:ext uri="{FF2B5EF4-FFF2-40B4-BE49-F238E27FC236}">
                <a16:creationId xmlns:a16="http://schemas.microsoft.com/office/drawing/2014/main" id="{F6D22DA4-1149-4B4C-AF80-2F6E87A202B2}"/>
              </a:ext>
            </a:extLst>
          </p:cNvPr>
          <p:cNvSpPr txBox="1"/>
          <p:nvPr/>
        </p:nvSpPr>
        <p:spPr>
          <a:xfrm>
            <a:off x="1270000" y="8026400"/>
            <a:ext cx="50800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" altLang="ko-KR" sz="1500" b="1" dirty="0">
                <a:solidFill>
                  <a:srgbClr val="C25A11"/>
                </a:solidFill>
                <a:latin typeface="BM DoHyeon OTF"/>
                <a:ea typeface="BM DoHyeon OTF"/>
              </a:rPr>
              <a:t>[Troubleshooting]</a:t>
            </a:r>
            <a:endParaRPr lang="ko-KR" altLang="en-US" sz="1500" b="1" dirty="0">
              <a:solidFill>
                <a:srgbClr val="C25A11"/>
              </a:solidFill>
              <a:latin typeface="BM DoHyeon OTF"/>
              <a:ea typeface="BM DoHyeon OTF"/>
            </a:endParaRPr>
          </a:p>
        </p:txBody>
      </p:sp>
      <p:sp>
        <p:nvSpPr>
          <p:cNvPr id="45" name="TroubleshootBody">
            <a:extLst>
              <a:ext uri="{FF2B5EF4-FFF2-40B4-BE49-F238E27FC236}">
                <a16:creationId xmlns:a16="http://schemas.microsoft.com/office/drawing/2014/main" id="{DED6DDB1-BC8B-4A4D-AA4D-1CEF61E3845C}"/>
              </a:ext>
            </a:extLst>
          </p:cNvPr>
          <p:cNvSpPr txBox="1"/>
          <p:nvPr/>
        </p:nvSpPr>
        <p:spPr>
          <a:xfrm>
            <a:off x="1066800" y="8407400"/>
            <a:ext cx="161544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① </a:t>
            </a:r>
            <a:r>
              <a:rPr lang="ko-KR" altLang="en-US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수식 오류</a:t>
            </a:r>
            <a:r>
              <a:rPr lang="en-US" altLang="ko-KR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(#</a:t>
            </a:r>
            <a:r>
              <a:rPr lang="en" altLang="ko-KR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REF!, #VALUE! </a:t>
            </a:r>
            <a:r>
              <a:rPr lang="ko-KR" altLang="en-US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등</a:t>
            </a:r>
            <a:r>
              <a:rPr lang="en-US" altLang="ko-KR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) </a:t>
            </a:r>
            <a:r>
              <a:rPr lang="ko-KR" altLang="en-US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시 참조 범위</a:t>
            </a:r>
            <a:r>
              <a:rPr lang="en-US" altLang="ko-KR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·</a:t>
            </a:r>
            <a:r>
              <a:rPr lang="ko-KR" altLang="en-US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데이터 형식 재확인  </a:t>
            </a:r>
            <a:r>
              <a:rPr lang="en-US" altLang="ko-KR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② </a:t>
            </a:r>
            <a:r>
              <a:rPr lang="ko-KR" altLang="en-US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결과가 다르면 조건</a:t>
            </a:r>
            <a:r>
              <a:rPr lang="en-US" altLang="ko-KR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·</a:t>
            </a:r>
            <a:r>
              <a:rPr lang="ko-KR" altLang="en-US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예시를 구체화해 </a:t>
            </a:r>
            <a:r>
              <a:rPr lang="ko-KR" altLang="en-US" dirty="0" err="1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재요청</a:t>
            </a:r>
            <a:r>
              <a:rPr lang="ko-KR" altLang="en-US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  </a:t>
            </a:r>
            <a:endParaRPr lang="en-US" altLang="ko-KR" dirty="0">
              <a:solidFill>
                <a:srgbClr val="595959"/>
              </a:solidFill>
              <a:latin typeface="BM DoHyeon OTF" panose="020B0600000101010101" pitchFamily="34" charset="-127"/>
              <a:ea typeface="BM DoHyeon OTF" panose="020B0600000101010101" pitchFamily="34" charset="-127"/>
            </a:endParaRPr>
          </a:p>
          <a:p>
            <a:pPr algn="l"/>
            <a:r>
              <a:rPr lang="en-US" altLang="ko-KR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③ </a:t>
            </a:r>
            <a:r>
              <a:rPr lang="ko-KR" altLang="en-US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반복 실패 시 </a:t>
            </a:r>
            <a:r>
              <a:rPr lang="en" altLang="ko-KR" dirty="0" err="1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Ctrl+Z</a:t>
            </a:r>
            <a:r>
              <a:rPr lang="ko-KR" altLang="en-US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로 되돌리고 프롬프트 재작성</a:t>
            </a:r>
          </a:p>
        </p:txBody>
      </p:sp>
      <p:pic>
        <p:nvPicPr>
          <p:cNvPr id="46" name="Graphic 46" descr="Troubleshooting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000" y="8026400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6496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roubleshootBox">
            <a:extLst>
              <a:ext uri="{FF2B5EF4-FFF2-40B4-BE49-F238E27FC236}">
                <a16:creationId xmlns:a16="http://schemas.microsoft.com/office/drawing/2014/main" id="{10B67704-B025-2A42-A67D-5952274EC6F1}"/>
              </a:ext>
            </a:extLst>
          </p:cNvPr>
          <p:cNvSpPr/>
          <p:nvPr/>
        </p:nvSpPr>
        <p:spPr>
          <a:xfrm>
            <a:off x="762000" y="7848600"/>
            <a:ext cx="16764000" cy="1524000"/>
          </a:xfrm>
          <a:prstGeom prst="roundRect">
            <a:avLst/>
          </a:prstGeom>
          <a:solidFill>
            <a:srgbClr val="FFF4EC"/>
          </a:solidFill>
          <a:ln w="12700" cap="flat" cmpd="sng" algn="ctr">
            <a:solidFill>
              <a:srgbClr val="ED7D3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167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15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153209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10409" y="623888"/>
            <a:ext cx="9917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167A00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EXCEL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15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전역 설정과 '.Rules' 시트 규칙 제어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계정 전체 기본값과 파일 단위 동적 규칙을 나눠 관리합니다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4378381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계정 전체 (Global)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5725573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5165087"/>
            <a:ext cx="12511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기본 서식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2146548" y="5117462"/>
            <a:ext cx="6101016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통화 기호(₩), 날짜 형식(DD-MMM-YYYY)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762000" y="6533710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5973223"/>
            <a:ext cx="12511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응답 방식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2146548" y="5925598"/>
            <a:ext cx="3241477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어조와 설명 상세도 설정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62000" y="6781360"/>
            <a:ext cx="12511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적용 범위</a:t>
            </a:r>
            <a:endParaRPr lang="en-US" sz="2475" dirty="0"/>
          </a:p>
        </p:txBody>
      </p:sp>
      <p:sp>
        <p:nvSpPr>
          <p:cNvPr id="20" name="Text 17"/>
          <p:cNvSpPr/>
          <p:nvPr/>
        </p:nvSpPr>
        <p:spPr>
          <a:xfrm>
            <a:off x="2146548" y="6733735"/>
            <a:ext cx="362472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모든 통합 문서에 공통 계승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9144000" y="4356199"/>
            <a:ext cx="9525" cy="345876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4378381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특정 파일 ('.Rules' 시트)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9572625" y="5725573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572625" y="5165087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생성</a:t>
            </a:r>
            <a:endParaRPr lang="en-US" sz="2475" dirty="0"/>
          </a:p>
        </p:txBody>
      </p:sp>
      <p:sp>
        <p:nvSpPr>
          <p:cNvPr id="25" name="Text 22"/>
          <p:cNvSpPr/>
          <p:nvPr/>
        </p:nvSpPr>
        <p:spPr>
          <a:xfrm>
            <a:off x="10848975" y="5117462"/>
            <a:ext cx="444835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.Rules 시트 A열에 셀당 규칙 1개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9572625" y="6533710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5973223"/>
            <a:ext cx="12511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동적 규칙</a:t>
            </a:r>
            <a:endParaRPr lang="en-US" sz="2475" dirty="0"/>
          </a:p>
        </p:txBody>
      </p:sp>
      <p:sp>
        <p:nvSpPr>
          <p:cNvPr id="28" name="Text 25"/>
          <p:cNvSpPr/>
          <p:nvPr/>
        </p:nvSpPr>
        <p:spPr>
          <a:xfrm>
            <a:off x="10957173" y="5925598"/>
            <a:ext cx="7026965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=IF(B1="Executive","1페이지 요약","상세 테이블")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9572625" y="6781360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공유</a:t>
            </a:r>
            <a:endParaRPr lang="en-US" sz="2475" dirty="0"/>
          </a:p>
        </p:txBody>
      </p:sp>
      <p:sp>
        <p:nvSpPr>
          <p:cNvPr id="30" name="Text 27"/>
          <p:cNvSpPr/>
          <p:nvPr/>
        </p:nvSpPr>
        <p:spPr>
          <a:xfrm>
            <a:off x="10848975" y="6733735"/>
            <a:ext cx="422243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파일과 함께 규칙이 그대로 전달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3" name="Text 30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23 / 60</a:t>
            </a:r>
            <a:endParaRPr lang="en-US" sz="1650" dirty="0"/>
          </a:p>
        </p:txBody>
      </p:sp>
      <p:sp>
        <p:nvSpPr>
          <p:cNvPr id="34" name="DiffDot1">
            <a:extLst>
              <a:ext uri="{FF2B5EF4-FFF2-40B4-BE49-F238E27FC236}">
                <a16:creationId xmlns:a16="http://schemas.microsoft.com/office/drawing/2014/main" id="{8D9B92C2-25FF-0140-87E8-040BCA3AE611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5" name="DiffDot2">
            <a:extLst>
              <a:ext uri="{FF2B5EF4-FFF2-40B4-BE49-F238E27FC236}">
                <a16:creationId xmlns:a16="http://schemas.microsoft.com/office/drawing/2014/main" id="{98777E9E-4DC3-4445-B30E-7B2F5072B686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DiffDot3">
            <a:extLst>
              <a:ext uri="{FF2B5EF4-FFF2-40B4-BE49-F238E27FC236}">
                <a16:creationId xmlns:a16="http://schemas.microsoft.com/office/drawing/2014/main" id="{02C32ACF-4151-684C-8DB4-896FB9E99D5C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DiffDot4">
            <a:extLst>
              <a:ext uri="{FF2B5EF4-FFF2-40B4-BE49-F238E27FC236}">
                <a16:creationId xmlns:a16="http://schemas.microsoft.com/office/drawing/2014/main" id="{F2638A43-81C2-6F47-A115-39FDD0331B7D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8" name="DiffDot5">
            <a:extLst>
              <a:ext uri="{FF2B5EF4-FFF2-40B4-BE49-F238E27FC236}">
                <a16:creationId xmlns:a16="http://schemas.microsoft.com/office/drawing/2014/main" id="{8621CDC5-F075-9F43-9907-8583EB75EAA4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9" name="DiffLabel">
            <a:extLst>
              <a:ext uri="{FF2B5EF4-FFF2-40B4-BE49-F238E27FC236}">
                <a16:creationId xmlns:a16="http://schemas.microsoft.com/office/drawing/2014/main" id="{A52B5462-42AE-8545-8327-46A9EA8833A1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  <p:sp>
        <p:nvSpPr>
          <p:cNvPr id="41" name="TroubleshootTitle">
            <a:extLst>
              <a:ext uri="{FF2B5EF4-FFF2-40B4-BE49-F238E27FC236}">
                <a16:creationId xmlns:a16="http://schemas.microsoft.com/office/drawing/2014/main" id="{4C1F26E7-522D-E74F-9568-A161296D367A}"/>
              </a:ext>
            </a:extLst>
          </p:cNvPr>
          <p:cNvSpPr txBox="1"/>
          <p:nvPr/>
        </p:nvSpPr>
        <p:spPr>
          <a:xfrm>
            <a:off x="1270000" y="8026400"/>
            <a:ext cx="5080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" altLang="ko-KR" sz="1500" b="1">
                <a:solidFill>
                  <a:srgbClr val="C25A11"/>
                </a:solidFill>
                <a:latin typeface="BM DoHyeon OTF"/>
                <a:ea typeface="BM DoHyeon OTF"/>
              </a:rPr>
              <a:t>[Troubleshooting]</a:t>
            </a:r>
            <a:endParaRPr lang="ko-KR" altLang="en-US" sz="1500" b="1">
              <a:solidFill>
                <a:srgbClr val="C25A11"/>
              </a:solidFill>
              <a:latin typeface="BM DoHyeon OTF"/>
              <a:ea typeface="BM DoHyeon OTF"/>
            </a:endParaRPr>
          </a:p>
        </p:txBody>
      </p:sp>
      <p:sp>
        <p:nvSpPr>
          <p:cNvPr id="42" name="TroubleshootBody">
            <a:extLst>
              <a:ext uri="{FF2B5EF4-FFF2-40B4-BE49-F238E27FC236}">
                <a16:creationId xmlns:a16="http://schemas.microsoft.com/office/drawing/2014/main" id="{27E14F84-4BCF-A244-9644-7C4B3D5473FE}"/>
              </a:ext>
            </a:extLst>
          </p:cNvPr>
          <p:cNvSpPr txBox="1"/>
          <p:nvPr/>
        </p:nvSpPr>
        <p:spPr>
          <a:xfrm>
            <a:off x="1066800" y="8407400"/>
            <a:ext cx="161544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① </a:t>
            </a:r>
            <a:r>
              <a:rPr lang="ko-KR" altLang="en-US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전역 규칙과 시트별 </a:t>
            </a:r>
            <a:r>
              <a:rPr lang="en-US" altLang="ko-KR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'.</a:t>
            </a:r>
            <a:r>
              <a:rPr lang="en" altLang="ko-KR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Rules' </a:t>
            </a:r>
            <a:r>
              <a:rPr lang="ko-KR" altLang="en-US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규칙이 충돌하면 시트 규칙이 우선 적용되는지 확인  </a:t>
            </a:r>
            <a:r>
              <a:rPr lang="en-US" altLang="ko-KR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② </a:t>
            </a:r>
            <a:r>
              <a:rPr lang="ko-KR" altLang="en-US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규칙이 반영되지 않으면 </a:t>
            </a:r>
            <a:r>
              <a:rPr lang="ko-KR" altLang="en-US" dirty="0" err="1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시트명</a:t>
            </a:r>
            <a:r>
              <a:rPr lang="en-US" altLang="ko-KR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·</a:t>
            </a:r>
            <a:r>
              <a:rPr lang="ko-KR" altLang="en-US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범위 지정이 정확한지 재확인  </a:t>
            </a:r>
            <a:endParaRPr lang="en-US" altLang="ko-KR" dirty="0">
              <a:solidFill>
                <a:srgbClr val="595959"/>
              </a:solidFill>
              <a:latin typeface="BM DoHyeon OTF" panose="020B0600000101010101" pitchFamily="34" charset="-127"/>
              <a:ea typeface="BM DoHyeon OTF" panose="020B0600000101010101" pitchFamily="34" charset="-127"/>
            </a:endParaRPr>
          </a:p>
          <a:p>
            <a:pPr algn="l"/>
            <a:r>
              <a:rPr lang="en-US" altLang="ko-KR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③ </a:t>
            </a:r>
            <a:r>
              <a:rPr lang="ko-KR" altLang="en-US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예상과 다르면 우선순위 조건을 구체적으로 </a:t>
            </a:r>
            <a:r>
              <a:rPr lang="ko-KR" altLang="en-US" dirty="0" err="1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재요청</a:t>
            </a:r>
            <a:endParaRPr lang="ko-KR" altLang="en-US" dirty="0">
              <a:solidFill>
                <a:srgbClr val="595959"/>
              </a:solidFill>
              <a:latin typeface="BM DoHyeon OTF" panose="020B0600000101010101" pitchFamily="34" charset="-127"/>
              <a:ea typeface="BM DoHyeon OTF" panose="020B0600000101010101" pitchFamily="34" charset="-127"/>
            </a:endParaRPr>
          </a:p>
        </p:txBody>
      </p:sp>
      <p:pic>
        <p:nvPicPr>
          <p:cNvPr id="43" name="Copied Picture 43" descr="Troubleshooting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000" y="8026400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8884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167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16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153209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10409" y="623888"/>
            <a:ext cx="9917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167A00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EXCEL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16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사내 파일과 Power BI 데이터 연동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Copilot이 근거로 삼을 데이터 소스를 목적에 따라 선택합니다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5040213"/>
            <a:ext cx="414909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30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웹 검색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62000" y="5573612"/>
            <a:ext cx="4149090" cy="660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424"/>
              </a:lnSpc>
              <a:buNone/>
            </a:pPr>
            <a:r>
              <a:rPr lang="en-US" sz="2000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실시간 시장·기술 정보와 출처 인용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953000" y="4792563"/>
            <a:ext cx="9525" cy="1829693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381625" y="5040213"/>
            <a:ext cx="367760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30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사내 파일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5381625" y="5573613"/>
            <a:ext cx="3443573" cy="1263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424"/>
              </a:lnSpc>
              <a:buNone/>
            </a:pPr>
            <a:r>
              <a:rPr lang="en-US" sz="2000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SharePoint · OneDrive </a:t>
            </a:r>
            <a:r>
              <a:rPr lang="en-US" sz="2000" dirty="0" err="1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문서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9144000" y="4792563"/>
            <a:ext cx="9525" cy="1829693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9572625" y="5040213"/>
            <a:ext cx="367760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30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커넥터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9572625" y="5573613"/>
            <a:ext cx="3443573" cy="1263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424"/>
              </a:lnSpc>
              <a:buNone/>
            </a:pPr>
            <a:r>
              <a:rPr lang="en-US" sz="2000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Canva, HubSpot, FactSet 등 외부 서비스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13335000" y="4792563"/>
            <a:ext cx="9525" cy="1829693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13763625" y="5040213"/>
            <a:ext cx="413861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30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Power BI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13763625" y="5573612"/>
            <a:ext cx="4138612" cy="660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424"/>
              </a:lnSpc>
              <a:buNone/>
            </a:pPr>
            <a:r>
              <a:rPr lang="en-US" sz="2000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대시보드 데이터 실시간 분석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762000" y="8668596"/>
            <a:ext cx="16764000" cy="28575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762000" y="8830521"/>
            <a:ext cx="711844" cy="490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15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요점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473844" y="8735271"/>
            <a:ext cx="12880983" cy="7325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240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사내 근거가 필요한 분석은 SharePoint·OneDrive 소스를, 시장 자료는 웹 검색을 지정합니다.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24 / 60</a:t>
            </a:r>
            <a:endParaRPr lang="en-US" sz="1650" dirty="0"/>
          </a:p>
        </p:txBody>
      </p:sp>
      <p:sp>
        <p:nvSpPr>
          <p:cNvPr id="29" name="DiffDot1">
            <a:extLst>
              <a:ext uri="{FF2B5EF4-FFF2-40B4-BE49-F238E27FC236}">
                <a16:creationId xmlns:a16="http://schemas.microsoft.com/office/drawing/2014/main" id="{7ADCD363-D652-164E-98F9-26F950F2D8E2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DiffDot2">
            <a:extLst>
              <a:ext uri="{FF2B5EF4-FFF2-40B4-BE49-F238E27FC236}">
                <a16:creationId xmlns:a16="http://schemas.microsoft.com/office/drawing/2014/main" id="{A320952A-7337-954D-BE04-B116AA6ECB38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DiffDot3">
            <a:extLst>
              <a:ext uri="{FF2B5EF4-FFF2-40B4-BE49-F238E27FC236}">
                <a16:creationId xmlns:a16="http://schemas.microsoft.com/office/drawing/2014/main" id="{16FBB095-D3E3-264E-B75C-B1104F7961B2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DiffDot4">
            <a:extLst>
              <a:ext uri="{FF2B5EF4-FFF2-40B4-BE49-F238E27FC236}">
                <a16:creationId xmlns:a16="http://schemas.microsoft.com/office/drawing/2014/main" id="{63E3E84F-0058-9748-9876-958D84A4BBD7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DiffDot5">
            <a:extLst>
              <a:ext uri="{FF2B5EF4-FFF2-40B4-BE49-F238E27FC236}">
                <a16:creationId xmlns:a16="http://schemas.microsoft.com/office/drawing/2014/main" id="{E9283CF4-9C54-0D4B-B9BC-DEEEACA9FE8D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4" name="DiffLabel">
            <a:extLst>
              <a:ext uri="{FF2B5EF4-FFF2-40B4-BE49-F238E27FC236}">
                <a16:creationId xmlns:a16="http://schemas.microsoft.com/office/drawing/2014/main" id="{67B19D3D-F29D-8B4A-A145-D7DE9C84BE5E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</p:spTree>
    <p:extLst>
      <p:ext uri="{BB962C8B-B14F-4D97-AF65-F5344CB8AC3E}">
        <p14:creationId xmlns:p14="http://schemas.microsoft.com/office/powerpoint/2010/main" val="27529581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167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17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153209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10409" y="623888"/>
            <a:ext cx="9917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167A00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EXCEL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17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수식 자동 제안과 SKILL.md 연동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반복 작업을 수식 제안과 사용자 정의 기술로 자동화합니다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4603849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수식 제안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5951041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5390555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동작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2038350" y="5342930"/>
            <a:ext cx="4988927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맥락 기반 자동 완성과 예시 패턴 인식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762000" y="6759178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6198691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활용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2038350" y="6151066"/>
            <a:ext cx="679711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INDEX-MATCH, XLOOKUP 등 복잡한 수식 생성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62000" y="7006828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설정</a:t>
            </a:r>
            <a:endParaRPr lang="en-US" sz="2475" dirty="0"/>
          </a:p>
        </p:txBody>
      </p:sp>
      <p:sp>
        <p:nvSpPr>
          <p:cNvPr id="20" name="Text 17"/>
          <p:cNvSpPr/>
          <p:nvPr/>
        </p:nvSpPr>
        <p:spPr>
          <a:xfrm>
            <a:off x="2038350" y="6959203"/>
            <a:ext cx="4234547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파일 &gt; 옵션에서 제안 켜기·끄기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9144000" y="4356199"/>
            <a:ext cx="9525" cy="345876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4603849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기술(Skills) 연동 </a:t>
            </a: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(08.25 </a:t>
            </a:r>
            <a:r>
              <a:rPr lang="en-US" b="1" dirty="0" err="1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기준</a:t>
            </a: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 PPT</a:t>
            </a:r>
            <a:r>
              <a:rPr lang="ko-KR" alt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만 </a:t>
            </a:r>
            <a:r>
              <a:rPr lang="en-US" b="1" dirty="0" err="1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지원</a:t>
            </a: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)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9572625" y="5951041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572625" y="5390555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호출</a:t>
            </a:r>
            <a:endParaRPr lang="en-US" sz="2475" dirty="0"/>
          </a:p>
        </p:txBody>
      </p:sp>
      <p:sp>
        <p:nvSpPr>
          <p:cNvPr id="25" name="Text 22"/>
          <p:cNvSpPr/>
          <p:nvPr/>
        </p:nvSpPr>
        <p:spPr>
          <a:xfrm>
            <a:off x="11229082" y="5342930"/>
            <a:ext cx="422849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@mention 또는 메뉴에서 실행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9572625" y="6759178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6198691"/>
            <a:ext cx="12511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기본 기술</a:t>
            </a:r>
            <a:endParaRPr lang="en-US" sz="2475" dirty="0"/>
          </a:p>
        </p:txBody>
      </p:sp>
      <p:sp>
        <p:nvSpPr>
          <p:cNvPr id="28" name="Text 25"/>
          <p:cNvSpPr/>
          <p:nvPr/>
        </p:nvSpPr>
        <p:spPr>
          <a:xfrm>
            <a:off x="11229082" y="6151066"/>
            <a:ext cx="4299868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@brandkit, @theme-design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9572625" y="7006828"/>
            <a:ext cx="15915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사용자 정의</a:t>
            </a:r>
            <a:endParaRPr lang="en-US" sz="2475" dirty="0"/>
          </a:p>
        </p:txBody>
      </p:sp>
      <p:sp>
        <p:nvSpPr>
          <p:cNvPr id="30" name="Text 27"/>
          <p:cNvSpPr/>
          <p:nvPr/>
        </p:nvSpPr>
        <p:spPr>
          <a:xfrm>
            <a:off x="11229082" y="6959203"/>
            <a:ext cx="567373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OneDrive 기술 폴더의 SKILL.md에 정의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3" name="Text 30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25 / 60</a:t>
            </a:r>
            <a:endParaRPr lang="en-US" sz="1650" dirty="0"/>
          </a:p>
        </p:txBody>
      </p:sp>
      <p:sp>
        <p:nvSpPr>
          <p:cNvPr id="34" name="DiffDot1">
            <a:extLst>
              <a:ext uri="{FF2B5EF4-FFF2-40B4-BE49-F238E27FC236}">
                <a16:creationId xmlns:a16="http://schemas.microsoft.com/office/drawing/2014/main" id="{0F5724FC-00BA-0C4A-BE7F-7690ABD2A8C3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5" name="DiffDot2">
            <a:extLst>
              <a:ext uri="{FF2B5EF4-FFF2-40B4-BE49-F238E27FC236}">
                <a16:creationId xmlns:a16="http://schemas.microsoft.com/office/drawing/2014/main" id="{6D777468-3FCC-F34D-AC1D-DAD761E6DC4E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DiffDot3">
            <a:extLst>
              <a:ext uri="{FF2B5EF4-FFF2-40B4-BE49-F238E27FC236}">
                <a16:creationId xmlns:a16="http://schemas.microsoft.com/office/drawing/2014/main" id="{DCBAAF55-D639-C546-9C22-78B6813EE7D5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DiffDot4">
            <a:extLst>
              <a:ext uri="{FF2B5EF4-FFF2-40B4-BE49-F238E27FC236}">
                <a16:creationId xmlns:a16="http://schemas.microsoft.com/office/drawing/2014/main" id="{9ADD9FF8-4105-9A45-BCA2-1C541395924C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8" name="DiffDot5">
            <a:extLst>
              <a:ext uri="{FF2B5EF4-FFF2-40B4-BE49-F238E27FC236}">
                <a16:creationId xmlns:a16="http://schemas.microsoft.com/office/drawing/2014/main" id="{4B6EDC8F-BA96-2340-941C-70C312C9D78E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9" name="DiffLabel">
            <a:extLst>
              <a:ext uri="{FF2B5EF4-FFF2-40B4-BE49-F238E27FC236}">
                <a16:creationId xmlns:a16="http://schemas.microsoft.com/office/drawing/2014/main" id="{803B18DB-5B29-1540-8563-B7375D92E19D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</p:spTree>
    <p:extLst>
      <p:ext uri="{BB962C8B-B14F-4D97-AF65-F5344CB8AC3E}">
        <p14:creationId xmlns:p14="http://schemas.microsoft.com/office/powerpoint/2010/main" val="22580088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167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18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153209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10409" y="623888"/>
            <a:ext cx="9917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167A00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EXCEL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18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대용량 5G KPI 데이터 정제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비정형 로그 정제, 결측치 보정, 과부하 기지국 조건부 분류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4209455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Step 1. 데이터 정제</a:t>
            </a:r>
            <a:endParaRPr lang="en-US" sz="3600" dirty="0"/>
          </a:p>
        </p:txBody>
      </p:sp>
      <p:sp>
        <p:nvSpPr>
          <p:cNvPr id="14" name="Shape 11"/>
          <p:cNvSpPr/>
          <p:nvPr/>
        </p:nvSpPr>
        <p:spPr>
          <a:xfrm>
            <a:off x="762000" y="6104334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762000" y="5218172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목표</a:t>
            </a:r>
            <a:endParaRPr lang="en-US" sz="2475" dirty="0"/>
          </a:p>
        </p:txBody>
      </p:sp>
      <p:sp>
        <p:nvSpPr>
          <p:cNvPr id="16" name="Text 13"/>
          <p:cNvSpPr/>
          <p:nvPr/>
        </p:nvSpPr>
        <p:spPr>
          <a:xfrm>
            <a:off x="2038350" y="5170547"/>
            <a:ext cx="422243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결측치와 비정상 값을 일괄 보정</a:t>
            </a:r>
            <a:endParaRPr lang="en-US" sz="2475" dirty="0"/>
          </a:p>
        </p:txBody>
      </p:sp>
      <p:sp>
        <p:nvSpPr>
          <p:cNvPr id="17" name="Shape 14"/>
          <p:cNvSpPr/>
          <p:nvPr/>
        </p:nvSpPr>
        <p:spPr>
          <a:xfrm>
            <a:off x="762000" y="6304359"/>
            <a:ext cx="7962900" cy="1657350"/>
          </a:xfrm>
          <a:prstGeom prst="rect">
            <a:avLst/>
          </a:prstGeom>
          <a:ln w="9525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962025" y="6485334"/>
            <a:ext cx="13473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PROMPT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129290" y="6761559"/>
            <a:ext cx="395585" cy="19050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8091190" y="6485334"/>
            <a:ext cx="47178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복사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62025" y="6894909"/>
            <a:ext cx="760095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167"/>
              </a:lnSpc>
              <a:buNone/>
            </a:pPr>
            <a:r>
              <a:rPr lang="en-US" sz="2325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빈 셀(N/A)을 이전 정상 측정값으로 채우고 Latency_ms 열의 음수 값을 0으로 일괄 보정해줘.</a:t>
            </a:r>
            <a:endParaRPr lang="en-US" sz="2325" dirty="0"/>
          </a:p>
        </p:txBody>
      </p:sp>
      <p:sp>
        <p:nvSpPr>
          <p:cNvPr id="22" name="Shape 19"/>
          <p:cNvSpPr/>
          <p:nvPr/>
        </p:nvSpPr>
        <p:spPr>
          <a:xfrm>
            <a:off x="9144000" y="3961805"/>
            <a:ext cx="9525" cy="424755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9572625" y="4209455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Step 2. 조건부 파생 열</a:t>
            </a:r>
            <a:endParaRPr lang="en-US" sz="3600" dirty="0"/>
          </a:p>
        </p:txBody>
      </p:sp>
      <p:sp>
        <p:nvSpPr>
          <p:cNvPr id="25" name="Shape 22"/>
          <p:cNvSpPr/>
          <p:nvPr/>
        </p:nvSpPr>
        <p:spPr>
          <a:xfrm>
            <a:off x="9572625" y="6104334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9572625" y="5218172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목표</a:t>
            </a:r>
            <a:endParaRPr lang="en-US" sz="2475" dirty="0"/>
          </a:p>
        </p:txBody>
      </p:sp>
      <p:sp>
        <p:nvSpPr>
          <p:cNvPr id="27" name="Text 24"/>
          <p:cNvSpPr/>
          <p:nvPr/>
        </p:nvSpPr>
        <p:spPr>
          <a:xfrm>
            <a:off x="10848975" y="5170547"/>
            <a:ext cx="3241477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위험 기지국을 자동 분류</a:t>
            </a:r>
            <a:endParaRPr lang="en-US" sz="2475" dirty="0"/>
          </a:p>
        </p:txBody>
      </p:sp>
      <p:sp>
        <p:nvSpPr>
          <p:cNvPr id="28" name="Shape 25"/>
          <p:cNvSpPr/>
          <p:nvPr/>
        </p:nvSpPr>
        <p:spPr>
          <a:xfrm>
            <a:off x="9572625" y="6304359"/>
            <a:ext cx="7953375" cy="1657350"/>
          </a:xfrm>
          <a:prstGeom prst="rect">
            <a:avLst/>
          </a:prstGeom>
          <a:ln w="9525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9772650" y="6485334"/>
            <a:ext cx="13473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b="1" kern="0" spc="324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</a:rPr>
              <a:t>PROMPT</a:t>
            </a:r>
          </a:p>
        </p:txBody>
      </p:sp>
      <p:sp>
        <p:nvSpPr>
          <p:cNvPr id="32" name="Text 29"/>
          <p:cNvSpPr/>
          <p:nvPr/>
        </p:nvSpPr>
        <p:spPr>
          <a:xfrm>
            <a:off x="9772650" y="6894909"/>
            <a:ext cx="777992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167"/>
              </a:lnSpc>
              <a:buNone/>
            </a:pPr>
            <a:r>
              <a:rPr lang="en-US" sz="2325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PRB_Usage가 85% 이상이고 Drop_Rate가 1.5% 초과면 "위험", 아니면 "정상"인 Status 열을 추가해줘.</a:t>
            </a:r>
            <a:endParaRPr lang="en-US" sz="2325" dirty="0"/>
          </a:p>
        </p:txBody>
      </p:sp>
      <p:sp>
        <p:nvSpPr>
          <p:cNvPr id="33" name="Shape 30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5" name="Text 32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26 / 60</a:t>
            </a:r>
            <a:endParaRPr lang="en-US" sz="1650" dirty="0"/>
          </a:p>
        </p:txBody>
      </p:sp>
      <p:sp>
        <p:nvSpPr>
          <p:cNvPr id="36" name="DiffDot1">
            <a:extLst>
              <a:ext uri="{FF2B5EF4-FFF2-40B4-BE49-F238E27FC236}">
                <a16:creationId xmlns:a16="http://schemas.microsoft.com/office/drawing/2014/main" id="{8C5E9E02-9F2F-394F-B3B4-8575E19C290E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DiffDot2">
            <a:extLst>
              <a:ext uri="{FF2B5EF4-FFF2-40B4-BE49-F238E27FC236}">
                <a16:creationId xmlns:a16="http://schemas.microsoft.com/office/drawing/2014/main" id="{5DBCCBE6-F008-DD45-A182-EE4C6AD432B3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8" name="DiffDot3">
            <a:extLst>
              <a:ext uri="{FF2B5EF4-FFF2-40B4-BE49-F238E27FC236}">
                <a16:creationId xmlns:a16="http://schemas.microsoft.com/office/drawing/2014/main" id="{F085D2F3-F32F-BD43-A0CC-7BA7E1DAF95A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9" name="DiffDot4">
            <a:extLst>
              <a:ext uri="{FF2B5EF4-FFF2-40B4-BE49-F238E27FC236}">
                <a16:creationId xmlns:a16="http://schemas.microsoft.com/office/drawing/2014/main" id="{0852E5AE-48D4-3449-BDA0-C3717AE636BD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0" name="DiffDot5">
            <a:extLst>
              <a:ext uri="{FF2B5EF4-FFF2-40B4-BE49-F238E27FC236}">
                <a16:creationId xmlns:a16="http://schemas.microsoft.com/office/drawing/2014/main" id="{2B799666-363C-9B4E-9F04-7E4338901949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ffLabel">
            <a:extLst>
              <a:ext uri="{FF2B5EF4-FFF2-40B4-BE49-F238E27FC236}">
                <a16:creationId xmlns:a16="http://schemas.microsoft.com/office/drawing/2014/main" id="{27A7FA31-CE41-5F4E-A543-8F3411385B37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7BDB5986-4386-CF37-BE4D-EB343B818AB9}"/>
              </a:ext>
            </a:extLst>
          </p:cNvPr>
          <p:cNvSpPr/>
          <p:nvPr/>
        </p:nvSpPr>
        <p:spPr>
          <a:xfrm>
            <a:off x="16838315" y="6723459"/>
            <a:ext cx="395585" cy="19050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50A68852-BF2B-381B-1606-E3E4DCCD8EE3}"/>
              </a:ext>
            </a:extLst>
          </p:cNvPr>
          <p:cNvSpPr/>
          <p:nvPr/>
        </p:nvSpPr>
        <p:spPr>
          <a:xfrm>
            <a:off x="16800215" y="6447234"/>
            <a:ext cx="47178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복사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941164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roubleshootBox">
            <a:extLst>
              <a:ext uri="{FF2B5EF4-FFF2-40B4-BE49-F238E27FC236}">
                <a16:creationId xmlns:a16="http://schemas.microsoft.com/office/drawing/2014/main" id="{9F06CFCF-6A02-8748-8FA6-4870C4877F05}"/>
              </a:ext>
            </a:extLst>
          </p:cNvPr>
          <p:cNvSpPr/>
          <p:nvPr/>
        </p:nvSpPr>
        <p:spPr>
          <a:xfrm>
            <a:off x="12954000" y="7643515"/>
            <a:ext cx="4572000" cy="1678285"/>
          </a:xfrm>
          <a:prstGeom prst="roundRect">
            <a:avLst/>
          </a:prstGeom>
          <a:solidFill>
            <a:srgbClr val="FFF4EC"/>
          </a:solidFill>
          <a:ln w="12700" cap="flat" cmpd="sng" algn="ctr">
            <a:solidFill>
              <a:srgbClr val="ED7D3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167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19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153209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10409" y="623888"/>
            <a:ext cx="9917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167A00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EXCEL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19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기지국 수식 계산과 피벗 차트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기지국별·시간대별 트래픽 추이와 드롭률 상관관계를 자동 시각화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794224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작업 흐름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5141416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580930"/>
            <a:ext cx="1143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1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1299316" y="4533305"/>
            <a:ext cx="392366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과부하 조건으로 필터 열 추가</a:t>
            </a:r>
            <a:endParaRPr lang="en-US" sz="2475" dirty="0"/>
          </a:p>
        </p:txBody>
      </p:sp>
      <p:sp>
        <p:nvSpPr>
          <p:cNvPr id="16" name="Shape 13"/>
          <p:cNvSpPr/>
          <p:nvPr/>
        </p:nvSpPr>
        <p:spPr>
          <a:xfrm>
            <a:off x="762000" y="5949553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5389066"/>
            <a:ext cx="1143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1299316" y="5341441"/>
            <a:ext cx="450909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기지국 ID · 시간대 기준 피벗 생성</a:t>
            </a:r>
            <a:endParaRPr lang="en-US" sz="2475" dirty="0"/>
          </a:p>
        </p:txBody>
      </p:sp>
      <p:sp>
        <p:nvSpPr>
          <p:cNvPr id="19" name="Text 16"/>
          <p:cNvSpPr/>
          <p:nvPr/>
        </p:nvSpPr>
        <p:spPr>
          <a:xfrm>
            <a:off x="762000" y="6197203"/>
            <a:ext cx="1143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3</a:t>
            </a:r>
            <a:endParaRPr lang="en-US" sz="2475" dirty="0"/>
          </a:p>
        </p:txBody>
      </p:sp>
      <p:sp>
        <p:nvSpPr>
          <p:cNvPr id="20" name="Text 17"/>
          <p:cNvSpPr/>
          <p:nvPr/>
        </p:nvSpPr>
        <p:spPr>
          <a:xfrm>
            <a:off x="1299316" y="6149578"/>
            <a:ext cx="362472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추이 차트로 시각화 후 검증</a:t>
            </a:r>
            <a:endParaRPr lang="en-US" sz="2475" dirty="0"/>
          </a:p>
        </p:txBody>
      </p:sp>
      <p:sp>
        <p:nvSpPr>
          <p:cNvPr id="21" name="Shape 18"/>
          <p:cNvSpPr/>
          <p:nvPr/>
        </p:nvSpPr>
        <p:spPr>
          <a:xfrm>
            <a:off x="9144000" y="3546574"/>
            <a:ext cx="9525" cy="345876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3794224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확인 포인트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9572625" y="5141416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572625" y="4580930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범위</a:t>
            </a:r>
            <a:endParaRPr lang="en-US" sz="2475" dirty="0"/>
          </a:p>
        </p:txBody>
      </p:sp>
      <p:sp>
        <p:nvSpPr>
          <p:cNvPr id="25" name="Text 22"/>
          <p:cNvSpPr/>
          <p:nvPr/>
        </p:nvSpPr>
        <p:spPr>
          <a:xfrm>
            <a:off x="10848975" y="4533305"/>
            <a:ext cx="4521205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필터 조건이 의도한 행만 잡았는지</a:t>
            </a:r>
            <a:endParaRPr lang="en-US" sz="2475" dirty="0"/>
          </a:p>
        </p:txBody>
      </p:sp>
      <p:sp>
        <p:nvSpPr>
          <p:cNvPr id="26" name="Shape 23"/>
          <p:cNvSpPr/>
          <p:nvPr/>
        </p:nvSpPr>
        <p:spPr>
          <a:xfrm>
            <a:off x="9572625" y="5949553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5389066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축</a:t>
            </a:r>
            <a:endParaRPr lang="en-US" sz="2475" dirty="0"/>
          </a:p>
        </p:txBody>
      </p:sp>
      <p:sp>
        <p:nvSpPr>
          <p:cNvPr id="28" name="Text 25"/>
          <p:cNvSpPr/>
          <p:nvPr/>
        </p:nvSpPr>
        <p:spPr>
          <a:xfrm>
            <a:off x="10848975" y="5341441"/>
            <a:ext cx="4521205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시간대 정렬이 실제 순서와 맞는지</a:t>
            </a:r>
            <a:endParaRPr lang="en-US" sz="2475" dirty="0"/>
          </a:p>
        </p:txBody>
      </p:sp>
      <p:sp>
        <p:nvSpPr>
          <p:cNvPr id="29" name="Text 26"/>
          <p:cNvSpPr/>
          <p:nvPr/>
        </p:nvSpPr>
        <p:spPr>
          <a:xfrm>
            <a:off x="9572625" y="6197203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해석</a:t>
            </a:r>
            <a:endParaRPr lang="en-US" sz="2475" dirty="0"/>
          </a:p>
        </p:txBody>
      </p:sp>
      <p:sp>
        <p:nvSpPr>
          <p:cNvPr id="30" name="Text 27"/>
          <p:cNvSpPr/>
          <p:nvPr/>
        </p:nvSpPr>
        <p:spPr>
          <a:xfrm>
            <a:off x="10848975" y="6149578"/>
            <a:ext cx="511891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급증 구간이 실제 이벤트와 일치하는지</a:t>
            </a:r>
            <a:endParaRPr lang="en-US" sz="2475" dirty="0"/>
          </a:p>
        </p:txBody>
      </p:sp>
      <p:sp>
        <p:nvSpPr>
          <p:cNvPr id="31" name="Shape 28"/>
          <p:cNvSpPr/>
          <p:nvPr/>
        </p:nvSpPr>
        <p:spPr>
          <a:xfrm>
            <a:off x="762000" y="7637165"/>
            <a:ext cx="11938000" cy="1678285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047750" y="8268353"/>
            <a:ext cx="11366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1047750" y="7858778"/>
            <a:ext cx="158308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11264900" y="8115953"/>
            <a:ext cx="1145828" cy="1905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1226800" y="7858778"/>
            <a:ext cx="1222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프롬프트 복사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047750" y="8325503"/>
            <a:ext cx="11722100" cy="10534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PRB_Usage 85% 이상이고 Drop_Rate 1.5% 초과인 과부하 기지국만 필터링하는 열을 추가하고, </a:t>
            </a:r>
          </a:p>
          <a:p>
            <a:pPr marL="0" indent="0" algn="l">
              <a:lnSpc>
                <a:spcPct val="131250"/>
              </a:lnSpc>
              <a:buNone/>
            </a:pPr>
            <a:r>
              <a:rPr lang="en-US" sz="2400" dirty="0" err="1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기지국</a:t>
            </a: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 ID별 시간대 트래픽 추이를 피벗 차트로 만들어줘.</a:t>
            </a:r>
            <a:endParaRPr lang="en-US" sz="2400" dirty="0"/>
          </a:p>
        </p:txBody>
      </p:sp>
      <p:sp>
        <p:nvSpPr>
          <p:cNvPr id="37" name="Shape 34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27 / 60</a:t>
            </a:r>
            <a:endParaRPr lang="en-US" sz="1650" dirty="0"/>
          </a:p>
        </p:txBody>
      </p:sp>
      <p:sp>
        <p:nvSpPr>
          <p:cNvPr id="40" name="DiffDot1">
            <a:extLst>
              <a:ext uri="{FF2B5EF4-FFF2-40B4-BE49-F238E27FC236}">
                <a16:creationId xmlns:a16="http://schemas.microsoft.com/office/drawing/2014/main" id="{B430D0BB-5772-504B-B6BB-DAF05BEC900E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ffDot2">
            <a:extLst>
              <a:ext uri="{FF2B5EF4-FFF2-40B4-BE49-F238E27FC236}">
                <a16:creationId xmlns:a16="http://schemas.microsoft.com/office/drawing/2014/main" id="{DE8C93AE-C7AB-874A-B57A-E9B27D411CD9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DiffDot3">
            <a:extLst>
              <a:ext uri="{FF2B5EF4-FFF2-40B4-BE49-F238E27FC236}">
                <a16:creationId xmlns:a16="http://schemas.microsoft.com/office/drawing/2014/main" id="{6C30A7E6-C56A-DB47-AB7B-30D46600482D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DiffDot4">
            <a:extLst>
              <a:ext uri="{FF2B5EF4-FFF2-40B4-BE49-F238E27FC236}">
                <a16:creationId xmlns:a16="http://schemas.microsoft.com/office/drawing/2014/main" id="{DB36A0EB-0655-3945-B5DC-84F914E227E3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DiffDot5">
            <a:extLst>
              <a:ext uri="{FF2B5EF4-FFF2-40B4-BE49-F238E27FC236}">
                <a16:creationId xmlns:a16="http://schemas.microsoft.com/office/drawing/2014/main" id="{0426131D-7340-2F41-A16C-28BA87CD36BE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DiffLabel">
            <a:extLst>
              <a:ext uri="{FF2B5EF4-FFF2-40B4-BE49-F238E27FC236}">
                <a16:creationId xmlns:a16="http://schemas.microsoft.com/office/drawing/2014/main" id="{FA7984D2-CDE5-8B45-B321-212BA984A8D9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  <p:sp>
        <p:nvSpPr>
          <p:cNvPr id="50" name="TroubleshootTitle">
            <a:extLst>
              <a:ext uri="{FF2B5EF4-FFF2-40B4-BE49-F238E27FC236}">
                <a16:creationId xmlns:a16="http://schemas.microsoft.com/office/drawing/2014/main" id="{BD97B7AA-E02E-2E4A-B963-E39E75353C3F}"/>
              </a:ext>
            </a:extLst>
          </p:cNvPr>
          <p:cNvSpPr txBox="1"/>
          <p:nvPr/>
        </p:nvSpPr>
        <p:spPr>
          <a:xfrm>
            <a:off x="13109577" y="7821218"/>
            <a:ext cx="381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" altLang="ko-KR" sz="1400" b="1" dirty="0">
                <a:solidFill>
                  <a:srgbClr val="C25A11"/>
                </a:solidFill>
                <a:latin typeface="BM DoHyeon OTF"/>
                <a:ea typeface="BM DoHyeon OTF"/>
              </a:rPr>
              <a:t>[Troubleshooting]</a:t>
            </a:r>
            <a:endParaRPr lang="ko-KR" altLang="en-US" sz="1400" b="1" dirty="0">
              <a:solidFill>
                <a:srgbClr val="C25A11"/>
              </a:solidFill>
              <a:latin typeface="BM DoHyeon OTF"/>
              <a:ea typeface="BM DoHyeon OTF"/>
            </a:endParaRPr>
          </a:p>
        </p:txBody>
      </p:sp>
      <p:sp>
        <p:nvSpPr>
          <p:cNvPr id="51" name="TroubleshootBody">
            <a:extLst>
              <a:ext uri="{FF2B5EF4-FFF2-40B4-BE49-F238E27FC236}">
                <a16:creationId xmlns:a16="http://schemas.microsoft.com/office/drawing/2014/main" id="{4339AFCE-5A56-EC41-9700-AC4DDC6F559E}"/>
              </a:ext>
            </a:extLst>
          </p:cNvPr>
          <p:cNvSpPr txBox="1"/>
          <p:nvPr/>
        </p:nvSpPr>
        <p:spPr>
          <a:xfrm>
            <a:off x="13157200" y="8318500"/>
            <a:ext cx="43688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① 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필터 조건 </a:t>
            </a:r>
            <a:r>
              <a:rPr lang="ko-KR" altLang="en-US" sz="1400" dirty="0" err="1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미반영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 시 값의 범위</a:t>
            </a:r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·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단위를 정확히 지정
</a:t>
            </a:r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② 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피벗 차트가 비면 원본 열 이름 일치 여부 확인
</a:t>
            </a:r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③ 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예상과 다르면 조건을 구체화해 </a:t>
            </a:r>
            <a:r>
              <a:rPr lang="ko-KR" altLang="en-US" sz="1400" dirty="0" err="1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재요청</a:t>
            </a:r>
            <a:endParaRPr lang="ko-KR" altLang="en-US" sz="1400" dirty="0">
              <a:solidFill>
                <a:srgbClr val="595959"/>
              </a:solidFill>
              <a:latin typeface="BM DoHyeon OTF" panose="020B0600000101010101" pitchFamily="34" charset="-127"/>
              <a:ea typeface="BM DoHyeon 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64169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roubleshootBox">
            <a:extLst>
              <a:ext uri="{FF2B5EF4-FFF2-40B4-BE49-F238E27FC236}">
                <a16:creationId xmlns:a16="http://schemas.microsoft.com/office/drawing/2014/main" id="{8664B3F0-BA09-1641-ACFE-284942679596}"/>
              </a:ext>
            </a:extLst>
          </p:cNvPr>
          <p:cNvSpPr/>
          <p:nvPr/>
        </p:nvSpPr>
        <p:spPr>
          <a:xfrm>
            <a:off x="12954000" y="7590674"/>
            <a:ext cx="4572000" cy="1731126"/>
          </a:xfrm>
          <a:prstGeom prst="roundRect">
            <a:avLst/>
          </a:prstGeom>
          <a:solidFill>
            <a:srgbClr val="FFF4EC"/>
          </a:solidFill>
          <a:ln w="12700" cap="flat" cmpd="sng" algn="ctr">
            <a:solidFill>
              <a:srgbClr val="ED7D3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167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20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153209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10409" y="623888"/>
            <a:ext cx="9917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167A00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EXCEL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20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DWDM 광파워 이상 채널 탐지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전송망 파장(Channel)별 Rx Level 추이를 정제·분석해 열화 구간을 조기 발견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794224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분석 절차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5141416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1999" y="4580930"/>
            <a:ext cx="146684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임계치 정의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401603" y="4533305"/>
            <a:ext cx="6297459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Rx Level -28dBm 이하를 열화 기준으로 설정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762000" y="5949553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1999" y="5389066"/>
            <a:ext cx="146684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채널별 필터링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401604" y="5341441"/>
            <a:ext cx="7237072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Timestamp·Channel별 임계치 초과 행 추출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61999" y="6197203"/>
            <a:ext cx="146684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추이 시각화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401604" y="6149578"/>
            <a:ext cx="5817668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해당 채널의 시간대별 감쇠 추이를 조건부 서식으로 강조</a:t>
            </a: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9144000" y="3546574"/>
            <a:ext cx="9525" cy="345876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3794224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확인 포인트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9572625" y="5141416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572625" y="4580930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패턴</a:t>
            </a: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10321264" y="4509039"/>
            <a:ext cx="5546725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점진적 열화인지 급격한 단선인지 구분</a:t>
            </a: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9572625" y="5949553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5389066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구간</a:t>
            </a: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10321264" y="5317175"/>
            <a:ext cx="5546725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동일 구간의 다른 채널도 함께 열화됐는지 확인</a:t>
            </a: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9572625" y="6197203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조치</a:t>
            </a: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10321263" y="6125312"/>
            <a:ext cx="6280009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임계치 초과 시 현장 광파워 실측으로 교차 검증</a:t>
            </a: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762000" y="7584324"/>
            <a:ext cx="11938000" cy="1731126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047750" y="8205723"/>
            <a:ext cx="11366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1047750" y="7796148"/>
            <a:ext cx="158308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11264900" y="8053323"/>
            <a:ext cx="1145828" cy="1905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1226800" y="7796148"/>
            <a:ext cx="1222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프롬프트 복사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047750" y="8281923"/>
            <a:ext cx="11401078" cy="1097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/files "KT_전송망_DWDM_광파워_2026.csv"를 참고해서 -28dBm 이하로 떨어진 채널을 찾고, 시간대별 감쇠 추이를 표로 정리해줘.</a:t>
            </a:r>
            <a:endParaRPr lang="en-US" sz="2400" dirty="0"/>
          </a:p>
        </p:txBody>
      </p:sp>
      <p:sp>
        <p:nvSpPr>
          <p:cNvPr id="37" name="Shape 34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28 / 60</a:t>
            </a:r>
            <a:endParaRPr lang="en-US" sz="1650" dirty="0"/>
          </a:p>
        </p:txBody>
      </p:sp>
      <p:sp>
        <p:nvSpPr>
          <p:cNvPr id="40" name="DiffDot1">
            <a:extLst>
              <a:ext uri="{FF2B5EF4-FFF2-40B4-BE49-F238E27FC236}">
                <a16:creationId xmlns:a16="http://schemas.microsoft.com/office/drawing/2014/main" id="{17EF709E-57D7-5E47-BC3F-A4EF02DB583F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ffDot2">
            <a:extLst>
              <a:ext uri="{FF2B5EF4-FFF2-40B4-BE49-F238E27FC236}">
                <a16:creationId xmlns:a16="http://schemas.microsoft.com/office/drawing/2014/main" id="{9736BBFE-5307-EE4E-A337-CDD0506355F5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DiffDot3">
            <a:extLst>
              <a:ext uri="{FF2B5EF4-FFF2-40B4-BE49-F238E27FC236}">
                <a16:creationId xmlns:a16="http://schemas.microsoft.com/office/drawing/2014/main" id="{0EB4F90A-507D-614A-8683-56AAF0B5767C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DiffDot4">
            <a:extLst>
              <a:ext uri="{FF2B5EF4-FFF2-40B4-BE49-F238E27FC236}">
                <a16:creationId xmlns:a16="http://schemas.microsoft.com/office/drawing/2014/main" id="{A0237F3A-078F-FD44-9D4A-5BCBE8B1E7E0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DiffDot5">
            <a:extLst>
              <a:ext uri="{FF2B5EF4-FFF2-40B4-BE49-F238E27FC236}">
                <a16:creationId xmlns:a16="http://schemas.microsoft.com/office/drawing/2014/main" id="{B72A1FCD-A572-E341-95D6-3B9AB006CD1C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DiffLabel">
            <a:extLst>
              <a:ext uri="{FF2B5EF4-FFF2-40B4-BE49-F238E27FC236}">
                <a16:creationId xmlns:a16="http://schemas.microsoft.com/office/drawing/2014/main" id="{37206348-0A0B-E24D-9E84-F090003757CA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  <p:sp>
        <p:nvSpPr>
          <p:cNvPr id="50" name="TroubleshootTitle">
            <a:extLst>
              <a:ext uri="{FF2B5EF4-FFF2-40B4-BE49-F238E27FC236}">
                <a16:creationId xmlns:a16="http://schemas.microsoft.com/office/drawing/2014/main" id="{833E8C5D-D373-B34D-8770-E088A5EFF990}"/>
              </a:ext>
            </a:extLst>
          </p:cNvPr>
          <p:cNvSpPr txBox="1"/>
          <p:nvPr/>
        </p:nvSpPr>
        <p:spPr>
          <a:xfrm>
            <a:off x="13107152" y="7762920"/>
            <a:ext cx="381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" altLang="ko-KR" sz="1400" b="1" dirty="0">
                <a:solidFill>
                  <a:srgbClr val="C25A11"/>
                </a:solidFill>
                <a:latin typeface="BM DoHyeon OTF"/>
                <a:ea typeface="BM DoHyeon OTF"/>
              </a:rPr>
              <a:t>[Troubleshooting]</a:t>
            </a:r>
            <a:endParaRPr lang="ko-KR" altLang="en-US" sz="1400" b="1" dirty="0">
              <a:solidFill>
                <a:srgbClr val="C25A11"/>
              </a:solidFill>
              <a:latin typeface="BM DoHyeon OTF"/>
              <a:ea typeface="BM DoHyeon OTF"/>
            </a:endParaRPr>
          </a:p>
        </p:txBody>
      </p:sp>
      <p:sp>
        <p:nvSpPr>
          <p:cNvPr id="51" name="TroubleshootBody">
            <a:extLst>
              <a:ext uri="{FF2B5EF4-FFF2-40B4-BE49-F238E27FC236}">
                <a16:creationId xmlns:a16="http://schemas.microsoft.com/office/drawing/2014/main" id="{1B0A5BC8-9D7F-7045-B49F-F8084DECEBB0}"/>
              </a:ext>
            </a:extLst>
          </p:cNvPr>
          <p:cNvSpPr txBox="1"/>
          <p:nvPr/>
        </p:nvSpPr>
        <p:spPr>
          <a:xfrm>
            <a:off x="13030952" y="8162462"/>
            <a:ext cx="4495048" cy="100758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① 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이상 채널 </a:t>
            </a:r>
            <a:r>
              <a:rPr lang="ko-KR" altLang="en-US" sz="1400" dirty="0" err="1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미탐지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 시 </a:t>
            </a:r>
            <a:r>
              <a:rPr lang="ko-KR" altLang="en-US" sz="1400" dirty="0" err="1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임계값</a:t>
            </a:r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·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측정 단위를 명확히 지정
</a:t>
            </a:r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② 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결과 과다 검출 시 정상 범위 기준을 좁혀 </a:t>
            </a:r>
            <a:r>
              <a:rPr lang="ko-KR" altLang="en-US" sz="1400" dirty="0" err="1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재요청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
</a:t>
            </a:r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③ 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반복 실패 시 예시 데이터 </a:t>
            </a:r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1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건으로 </a:t>
            </a:r>
            <a:r>
              <a:rPr lang="ko-KR" altLang="en-US" sz="1400" dirty="0" err="1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재설명</a:t>
            </a:r>
            <a:endParaRPr lang="ko-KR" altLang="en-US" sz="1400" dirty="0">
              <a:solidFill>
                <a:srgbClr val="595959"/>
              </a:solidFill>
              <a:latin typeface="BM DoHyeon OTF" panose="020B0600000101010101" pitchFamily="34" charset="-127"/>
              <a:ea typeface="BM DoHyeon 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04129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roubleshootBox">
            <a:extLst>
              <a:ext uri="{FF2B5EF4-FFF2-40B4-BE49-F238E27FC236}">
                <a16:creationId xmlns:a16="http://schemas.microsoft.com/office/drawing/2014/main" id="{4506E51B-37F9-2E44-83ED-5228E9AAC814}"/>
              </a:ext>
            </a:extLst>
          </p:cNvPr>
          <p:cNvSpPr/>
          <p:nvPr/>
        </p:nvSpPr>
        <p:spPr>
          <a:xfrm>
            <a:off x="12954000" y="7595890"/>
            <a:ext cx="4572000" cy="1725910"/>
          </a:xfrm>
          <a:prstGeom prst="roundRect">
            <a:avLst/>
          </a:prstGeom>
          <a:solidFill>
            <a:srgbClr val="FFF4EC"/>
          </a:solidFill>
          <a:ln w="12700" cap="flat" cmpd="sng" algn="ctr">
            <a:solidFill>
              <a:srgbClr val="ED7D3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167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21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153209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10409" y="623888"/>
            <a:ext cx="9917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167A00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EXCEL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21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백본 트래픽 이상 감지 (Z-Score)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통계적 이상치를 색출해 DDoS 징후와 백홀 병목 원인을 규명합니다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794224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분석 절차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5141416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580930"/>
            <a:ext cx="1143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1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1324368" y="4533305"/>
            <a:ext cx="3907289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트래픽 로그의 Z-Score 산출</a:t>
            </a:r>
            <a:endParaRPr lang="en-US" sz="2475" dirty="0"/>
          </a:p>
        </p:txBody>
      </p:sp>
      <p:sp>
        <p:nvSpPr>
          <p:cNvPr id="16" name="Shape 13"/>
          <p:cNvSpPr/>
          <p:nvPr/>
        </p:nvSpPr>
        <p:spPr>
          <a:xfrm>
            <a:off x="762000" y="5949553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5389066"/>
            <a:ext cx="1143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1324368" y="5341441"/>
            <a:ext cx="4421832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+2.5 이상 구간 조건부 서식 강조</a:t>
            </a:r>
            <a:endParaRPr lang="en-US" sz="2475" dirty="0"/>
          </a:p>
        </p:txBody>
      </p:sp>
      <p:sp>
        <p:nvSpPr>
          <p:cNvPr id="19" name="Text 16"/>
          <p:cNvSpPr/>
          <p:nvPr/>
        </p:nvSpPr>
        <p:spPr>
          <a:xfrm>
            <a:off x="762000" y="6197203"/>
            <a:ext cx="1143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3</a:t>
            </a:r>
            <a:endParaRPr lang="en-US" sz="2475" dirty="0"/>
          </a:p>
        </p:txBody>
      </p:sp>
      <p:sp>
        <p:nvSpPr>
          <p:cNvPr id="20" name="Text 17"/>
          <p:cNvSpPr/>
          <p:nvPr/>
        </p:nvSpPr>
        <p:spPr>
          <a:xfrm>
            <a:off x="1324368" y="6149578"/>
            <a:ext cx="4521205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대역폭 급증 구간과 상관관계 확인</a:t>
            </a:r>
            <a:endParaRPr lang="en-US" sz="2475" dirty="0"/>
          </a:p>
        </p:txBody>
      </p:sp>
      <p:sp>
        <p:nvSpPr>
          <p:cNvPr id="21" name="Shape 18"/>
          <p:cNvSpPr/>
          <p:nvPr/>
        </p:nvSpPr>
        <p:spPr>
          <a:xfrm>
            <a:off x="9144000" y="3546574"/>
            <a:ext cx="9525" cy="345876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3794224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해석 기준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9572625" y="5141416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572625" y="4580930"/>
            <a:ext cx="1143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Z ≥ 2.5</a:t>
            </a:r>
            <a:endParaRPr lang="en-US" sz="2475" dirty="0"/>
          </a:p>
        </p:txBody>
      </p:sp>
      <p:sp>
        <p:nvSpPr>
          <p:cNvPr id="25" name="Text 22"/>
          <p:cNvSpPr/>
          <p:nvPr/>
        </p:nvSpPr>
        <p:spPr>
          <a:xfrm>
            <a:off x="10848975" y="4533305"/>
            <a:ext cx="4041041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통계적 이상 — 원인 조사 대상</a:t>
            </a:r>
            <a:endParaRPr lang="en-US" sz="2475" dirty="0"/>
          </a:p>
        </p:txBody>
      </p:sp>
      <p:sp>
        <p:nvSpPr>
          <p:cNvPr id="26" name="Shape 23"/>
          <p:cNvSpPr/>
          <p:nvPr/>
        </p:nvSpPr>
        <p:spPr>
          <a:xfrm>
            <a:off x="9572625" y="5949553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5389066"/>
            <a:ext cx="12511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동시 급증</a:t>
            </a:r>
            <a:endParaRPr lang="en-US" sz="2475" dirty="0"/>
          </a:p>
        </p:txBody>
      </p:sp>
      <p:sp>
        <p:nvSpPr>
          <p:cNvPr id="28" name="Text 25"/>
          <p:cNvSpPr/>
          <p:nvPr/>
        </p:nvSpPr>
        <p:spPr>
          <a:xfrm>
            <a:off x="10957173" y="5341441"/>
            <a:ext cx="6669911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Inbound·Outbound 동시 급증은 외부 유입 의심</a:t>
            </a:r>
            <a:endParaRPr lang="en-US" sz="2475" dirty="0"/>
          </a:p>
        </p:txBody>
      </p:sp>
      <p:sp>
        <p:nvSpPr>
          <p:cNvPr id="29" name="Text 26"/>
          <p:cNvSpPr/>
          <p:nvPr/>
        </p:nvSpPr>
        <p:spPr>
          <a:xfrm>
            <a:off x="9572625" y="6197203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단방향</a:t>
            </a:r>
            <a:endParaRPr lang="en-US" sz="2475" dirty="0"/>
          </a:p>
        </p:txBody>
      </p:sp>
      <p:sp>
        <p:nvSpPr>
          <p:cNvPr id="30" name="Text 27"/>
          <p:cNvSpPr/>
          <p:nvPr/>
        </p:nvSpPr>
        <p:spPr>
          <a:xfrm>
            <a:off x="10848975" y="6149578"/>
            <a:ext cx="4904452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한 방향만 급증하면 내부 트래픽 점검</a:t>
            </a:r>
            <a:endParaRPr lang="en-US" sz="2475" dirty="0"/>
          </a:p>
        </p:txBody>
      </p:sp>
      <p:sp>
        <p:nvSpPr>
          <p:cNvPr id="31" name="Shape 28"/>
          <p:cNvSpPr/>
          <p:nvPr/>
        </p:nvSpPr>
        <p:spPr>
          <a:xfrm>
            <a:off x="762000" y="7589540"/>
            <a:ext cx="11938000" cy="1725910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047750" y="8180671"/>
            <a:ext cx="11366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1047750" y="7771096"/>
            <a:ext cx="158308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11264900" y="8028271"/>
            <a:ext cx="1145828" cy="1905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1226800" y="7771096"/>
            <a:ext cx="1222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프롬프트 복사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047750" y="8273852"/>
            <a:ext cx="11722100" cy="1105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백홀 트래픽 로그에서 Z-Score가 +2.5 이상인 구간을 빨간색 조건부 서식으로 강조하고, Inbound/Outbound 급증 구간과의 상관관계를 분석해줘.</a:t>
            </a:r>
            <a:endParaRPr lang="en-US" sz="2400" dirty="0"/>
          </a:p>
        </p:txBody>
      </p:sp>
      <p:sp>
        <p:nvSpPr>
          <p:cNvPr id="37" name="Shape 34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29 / 60</a:t>
            </a:r>
            <a:endParaRPr lang="en-US" sz="1650" dirty="0"/>
          </a:p>
        </p:txBody>
      </p:sp>
      <p:sp>
        <p:nvSpPr>
          <p:cNvPr id="40" name="DiffDot1">
            <a:extLst>
              <a:ext uri="{FF2B5EF4-FFF2-40B4-BE49-F238E27FC236}">
                <a16:creationId xmlns:a16="http://schemas.microsoft.com/office/drawing/2014/main" id="{F40BB613-E492-5145-806E-92C3020E7097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ffDot2">
            <a:extLst>
              <a:ext uri="{FF2B5EF4-FFF2-40B4-BE49-F238E27FC236}">
                <a16:creationId xmlns:a16="http://schemas.microsoft.com/office/drawing/2014/main" id="{547A3FC4-E2D3-DA44-98F8-31ECA83282C3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DiffDot3">
            <a:extLst>
              <a:ext uri="{FF2B5EF4-FFF2-40B4-BE49-F238E27FC236}">
                <a16:creationId xmlns:a16="http://schemas.microsoft.com/office/drawing/2014/main" id="{6EB566DC-0F16-B64D-8B32-ECD3E43E835E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DiffDot4">
            <a:extLst>
              <a:ext uri="{FF2B5EF4-FFF2-40B4-BE49-F238E27FC236}">
                <a16:creationId xmlns:a16="http://schemas.microsoft.com/office/drawing/2014/main" id="{931D167E-AB5A-A44B-9C21-A71511B9DC8C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DiffDot5">
            <a:extLst>
              <a:ext uri="{FF2B5EF4-FFF2-40B4-BE49-F238E27FC236}">
                <a16:creationId xmlns:a16="http://schemas.microsoft.com/office/drawing/2014/main" id="{ED067F43-7460-CC4F-9698-080AD12CE6E9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DiffLabel">
            <a:extLst>
              <a:ext uri="{FF2B5EF4-FFF2-40B4-BE49-F238E27FC236}">
                <a16:creationId xmlns:a16="http://schemas.microsoft.com/office/drawing/2014/main" id="{9B98DA61-2F61-8B4B-985D-B0F8FD9D7CDD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  <p:sp>
        <p:nvSpPr>
          <p:cNvPr id="50" name="TroubleshootTitle">
            <a:extLst>
              <a:ext uri="{FF2B5EF4-FFF2-40B4-BE49-F238E27FC236}">
                <a16:creationId xmlns:a16="http://schemas.microsoft.com/office/drawing/2014/main" id="{ACAA1CA1-AC50-1545-828F-92D8A44A054A}"/>
              </a:ext>
            </a:extLst>
          </p:cNvPr>
          <p:cNvSpPr txBox="1"/>
          <p:nvPr/>
        </p:nvSpPr>
        <p:spPr>
          <a:xfrm>
            <a:off x="13131800" y="7762677"/>
            <a:ext cx="381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" altLang="ko-KR" sz="1400" b="1" dirty="0">
                <a:solidFill>
                  <a:srgbClr val="C25A11"/>
                </a:solidFill>
                <a:latin typeface="BM DoHyeon OTF"/>
                <a:ea typeface="BM DoHyeon OTF"/>
              </a:rPr>
              <a:t>[Troubleshooting]</a:t>
            </a:r>
            <a:endParaRPr lang="ko-KR" altLang="en-US" sz="1400" b="1" dirty="0">
              <a:solidFill>
                <a:srgbClr val="C25A11"/>
              </a:solidFill>
              <a:latin typeface="BM DoHyeon OTF"/>
              <a:ea typeface="BM DoHyeon OTF"/>
            </a:endParaRPr>
          </a:p>
        </p:txBody>
      </p:sp>
      <p:sp>
        <p:nvSpPr>
          <p:cNvPr id="51" name="TroubleshootBody">
            <a:extLst>
              <a:ext uri="{FF2B5EF4-FFF2-40B4-BE49-F238E27FC236}">
                <a16:creationId xmlns:a16="http://schemas.microsoft.com/office/drawing/2014/main" id="{D9A1DFE2-ECC9-1F4E-AA3F-3D2D9E15B020}"/>
              </a:ext>
            </a:extLst>
          </p:cNvPr>
          <p:cNvSpPr txBox="1"/>
          <p:nvPr/>
        </p:nvSpPr>
        <p:spPr>
          <a:xfrm>
            <a:off x="13125450" y="8103968"/>
            <a:ext cx="42291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① Z-Score 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결과 이상 시 평균</a:t>
            </a:r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·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표준편차 산출 구간을 명시
</a:t>
            </a:r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② 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이상치 과다 검출 시 </a:t>
            </a:r>
            <a:r>
              <a:rPr lang="ko-KR" altLang="en-US" sz="1400" dirty="0" err="1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임계값</a:t>
            </a:r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(2</a:t>
            </a:r>
            <a:r>
              <a:rPr lang="el-GR" altLang="ko-KR" sz="1400" dirty="0">
                <a:solidFill>
                  <a:srgbClr val="595959"/>
                </a:solidFill>
                <a:ea typeface="BM DoHyeon OTF" panose="020B0600000101010101" pitchFamily="34" charset="-127"/>
              </a:rPr>
              <a:t>σ→3σ)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을 조정
</a:t>
            </a:r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③ 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반복 실패 시 샘플 데이터로 </a:t>
            </a:r>
            <a:r>
              <a:rPr lang="ko-KR" altLang="en-US" sz="1400" dirty="0" err="1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재설명</a:t>
            </a:r>
            <a:endParaRPr lang="ko-KR" altLang="en-US" sz="1400" dirty="0">
              <a:solidFill>
                <a:srgbClr val="595959"/>
              </a:solidFill>
              <a:latin typeface="BM DoHyeon OTF" panose="020B0600000101010101" pitchFamily="34" charset="-127"/>
              <a:ea typeface="BM DoHyeon 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76144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roubleshootBox">
            <a:extLst>
              <a:ext uri="{FF2B5EF4-FFF2-40B4-BE49-F238E27FC236}">
                <a16:creationId xmlns:a16="http://schemas.microsoft.com/office/drawing/2014/main" id="{2DAA9E7E-A7FD-6847-AF62-CF383F8F833A}"/>
              </a:ext>
            </a:extLst>
          </p:cNvPr>
          <p:cNvSpPr/>
          <p:nvPr/>
        </p:nvSpPr>
        <p:spPr>
          <a:xfrm>
            <a:off x="12954000" y="7426971"/>
            <a:ext cx="4572000" cy="1894829"/>
          </a:xfrm>
          <a:prstGeom prst="roundRect">
            <a:avLst/>
          </a:prstGeom>
          <a:solidFill>
            <a:srgbClr val="FFF4EC"/>
          </a:solidFill>
          <a:ln w="12700" cap="flat" cmpd="sng" algn="ctr">
            <a:solidFill>
              <a:srgbClr val="ED7D3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167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22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153209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10409" y="623888"/>
            <a:ext cx="9917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167A00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EXCEL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22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국번별 ASR 이상 구간 탐지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CDR 통계에서 통계적 이상치(3σ)를 찾아 교환망 장애를 조기 규명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794224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분석 절차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5141416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580930"/>
            <a:ext cx="159853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ASR 산출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560950" y="4533305"/>
            <a:ext cx="6516401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Answered_Calls ÷ Total_Attempts로 ASR 계산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762000" y="5949553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5389066"/>
            <a:ext cx="159853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평균·표준편차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560951" y="5341441"/>
            <a:ext cx="612585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전체 ASR의 평균과 표준편차(σ) 산출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62000" y="6197203"/>
            <a:ext cx="159853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이상 구간 강조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560950" y="6149578"/>
            <a:ext cx="6019929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평균 대비 3σ 이상 하락한 행에 조건부 서식 적용</a:t>
            </a: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9144000" y="3546574"/>
            <a:ext cx="9525" cy="345876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3794224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확인 포인트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9572625" y="5141416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572625" y="4580930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동시성</a:t>
            </a: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10848975" y="4533305"/>
            <a:ext cx="5947906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여러 국번이 동시에 하락했는지 단일 국번만인지 구분</a:t>
            </a: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9572625" y="5949553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5389066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지속성</a:t>
            </a: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10848975" y="5341441"/>
            <a:ext cx="5947906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일시적 하락인지 지속적 저하인지 확인</a:t>
            </a: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9572625" y="6197203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원인</a:t>
            </a: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10848974" y="6149578"/>
            <a:ext cx="6734227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해당 시간대 회선·장비 로그와 교차 대조</a:t>
            </a: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762000" y="7420621"/>
            <a:ext cx="11938000" cy="1894829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047750" y="8055411"/>
            <a:ext cx="11366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1047750" y="7645836"/>
            <a:ext cx="158308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11264900" y="7903011"/>
            <a:ext cx="1145828" cy="1905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1226800" y="7645836"/>
            <a:ext cx="1222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프롬프트 복사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047750" y="8249086"/>
            <a:ext cx="11064918" cy="1129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/files "KT_교환망_CDR_국번별_ASR_2026.csv"에서 ASR이 평균 대비 크게 떨어진 국번과 시간대를 찾아줘.</a:t>
            </a:r>
            <a:endParaRPr lang="en-US" sz="2400" dirty="0"/>
          </a:p>
        </p:txBody>
      </p:sp>
      <p:sp>
        <p:nvSpPr>
          <p:cNvPr id="37" name="Shape 34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30 / 60</a:t>
            </a:r>
            <a:endParaRPr lang="en-US" sz="1650" dirty="0"/>
          </a:p>
        </p:txBody>
      </p:sp>
      <p:sp>
        <p:nvSpPr>
          <p:cNvPr id="40" name="DiffDot1">
            <a:extLst>
              <a:ext uri="{FF2B5EF4-FFF2-40B4-BE49-F238E27FC236}">
                <a16:creationId xmlns:a16="http://schemas.microsoft.com/office/drawing/2014/main" id="{D0EDBAA8-9CF0-0A45-8A22-A2F1ABE72F8C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ffDot2">
            <a:extLst>
              <a:ext uri="{FF2B5EF4-FFF2-40B4-BE49-F238E27FC236}">
                <a16:creationId xmlns:a16="http://schemas.microsoft.com/office/drawing/2014/main" id="{E73D91DF-B363-A540-84E5-4522A421AD0D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DiffDot3">
            <a:extLst>
              <a:ext uri="{FF2B5EF4-FFF2-40B4-BE49-F238E27FC236}">
                <a16:creationId xmlns:a16="http://schemas.microsoft.com/office/drawing/2014/main" id="{571B3440-920A-F14F-AD50-EA2097D6D0D7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DiffDot4">
            <a:extLst>
              <a:ext uri="{FF2B5EF4-FFF2-40B4-BE49-F238E27FC236}">
                <a16:creationId xmlns:a16="http://schemas.microsoft.com/office/drawing/2014/main" id="{63483E1B-FE39-E24C-BCFC-4C181C98CD8A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DiffDot5">
            <a:extLst>
              <a:ext uri="{FF2B5EF4-FFF2-40B4-BE49-F238E27FC236}">
                <a16:creationId xmlns:a16="http://schemas.microsoft.com/office/drawing/2014/main" id="{A0475F1A-B758-1049-B7A5-067D3A32B666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DiffLabel">
            <a:extLst>
              <a:ext uri="{FF2B5EF4-FFF2-40B4-BE49-F238E27FC236}">
                <a16:creationId xmlns:a16="http://schemas.microsoft.com/office/drawing/2014/main" id="{8C713AA6-E79C-4646-975E-88D88BB929C1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  <p:sp>
        <p:nvSpPr>
          <p:cNvPr id="50" name="TroubleshootTitle">
            <a:extLst>
              <a:ext uri="{FF2B5EF4-FFF2-40B4-BE49-F238E27FC236}">
                <a16:creationId xmlns:a16="http://schemas.microsoft.com/office/drawing/2014/main" id="{5D43E1D4-2D3D-BA45-8C21-136FBD60430B}"/>
              </a:ext>
            </a:extLst>
          </p:cNvPr>
          <p:cNvSpPr txBox="1"/>
          <p:nvPr/>
        </p:nvSpPr>
        <p:spPr>
          <a:xfrm>
            <a:off x="13131800" y="7668061"/>
            <a:ext cx="381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" altLang="ko-KR" sz="1400" b="1" dirty="0">
                <a:solidFill>
                  <a:srgbClr val="C25A11"/>
                </a:solidFill>
                <a:latin typeface="BM DoHyeon OTF"/>
                <a:ea typeface="BM DoHyeon OTF"/>
              </a:rPr>
              <a:t>[Troubleshooting]</a:t>
            </a:r>
            <a:endParaRPr lang="ko-KR" altLang="en-US" sz="1400" b="1" dirty="0">
              <a:solidFill>
                <a:srgbClr val="C25A11"/>
              </a:solidFill>
              <a:latin typeface="BM DoHyeon OTF"/>
              <a:ea typeface="BM DoHyeon OTF"/>
            </a:endParaRPr>
          </a:p>
        </p:txBody>
      </p:sp>
      <p:sp>
        <p:nvSpPr>
          <p:cNvPr id="51" name="TroubleshootBody">
            <a:extLst>
              <a:ext uri="{FF2B5EF4-FFF2-40B4-BE49-F238E27FC236}">
                <a16:creationId xmlns:a16="http://schemas.microsoft.com/office/drawing/2014/main" id="{FAEB0F52-91DB-924E-9738-BD7F7500C014}"/>
              </a:ext>
            </a:extLst>
          </p:cNvPr>
          <p:cNvSpPr txBox="1"/>
          <p:nvPr/>
        </p:nvSpPr>
        <p:spPr>
          <a:xfrm>
            <a:off x="13131800" y="8106211"/>
            <a:ext cx="44704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① ASR 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이상 구간 </a:t>
            </a:r>
            <a:r>
              <a:rPr lang="ko-KR" altLang="en-US" sz="1400" dirty="0" err="1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미탐지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 시 정상 기준치</a:t>
            </a:r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·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측정 주기를 명시
</a:t>
            </a:r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② 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결과 과다 검출 시 구간 </a:t>
            </a:r>
            <a:r>
              <a:rPr lang="ko-KR" altLang="en-US" sz="1400" dirty="0" err="1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임계값을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 조정해 </a:t>
            </a:r>
            <a:r>
              <a:rPr lang="ko-KR" altLang="en-US" sz="1400" dirty="0" err="1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재요청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
</a:t>
            </a:r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③ 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반복 실패 시 예시 국번 </a:t>
            </a:r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1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건으로 </a:t>
            </a:r>
            <a:r>
              <a:rPr lang="ko-KR" altLang="en-US" sz="1400" dirty="0" err="1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재설명</a:t>
            </a:r>
            <a:endParaRPr lang="ko-KR" altLang="en-US" sz="1400" dirty="0">
              <a:solidFill>
                <a:srgbClr val="595959"/>
              </a:solidFill>
              <a:latin typeface="BM DoHyeon OTF" panose="020B0600000101010101" pitchFamily="34" charset="-127"/>
              <a:ea typeface="BM DoHyeon 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7539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roubleshootBox">
            <a:extLst>
              <a:ext uri="{FF2B5EF4-FFF2-40B4-BE49-F238E27FC236}">
                <a16:creationId xmlns:a16="http://schemas.microsoft.com/office/drawing/2014/main" id="{DE9B0102-7D1F-2B46-A572-BF77C633DF14}"/>
              </a:ext>
            </a:extLst>
          </p:cNvPr>
          <p:cNvSpPr/>
          <p:nvPr/>
        </p:nvSpPr>
        <p:spPr>
          <a:xfrm>
            <a:off x="12954000" y="7490564"/>
            <a:ext cx="4572000" cy="1831236"/>
          </a:xfrm>
          <a:prstGeom prst="roundRect">
            <a:avLst/>
          </a:prstGeom>
          <a:solidFill>
            <a:srgbClr val="FFF4EC"/>
          </a:solidFill>
          <a:ln w="12700" cap="flat" cmpd="sng" algn="ctr">
            <a:solidFill>
              <a:srgbClr val="ED7D3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167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23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153209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10409" y="623888"/>
            <a:ext cx="9917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167A00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EXCEL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23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라우팅 테이블 증설 시점 예측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Route Count와 메모리 사용률 추세로 하드웨어 병목 도달 시점을 역산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794224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분석 절차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5141416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1999" y="4580930"/>
            <a:ext cx="155811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상관관계 확인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351499" y="4533305"/>
            <a:ext cx="606706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Route_Count와 Memory_Usage_Pct 간 CORREL 산출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762000" y="5949553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1999" y="5389066"/>
            <a:ext cx="155811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추세선 도출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351500" y="5341441"/>
            <a:ext cx="697230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주간 증가율 기반 선형 추세선 계산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61999" y="6197203"/>
            <a:ext cx="155811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임계치 역산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351499" y="6149578"/>
            <a:ext cx="653545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Memory_Warning_Threshold_Pct(85%) 도달 예상일 산출</a:t>
            </a: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9144000" y="3546574"/>
            <a:ext cx="9525" cy="345876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3794224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확인 포인트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9572625" y="5141416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572625" y="4580930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병목 요인</a:t>
            </a: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10848975" y="4533305"/>
            <a:ext cx="5751909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TCAM 한도와 메모리 한도 중 먼저 도달하는 쪽 판단</a:t>
            </a: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9572625" y="5949553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5389066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여유기간</a:t>
            </a: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10848975" y="5341441"/>
            <a:ext cx="5751909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임계치까지 남은 기간이 증설 리드타임보다 긴지 확인</a:t>
            </a: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9572625" y="6197203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근거</a:t>
            </a: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10848974" y="6149578"/>
            <a:ext cx="6512319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추세가 최근 이벤트로 왜곡되지 않았는지 확인</a:t>
            </a: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762000" y="7484214"/>
            <a:ext cx="11938000" cy="1831236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047750" y="8155619"/>
            <a:ext cx="11366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1047750" y="7746044"/>
            <a:ext cx="158308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11264900" y="8003219"/>
            <a:ext cx="1145828" cy="1905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1226800" y="7746044"/>
            <a:ext cx="1222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프롬프트 복사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047750" y="8206419"/>
            <a:ext cx="10012732" cy="1172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/files "KT_IP망_라우팅테이블_메모리추이_2026.csv"를 보고 라우팅 테이블 크기와 메모리 사용률 추이를 분석해서 증설이 필요한 시점을 알려줘.</a:t>
            </a:r>
            <a:endParaRPr lang="en-US" sz="2400" dirty="0"/>
          </a:p>
        </p:txBody>
      </p:sp>
      <p:sp>
        <p:nvSpPr>
          <p:cNvPr id="37" name="Shape 34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31 / 60</a:t>
            </a:r>
            <a:endParaRPr lang="en-US" sz="1650" dirty="0"/>
          </a:p>
        </p:txBody>
      </p:sp>
      <p:sp>
        <p:nvSpPr>
          <p:cNvPr id="40" name="DiffDot1">
            <a:extLst>
              <a:ext uri="{FF2B5EF4-FFF2-40B4-BE49-F238E27FC236}">
                <a16:creationId xmlns:a16="http://schemas.microsoft.com/office/drawing/2014/main" id="{34AF3A9B-929A-8A4B-8385-E705D1A0613F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ffDot2">
            <a:extLst>
              <a:ext uri="{FF2B5EF4-FFF2-40B4-BE49-F238E27FC236}">
                <a16:creationId xmlns:a16="http://schemas.microsoft.com/office/drawing/2014/main" id="{0A61D3FB-0602-3243-AFD0-01C5B3AD53F3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DiffDot3">
            <a:extLst>
              <a:ext uri="{FF2B5EF4-FFF2-40B4-BE49-F238E27FC236}">
                <a16:creationId xmlns:a16="http://schemas.microsoft.com/office/drawing/2014/main" id="{2A1C17DB-4D7E-4741-9EE0-951CE7E70C95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DiffDot4">
            <a:extLst>
              <a:ext uri="{FF2B5EF4-FFF2-40B4-BE49-F238E27FC236}">
                <a16:creationId xmlns:a16="http://schemas.microsoft.com/office/drawing/2014/main" id="{6214A0B7-C76C-084C-BABE-73E4E3A65385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DiffDot5">
            <a:extLst>
              <a:ext uri="{FF2B5EF4-FFF2-40B4-BE49-F238E27FC236}">
                <a16:creationId xmlns:a16="http://schemas.microsoft.com/office/drawing/2014/main" id="{947D1358-3D1A-BA45-8224-418FC8D6897A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DiffLabel">
            <a:extLst>
              <a:ext uri="{FF2B5EF4-FFF2-40B4-BE49-F238E27FC236}">
                <a16:creationId xmlns:a16="http://schemas.microsoft.com/office/drawing/2014/main" id="{7169A0BF-42B7-B348-B45F-A25C4D14DE7A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  <p:sp>
        <p:nvSpPr>
          <p:cNvPr id="50" name="TroubleshootTitle">
            <a:extLst>
              <a:ext uri="{FF2B5EF4-FFF2-40B4-BE49-F238E27FC236}">
                <a16:creationId xmlns:a16="http://schemas.microsoft.com/office/drawing/2014/main" id="{121F0D6C-CB47-DC41-8064-E0377AEA2090}"/>
              </a:ext>
            </a:extLst>
          </p:cNvPr>
          <p:cNvSpPr txBox="1"/>
          <p:nvPr/>
        </p:nvSpPr>
        <p:spPr>
          <a:xfrm>
            <a:off x="13068300" y="7736302"/>
            <a:ext cx="381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" altLang="ko-KR" sz="1400" b="1" dirty="0">
                <a:solidFill>
                  <a:srgbClr val="C25A11"/>
                </a:solidFill>
                <a:latin typeface="BM DoHyeon OTF"/>
                <a:ea typeface="BM DoHyeon OTF"/>
              </a:rPr>
              <a:t>[Troubleshooting]</a:t>
            </a:r>
            <a:endParaRPr lang="ko-KR" altLang="en-US" sz="1400" b="1" dirty="0">
              <a:solidFill>
                <a:srgbClr val="C25A11"/>
              </a:solidFill>
              <a:latin typeface="BM DoHyeon OTF"/>
              <a:ea typeface="BM DoHyeon OTF"/>
            </a:endParaRPr>
          </a:p>
        </p:txBody>
      </p:sp>
      <p:sp>
        <p:nvSpPr>
          <p:cNvPr id="51" name="TroubleshootBody">
            <a:extLst>
              <a:ext uri="{FF2B5EF4-FFF2-40B4-BE49-F238E27FC236}">
                <a16:creationId xmlns:a16="http://schemas.microsoft.com/office/drawing/2014/main" id="{082558F8-5E21-6A45-815E-B43D1B8D2AD0}"/>
              </a:ext>
            </a:extLst>
          </p:cNvPr>
          <p:cNvSpPr txBox="1"/>
          <p:nvPr/>
        </p:nvSpPr>
        <p:spPr>
          <a:xfrm>
            <a:off x="13112708" y="8124825"/>
            <a:ext cx="4489492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① </a:t>
            </a:r>
            <a:r>
              <a:rPr lang="ko-KR" altLang="en-US" sz="1400" dirty="0" err="1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예측값이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 비현실적이면 데이터 기간</a:t>
            </a:r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·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증설 기준선을 명시
</a:t>
            </a:r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② 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결과 부정확 시 추세선 산출 방식을 </a:t>
            </a:r>
            <a:r>
              <a:rPr lang="ko-KR" altLang="en-US" sz="1400" dirty="0" err="1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재요청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
</a:t>
            </a:r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③ 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반복 실패 시 최근 </a:t>
            </a:r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3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개월 데이터로 </a:t>
            </a:r>
            <a:r>
              <a:rPr lang="ko-KR" altLang="en-US" sz="1400" dirty="0" err="1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재검증</a:t>
            </a:r>
            <a:endParaRPr lang="ko-KR" altLang="en-US" sz="1400" dirty="0">
              <a:solidFill>
                <a:srgbClr val="595959"/>
              </a:solidFill>
              <a:latin typeface="BM DoHyeon OTF" panose="020B0600000101010101" pitchFamily="34" charset="-127"/>
              <a:ea typeface="BM DoHyeon 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94017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roubleshootBox">
            <a:extLst>
              <a:ext uri="{FF2B5EF4-FFF2-40B4-BE49-F238E27FC236}">
                <a16:creationId xmlns:a16="http://schemas.microsoft.com/office/drawing/2014/main" id="{DC7543B8-3E37-2C44-A82E-41B4E1A7CA86}"/>
              </a:ext>
            </a:extLst>
          </p:cNvPr>
          <p:cNvSpPr/>
          <p:nvPr/>
        </p:nvSpPr>
        <p:spPr>
          <a:xfrm>
            <a:off x="762000" y="8318500"/>
            <a:ext cx="16764000" cy="990600"/>
          </a:xfrm>
          <a:prstGeom prst="roundRect">
            <a:avLst/>
          </a:prstGeom>
          <a:solidFill>
            <a:srgbClr val="FFF4EC"/>
          </a:solidFill>
          <a:ln w="12700" cap="flat" cmpd="sng" algn="ctr">
            <a:solidFill>
              <a:srgbClr val="ED7D3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167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24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153209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10409" y="623888"/>
            <a:ext cx="9917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167A00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EXCEL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24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회선 증설 예측 시뮬레이션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Python in Excel로 상관관계 시각화와 What-If 시뮬레이션을 수행합니다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4209455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상관계수 히트맵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762000" y="4891385"/>
            <a:ext cx="875919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941"/>
              </a:lnSpc>
              <a:buNone/>
            </a:pPr>
            <a:r>
              <a:rPr lang="en-US" sz="2250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PYTHON IN EXCEL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762000" y="6104334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762000" y="5543848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목표</a:t>
            </a:r>
            <a:endParaRPr lang="en-US" sz="2475" dirty="0"/>
          </a:p>
        </p:txBody>
      </p:sp>
      <p:sp>
        <p:nvSpPr>
          <p:cNvPr id="16" name="Text 13"/>
          <p:cNvSpPr/>
          <p:nvPr/>
        </p:nvSpPr>
        <p:spPr>
          <a:xfrm>
            <a:off x="1750252" y="5420022"/>
            <a:ext cx="422243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지표 간 상관관계를 한눈에 파악</a:t>
            </a:r>
            <a:endParaRPr lang="en-US" sz="2475" dirty="0"/>
          </a:p>
        </p:txBody>
      </p:sp>
      <p:sp>
        <p:nvSpPr>
          <p:cNvPr id="17" name="Shape 14"/>
          <p:cNvSpPr/>
          <p:nvPr/>
        </p:nvSpPr>
        <p:spPr>
          <a:xfrm>
            <a:off x="762000" y="6304359"/>
            <a:ext cx="7962900" cy="1657350"/>
          </a:xfrm>
          <a:prstGeom prst="rect">
            <a:avLst/>
          </a:prstGeom>
          <a:ln w="9525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962025" y="6485334"/>
            <a:ext cx="13473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PROMPT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129290" y="6761559"/>
            <a:ext cx="395585" cy="19050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8091190" y="6485334"/>
            <a:ext cx="47178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복사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62025" y="6894909"/>
            <a:ext cx="776287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167"/>
              </a:lnSpc>
              <a:buNone/>
            </a:pPr>
            <a:r>
              <a:rPr lang="en-US" sz="2325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PRB 사용률, 드롭률, 처리량 간 상관관계를 seaborn heatmap으로 시각화해 G2 셀에 삽입해줘.</a:t>
            </a:r>
            <a:endParaRPr lang="en-US" sz="2325" dirty="0"/>
          </a:p>
        </p:txBody>
      </p:sp>
      <p:sp>
        <p:nvSpPr>
          <p:cNvPr id="22" name="Shape 19"/>
          <p:cNvSpPr/>
          <p:nvPr/>
        </p:nvSpPr>
        <p:spPr>
          <a:xfrm>
            <a:off x="9144000" y="3961805"/>
            <a:ext cx="9525" cy="424755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9572625" y="4209455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What-If 증설 시뮬레이션</a:t>
            </a:r>
            <a:endParaRPr lang="en-US" sz="3600" dirty="0"/>
          </a:p>
        </p:txBody>
      </p:sp>
      <p:sp>
        <p:nvSpPr>
          <p:cNvPr id="24" name="Text 21"/>
          <p:cNvSpPr/>
          <p:nvPr/>
        </p:nvSpPr>
        <p:spPr>
          <a:xfrm>
            <a:off x="9572625" y="4891385"/>
            <a:ext cx="8748712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941"/>
              </a:lnSpc>
              <a:buNone/>
            </a:pPr>
            <a:r>
              <a:rPr lang="en-US" sz="2250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SIMULATION</a:t>
            </a:r>
            <a:endParaRPr lang="en-US" sz="2250" dirty="0"/>
          </a:p>
        </p:txBody>
      </p:sp>
      <p:sp>
        <p:nvSpPr>
          <p:cNvPr id="25" name="Shape 22"/>
          <p:cNvSpPr/>
          <p:nvPr/>
        </p:nvSpPr>
        <p:spPr>
          <a:xfrm>
            <a:off x="9572625" y="6104334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9572625" y="5543848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목표</a:t>
            </a:r>
            <a:endParaRPr lang="en-US" sz="2475" dirty="0"/>
          </a:p>
        </p:txBody>
      </p:sp>
      <p:sp>
        <p:nvSpPr>
          <p:cNvPr id="27" name="Text 24"/>
          <p:cNvSpPr/>
          <p:nvPr/>
        </p:nvSpPr>
        <p:spPr>
          <a:xfrm>
            <a:off x="10560877" y="5420022"/>
            <a:ext cx="3241477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증설 효과를 수치로 예측</a:t>
            </a:r>
            <a:endParaRPr lang="en-US" sz="2475" dirty="0"/>
          </a:p>
        </p:txBody>
      </p:sp>
      <p:sp>
        <p:nvSpPr>
          <p:cNvPr id="28" name="Shape 25"/>
          <p:cNvSpPr/>
          <p:nvPr/>
        </p:nvSpPr>
        <p:spPr>
          <a:xfrm>
            <a:off x="9572625" y="6304359"/>
            <a:ext cx="7953375" cy="1657350"/>
          </a:xfrm>
          <a:prstGeom prst="rect">
            <a:avLst/>
          </a:prstGeom>
          <a:ln w="9525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9772650" y="6894909"/>
            <a:ext cx="777992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167"/>
              </a:lnSpc>
              <a:buNone/>
            </a:pPr>
            <a:r>
              <a:rPr lang="en-US" sz="2325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백홀 대역폭을 10Gbps에서 20Gbps로 확장하면 피크타임 패킷 지연이 몇 % 개선되는지 모델링해줘.</a:t>
            </a:r>
            <a:endParaRPr lang="en-US" sz="2325" dirty="0"/>
          </a:p>
        </p:txBody>
      </p:sp>
      <p:sp>
        <p:nvSpPr>
          <p:cNvPr id="33" name="Shape 30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5" name="Text 32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32 / 60</a:t>
            </a:r>
            <a:endParaRPr lang="en-US" sz="1650" dirty="0"/>
          </a:p>
        </p:txBody>
      </p:sp>
      <p:sp>
        <p:nvSpPr>
          <p:cNvPr id="36" name="DiffDot1">
            <a:extLst>
              <a:ext uri="{FF2B5EF4-FFF2-40B4-BE49-F238E27FC236}">
                <a16:creationId xmlns:a16="http://schemas.microsoft.com/office/drawing/2014/main" id="{2C755A4D-859A-7746-92F8-AB0278BC3D6F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DiffDot2">
            <a:extLst>
              <a:ext uri="{FF2B5EF4-FFF2-40B4-BE49-F238E27FC236}">
                <a16:creationId xmlns:a16="http://schemas.microsoft.com/office/drawing/2014/main" id="{8182DBE4-ECBB-6749-805A-765EB8A47AB4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8" name="DiffDot3">
            <a:extLst>
              <a:ext uri="{FF2B5EF4-FFF2-40B4-BE49-F238E27FC236}">
                <a16:creationId xmlns:a16="http://schemas.microsoft.com/office/drawing/2014/main" id="{021B9A94-B7E5-6C49-AEB1-BD6FC5786FE6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9" name="DiffDot4">
            <a:extLst>
              <a:ext uri="{FF2B5EF4-FFF2-40B4-BE49-F238E27FC236}">
                <a16:creationId xmlns:a16="http://schemas.microsoft.com/office/drawing/2014/main" id="{704F5F0F-56EB-5543-AF57-D0D4A333F9CB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0" name="DiffDot5">
            <a:extLst>
              <a:ext uri="{FF2B5EF4-FFF2-40B4-BE49-F238E27FC236}">
                <a16:creationId xmlns:a16="http://schemas.microsoft.com/office/drawing/2014/main" id="{3292474B-6814-F744-9697-F8159CC17CCF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ffLabel">
            <a:extLst>
              <a:ext uri="{FF2B5EF4-FFF2-40B4-BE49-F238E27FC236}">
                <a16:creationId xmlns:a16="http://schemas.microsoft.com/office/drawing/2014/main" id="{0442B0D6-87D9-5848-BB92-39B73DFFE34F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  <p:sp>
        <p:nvSpPr>
          <p:cNvPr id="43" name="TroubleshootTitle">
            <a:extLst>
              <a:ext uri="{FF2B5EF4-FFF2-40B4-BE49-F238E27FC236}">
                <a16:creationId xmlns:a16="http://schemas.microsoft.com/office/drawing/2014/main" id="{04B77AD8-3483-D241-83C5-A3A1D26F46FB}"/>
              </a:ext>
            </a:extLst>
          </p:cNvPr>
          <p:cNvSpPr txBox="1"/>
          <p:nvPr/>
        </p:nvSpPr>
        <p:spPr>
          <a:xfrm>
            <a:off x="1270000" y="8420100"/>
            <a:ext cx="5080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" altLang="ko-KR" sz="1500" b="1">
                <a:solidFill>
                  <a:srgbClr val="C25A11"/>
                </a:solidFill>
                <a:latin typeface="BM DoHyeon OTF"/>
                <a:ea typeface="BM DoHyeon OTF"/>
              </a:rPr>
              <a:t>[Troubleshooting]</a:t>
            </a:r>
            <a:endParaRPr lang="ko-KR" altLang="en-US" sz="1500" b="1">
              <a:solidFill>
                <a:srgbClr val="C25A11"/>
              </a:solidFill>
              <a:latin typeface="BM DoHyeon OTF"/>
              <a:ea typeface="BM DoHyeon OTF"/>
            </a:endParaRPr>
          </a:p>
        </p:txBody>
      </p:sp>
      <p:sp>
        <p:nvSpPr>
          <p:cNvPr id="44" name="TroubleshootBody">
            <a:extLst>
              <a:ext uri="{FF2B5EF4-FFF2-40B4-BE49-F238E27FC236}">
                <a16:creationId xmlns:a16="http://schemas.microsoft.com/office/drawing/2014/main" id="{6A61008D-D9E1-C941-9FEC-EACEC7CD2B30}"/>
              </a:ext>
            </a:extLst>
          </p:cNvPr>
          <p:cNvSpPr txBox="1"/>
          <p:nvPr/>
        </p:nvSpPr>
        <p:spPr>
          <a:xfrm>
            <a:off x="1066800" y="8712200"/>
            <a:ext cx="16154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① </a:t>
            </a:r>
            <a:r>
              <a:rPr lang="ko-KR" altLang="en-US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회선 증설 시뮬레이션 결과가 비현실적이면 입력 트래픽 증가율</a:t>
            </a:r>
            <a:r>
              <a:rPr lang="en-US" altLang="ko-KR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·</a:t>
            </a:r>
            <a:r>
              <a:rPr lang="ko-KR" altLang="en-US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용량 </a:t>
            </a:r>
            <a:r>
              <a:rPr lang="ko-KR" altLang="en-US" dirty="0" err="1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임계값</a:t>
            </a:r>
            <a:r>
              <a:rPr lang="ko-KR" altLang="en-US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 재확인  </a:t>
            </a:r>
            <a:r>
              <a:rPr lang="en-US" altLang="ko-KR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② </a:t>
            </a:r>
            <a:r>
              <a:rPr lang="ko-KR" altLang="en-US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시나리오별 비교가 안 되면 조건을 표로 명시해 </a:t>
            </a:r>
            <a:r>
              <a:rPr lang="ko-KR" altLang="en-US" dirty="0" err="1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재요청</a:t>
            </a:r>
            <a:endParaRPr lang="ko-KR" altLang="en-US" dirty="0">
              <a:solidFill>
                <a:srgbClr val="595959"/>
              </a:solidFill>
              <a:latin typeface="BM DoHyeon OTF" panose="020B0600000101010101" pitchFamily="34" charset="-127"/>
              <a:ea typeface="BM DoHyeon OTF" panose="020B0600000101010101" pitchFamily="34" charset="-127"/>
            </a:endParaRPr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FC30AF90-9894-43B5-F2A5-CF86697AC0DB}"/>
              </a:ext>
            </a:extLst>
          </p:cNvPr>
          <p:cNvSpPr/>
          <p:nvPr/>
        </p:nvSpPr>
        <p:spPr>
          <a:xfrm>
            <a:off x="9772650" y="6485334"/>
            <a:ext cx="13473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PROMPT</a:t>
            </a:r>
            <a:endParaRPr lang="en-US" sz="1800" dirty="0"/>
          </a:p>
        </p:txBody>
      </p:sp>
      <p:sp>
        <p:nvSpPr>
          <p:cNvPr id="46" name="Shape 16">
            <a:extLst>
              <a:ext uri="{FF2B5EF4-FFF2-40B4-BE49-F238E27FC236}">
                <a16:creationId xmlns:a16="http://schemas.microsoft.com/office/drawing/2014/main" id="{926D22E8-4FB2-E25E-804F-E01BAF7C56DB}"/>
              </a:ext>
            </a:extLst>
          </p:cNvPr>
          <p:cNvSpPr/>
          <p:nvPr/>
        </p:nvSpPr>
        <p:spPr>
          <a:xfrm>
            <a:off x="16939915" y="6761559"/>
            <a:ext cx="395585" cy="19050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57EEF0CC-38ED-4502-DA38-6BC781AF1CC8}"/>
              </a:ext>
            </a:extLst>
          </p:cNvPr>
          <p:cNvSpPr/>
          <p:nvPr/>
        </p:nvSpPr>
        <p:spPr>
          <a:xfrm>
            <a:off x="16901815" y="6485334"/>
            <a:ext cx="47178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복사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811357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0049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25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217354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74554" y="623888"/>
            <a:ext cx="9276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0049A3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WORD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25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Word Copilot 3대 핵심 비법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표준 문서, 점검 보고서, 제안서 작성을 빠르게 만드는 3가지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4580632"/>
            <a:ext cx="56856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33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1. 초안 생성</a:t>
            </a:r>
            <a:endParaRPr lang="en-US" sz="3375" dirty="0"/>
          </a:p>
        </p:txBody>
      </p:sp>
      <p:sp>
        <p:nvSpPr>
          <p:cNvPr id="13" name="Text 10"/>
          <p:cNvSpPr/>
          <p:nvPr/>
        </p:nvSpPr>
        <p:spPr>
          <a:xfrm>
            <a:off x="762001" y="5171182"/>
            <a:ext cx="5035464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941"/>
              </a:lnSpc>
              <a:buNone/>
            </a:pPr>
            <a:r>
              <a:rPr lang="en-US" sz="2250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백지 탈출 — /files로 최대 20개 사내 파일을 동시 참조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6349901" y="4332982"/>
            <a:ext cx="9525" cy="1914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6778526" y="4580632"/>
            <a:ext cx="521435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33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2. 문장 다듬기</a:t>
            </a:r>
            <a:endParaRPr lang="en-US" sz="3375" dirty="0"/>
          </a:p>
        </p:txBody>
      </p:sp>
      <p:sp>
        <p:nvSpPr>
          <p:cNvPr id="16" name="Text 13"/>
          <p:cNvSpPr/>
          <p:nvPr/>
        </p:nvSpPr>
        <p:spPr>
          <a:xfrm>
            <a:off x="6778526" y="5171182"/>
            <a:ext cx="3860508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941"/>
              </a:lnSpc>
              <a:buNone/>
            </a:pPr>
            <a:r>
              <a:rPr lang="en-US" sz="2250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전문 엔지니어링 어조 전환, 줄글을 정형 표로 변환</a:t>
            </a:r>
            <a:endParaRPr lang="en-US" sz="2250" dirty="0"/>
          </a:p>
        </p:txBody>
      </p:sp>
      <p:sp>
        <p:nvSpPr>
          <p:cNvPr id="17" name="Shape 14"/>
          <p:cNvSpPr/>
          <p:nvPr/>
        </p:nvSpPr>
        <p:spPr>
          <a:xfrm>
            <a:off x="11937950" y="4332982"/>
            <a:ext cx="9525" cy="1914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12366575" y="4580632"/>
            <a:ext cx="567536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33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3. 요약 &amp; 모바일</a:t>
            </a:r>
            <a:endParaRPr lang="en-US" sz="3375" dirty="0"/>
          </a:p>
        </p:txBody>
      </p:sp>
      <p:sp>
        <p:nvSpPr>
          <p:cNvPr id="19" name="Text 16"/>
          <p:cNvSpPr/>
          <p:nvPr/>
        </p:nvSpPr>
        <p:spPr>
          <a:xfrm>
            <a:off x="12366575" y="5171182"/>
            <a:ext cx="5314207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941"/>
              </a:lnSpc>
              <a:buNone/>
            </a:pPr>
            <a:r>
              <a:rPr lang="en-US" sz="2250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문서 상단 자동 요약, 현장 음성 메모를 보고서로</a:t>
            </a:r>
            <a:endParaRPr lang="en-US" sz="2250" dirty="0"/>
          </a:p>
        </p:txBody>
      </p:sp>
      <p:sp>
        <p:nvSpPr>
          <p:cNvPr id="20" name="Shape 17"/>
          <p:cNvSpPr/>
          <p:nvPr/>
        </p:nvSpPr>
        <p:spPr>
          <a:xfrm>
            <a:off x="762000" y="7934325"/>
            <a:ext cx="16764000" cy="1381125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1047750" y="8572500"/>
            <a:ext cx="16192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1047750" y="8162925"/>
            <a:ext cx="158308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16094422" y="8420100"/>
            <a:ext cx="1145828" cy="1905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16056322" y="8162925"/>
            <a:ext cx="1222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프롬프트 복사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047750" y="8670925"/>
            <a:ext cx="16427450" cy="708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/files KT_5G_수도권_기지국_품질지표_2026.xlsx 를 기반으로 통신망 긴급 점검 SOP 초안을 표 형식으로 작성해줘.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33 / 60</a:t>
            </a:r>
            <a:endParaRPr lang="en-US" sz="1650" dirty="0"/>
          </a:p>
        </p:txBody>
      </p:sp>
      <p:sp>
        <p:nvSpPr>
          <p:cNvPr id="29" name="DiffDot1">
            <a:extLst>
              <a:ext uri="{FF2B5EF4-FFF2-40B4-BE49-F238E27FC236}">
                <a16:creationId xmlns:a16="http://schemas.microsoft.com/office/drawing/2014/main" id="{E662D5C0-B064-154C-A5C1-30556B334DCC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DiffDot2">
            <a:extLst>
              <a:ext uri="{FF2B5EF4-FFF2-40B4-BE49-F238E27FC236}">
                <a16:creationId xmlns:a16="http://schemas.microsoft.com/office/drawing/2014/main" id="{29340E9B-5BA5-6445-8E08-93D917BC98AB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DiffDot3">
            <a:extLst>
              <a:ext uri="{FF2B5EF4-FFF2-40B4-BE49-F238E27FC236}">
                <a16:creationId xmlns:a16="http://schemas.microsoft.com/office/drawing/2014/main" id="{A076047B-6F53-9B47-A385-3D629EE46C3C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DiffDot4">
            <a:extLst>
              <a:ext uri="{FF2B5EF4-FFF2-40B4-BE49-F238E27FC236}">
                <a16:creationId xmlns:a16="http://schemas.microsoft.com/office/drawing/2014/main" id="{E7252C75-A0BA-1247-9302-E4F63A4DAEB9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DiffDot5">
            <a:extLst>
              <a:ext uri="{FF2B5EF4-FFF2-40B4-BE49-F238E27FC236}">
                <a16:creationId xmlns:a16="http://schemas.microsoft.com/office/drawing/2014/main" id="{DD5601E8-25D1-2A48-8D84-FAAD1562ACCA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 sz="2400"/>
          </a:p>
        </p:txBody>
      </p:sp>
      <p:sp>
        <p:nvSpPr>
          <p:cNvPr id="34" name="DiffLabel">
            <a:extLst>
              <a:ext uri="{FF2B5EF4-FFF2-40B4-BE49-F238E27FC236}">
                <a16:creationId xmlns:a16="http://schemas.microsoft.com/office/drawing/2014/main" id="{0BE0F4BA-A49C-FA40-8A28-5769F1AD4538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</p:spTree>
    <p:extLst>
      <p:ext uri="{BB962C8B-B14F-4D97-AF65-F5344CB8AC3E}">
        <p14:creationId xmlns:p14="http://schemas.microsoft.com/office/powerpoint/2010/main" val="16602554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0049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26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217354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74554" y="623888"/>
            <a:ext cx="9276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0049A3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WORD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26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바로 쓰는 Word 프롬프트 모음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백지일 때, 글이 어색할 때, 시간이 없을 때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4328815"/>
            <a:ext cx="56856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33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1. 참조 초안 작성</a:t>
            </a:r>
            <a:endParaRPr lang="en-US" sz="3375" dirty="0"/>
          </a:p>
        </p:txBody>
      </p:sp>
      <p:sp>
        <p:nvSpPr>
          <p:cNvPr id="13" name="Shape 10"/>
          <p:cNvSpPr/>
          <p:nvPr/>
        </p:nvSpPr>
        <p:spPr>
          <a:xfrm>
            <a:off x="762000" y="6042124"/>
            <a:ext cx="5168801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5081290"/>
            <a:ext cx="1143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설명</a:t>
            </a:r>
            <a:endParaRPr lang="en-US" sz="2325" dirty="0"/>
          </a:p>
        </p:txBody>
      </p:sp>
      <p:sp>
        <p:nvSpPr>
          <p:cNvPr id="15" name="Text 12"/>
          <p:cNvSpPr/>
          <p:nvPr/>
        </p:nvSpPr>
        <p:spPr>
          <a:xfrm>
            <a:off x="1494115" y="5033665"/>
            <a:ext cx="4814287" cy="894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861"/>
              </a:lnSpc>
              <a:buNone/>
            </a:pPr>
            <a:r>
              <a:rPr lang="en-US" sz="23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기존 파일을 근거로 새 문서 초안 생성</a:t>
            </a:r>
            <a:endParaRPr lang="en-US" sz="2325" dirty="0"/>
          </a:p>
        </p:txBody>
      </p:sp>
      <p:sp>
        <p:nvSpPr>
          <p:cNvPr id="16" name="Shape 13"/>
          <p:cNvSpPr/>
          <p:nvPr/>
        </p:nvSpPr>
        <p:spPr>
          <a:xfrm>
            <a:off x="762000" y="6242149"/>
            <a:ext cx="5168801" cy="1600200"/>
          </a:xfrm>
          <a:prstGeom prst="rect">
            <a:avLst/>
          </a:prstGeom>
          <a:ln w="9525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962025" y="6423124"/>
            <a:ext cx="13473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PROMPT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335191" y="6699349"/>
            <a:ext cx="395585" cy="19050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5297091" y="6423124"/>
            <a:ext cx="47178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복사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62025" y="6832699"/>
            <a:ext cx="4911813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818"/>
              </a:lnSpc>
              <a:buNone/>
            </a:pPr>
            <a:r>
              <a:rPr lang="en-US" sz="2175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첨부된 [파일이름]을 참고하여 [주제]에 대한 초안을 작성해줘.</a:t>
            </a:r>
            <a:endParaRPr lang="en-US" sz="2175" dirty="0"/>
          </a:p>
        </p:txBody>
      </p:sp>
      <p:sp>
        <p:nvSpPr>
          <p:cNvPr id="21" name="Shape 18"/>
          <p:cNvSpPr/>
          <p:nvPr/>
        </p:nvSpPr>
        <p:spPr>
          <a:xfrm>
            <a:off x="6349901" y="4081165"/>
            <a:ext cx="9525" cy="4008834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6778526" y="4328815"/>
            <a:ext cx="521435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33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2. 문체 다시 쓰기</a:t>
            </a:r>
            <a:endParaRPr lang="en-US" sz="3375" dirty="0"/>
          </a:p>
        </p:txBody>
      </p:sp>
      <p:sp>
        <p:nvSpPr>
          <p:cNvPr id="23" name="Shape 20"/>
          <p:cNvSpPr/>
          <p:nvPr/>
        </p:nvSpPr>
        <p:spPr>
          <a:xfrm>
            <a:off x="6778526" y="6042124"/>
            <a:ext cx="474032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6778526" y="5081290"/>
            <a:ext cx="1143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설명</a:t>
            </a:r>
            <a:endParaRPr lang="en-US" sz="2325" dirty="0"/>
          </a:p>
        </p:txBody>
      </p:sp>
      <p:sp>
        <p:nvSpPr>
          <p:cNvPr id="25" name="Text 22"/>
          <p:cNvSpPr/>
          <p:nvPr/>
        </p:nvSpPr>
        <p:spPr>
          <a:xfrm>
            <a:off x="7570551" y="5033665"/>
            <a:ext cx="4284337" cy="894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861"/>
              </a:lnSpc>
              <a:buNone/>
            </a:pPr>
            <a:r>
              <a:rPr lang="en-US" sz="23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기술적 의미는 유지하고 문장만 정제</a:t>
            </a:r>
            <a:endParaRPr lang="en-US" sz="2325" dirty="0"/>
          </a:p>
        </p:txBody>
      </p:sp>
      <p:sp>
        <p:nvSpPr>
          <p:cNvPr id="26" name="Shape 23"/>
          <p:cNvSpPr/>
          <p:nvPr/>
        </p:nvSpPr>
        <p:spPr>
          <a:xfrm>
            <a:off x="6778526" y="6242149"/>
            <a:ext cx="4740325" cy="1600200"/>
          </a:xfrm>
          <a:prstGeom prst="rect">
            <a:avLst/>
          </a:prstGeom>
          <a:ln w="9525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6978552" y="6832699"/>
            <a:ext cx="3693624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818"/>
              </a:lnSpc>
              <a:buNone/>
            </a:pPr>
            <a:r>
              <a:rPr lang="en-US" sz="2175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이 문단을 명확한 비즈니스 문체로 다시 써줘.</a:t>
            </a:r>
            <a:endParaRPr lang="en-US" sz="2175" dirty="0"/>
          </a:p>
        </p:txBody>
      </p:sp>
      <p:sp>
        <p:nvSpPr>
          <p:cNvPr id="31" name="Shape 28"/>
          <p:cNvSpPr/>
          <p:nvPr/>
        </p:nvSpPr>
        <p:spPr>
          <a:xfrm>
            <a:off x="11937950" y="4081165"/>
            <a:ext cx="9525" cy="4008834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12366575" y="4328815"/>
            <a:ext cx="567536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33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3. 요약 &amp; 액션 정리</a:t>
            </a:r>
            <a:endParaRPr lang="en-US" sz="3375" dirty="0"/>
          </a:p>
        </p:txBody>
      </p:sp>
      <p:sp>
        <p:nvSpPr>
          <p:cNvPr id="33" name="Shape 30"/>
          <p:cNvSpPr/>
          <p:nvPr/>
        </p:nvSpPr>
        <p:spPr>
          <a:xfrm>
            <a:off x="12366575" y="6042124"/>
            <a:ext cx="515942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12366575" y="5081290"/>
            <a:ext cx="1143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설명</a:t>
            </a:r>
            <a:endParaRPr lang="en-US" sz="2325" dirty="0"/>
          </a:p>
        </p:txBody>
      </p:sp>
      <p:sp>
        <p:nvSpPr>
          <p:cNvPr id="35" name="Text 32"/>
          <p:cNvSpPr/>
          <p:nvPr/>
        </p:nvSpPr>
        <p:spPr>
          <a:xfrm>
            <a:off x="13100002" y="5033665"/>
            <a:ext cx="4802691" cy="894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861"/>
              </a:lnSpc>
              <a:buNone/>
            </a:pPr>
            <a:r>
              <a:rPr lang="en-US" sz="23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핵심 요약과 담당자별 할 일 표를 동시 생성</a:t>
            </a:r>
            <a:endParaRPr lang="en-US" sz="2325" dirty="0"/>
          </a:p>
        </p:txBody>
      </p:sp>
      <p:sp>
        <p:nvSpPr>
          <p:cNvPr id="36" name="Shape 33"/>
          <p:cNvSpPr/>
          <p:nvPr/>
        </p:nvSpPr>
        <p:spPr>
          <a:xfrm>
            <a:off x="12366575" y="6242149"/>
            <a:ext cx="5159425" cy="1600200"/>
          </a:xfrm>
          <a:prstGeom prst="rect">
            <a:avLst/>
          </a:prstGeom>
          <a:ln w="9525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12566600" y="6832699"/>
            <a:ext cx="47054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818"/>
              </a:lnSpc>
              <a:buNone/>
            </a:pPr>
            <a:r>
              <a:rPr lang="en-US" sz="2175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이 문서를 5줄로 요약하고 Action Items를 표로 정리해줘.</a:t>
            </a:r>
            <a:endParaRPr lang="en-US" sz="2175" dirty="0"/>
          </a:p>
        </p:txBody>
      </p:sp>
      <p:sp>
        <p:nvSpPr>
          <p:cNvPr id="41" name="Shape 38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43" name="Text 40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34 / 60</a:t>
            </a:r>
            <a:endParaRPr lang="en-US" sz="1650" dirty="0"/>
          </a:p>
        </p:txBody>
      </p:sp>
      <p:sp>
        <p:nvSpPr>
          <p:cNvPr id="44" name="DiffDot1">
            <a:extLst>
              <a:ext uri="{FF2B5EF4-FFF2-40B4-BE49-F238E27FC236}">
                <a16:creationId xmlns:a16="http://schemas.microsoft.com/office/drawing/2014/main" id="{0F2BF643-932B-DD4F-9440-2C7E05B30CA8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DiffDot2">
            <a:extLst>
              <a:ext uri="{FF2B5EF4-FFF2-40B4-BE49-F238E27FC236}">
                <a16:creationId xmlns:a16="http://schemas.microsoft.com/office/drawing/2014/main" id="{F519738D-B8DA-924F-9033-56F6A91F7B0F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6" name="DiffDot3">
            <a:extLst>
              <a:ext uri="{FF2B5EF4-FFF2-40B4-BE49-F238E27FC236}">
                <a16:creationId xmlns:a16="http://schemas.microsoft.com/office/drawing/2014/main" id="{0A5AF844-0230-6A41-8567-5584903FF2C3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7" name="DiffDot4">
            <a:extLst>
              <a:ext uri="{FF2B5EF4-FFF2-40B4-BE49-F238E27FC236}">
                <a16:creationId xmlns:a16="http://schemas.microsoft.com/office/drawing/2014/main" id="{9194073B-F7C7-F54C-9FBC-4663AFFDD6B3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8" name="DiffDot5">
            <a:extLst>
              <a:ext uri="{FF2B5EF4-FFF2-40B4-BE49-F238E27FC236}">
                <a16:creationId xmlns:a16="http://schemas.microsoft.com/office/drawing/2014/main" id="{67F4DB66-6518-CE41-98F9-E63C18457715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9" name="DiffLabel">
            <a:extLst>
              <a:ext uri="{FF2B5EF4-FFF2-40B4-BE49-F238E27FC236}">
                <a16:creationId xmlns:a16="http://schemas.microsoft.com/office/drawing/2014/main" id="{7F4D52DE-567F-8045-BABA-C7DDE4330D39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9EF29163-5736-CCC8-683D-9EDA968C5493}"/>
              </a:ext>
            </a:extLst>
          </p:cNvPr>
          <p:cNvSpPr/>
          <p:nvPr/>
        </p:nvSpPr>
        <p:spPr>
          <a:xfrm>
            <a:off x="6941179" y="6404074"/>
            <a:ext cx="13473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PROMPT</a:t>
            </a:r>
            <a:endParaRPr lang="en-US" sz="1800" dirty="0"/>
          </a:p>
        </p:txBody>
      </p:sp>
      <p:sp>
        <p:nvSpPr>
          <p:cNvPr id="51" name="Shape 15">
            <a:extLst>
              <a:ext uri="{FF2B5EF4-FFF2-40B4-BE49-F238E27FC236}">
                <a16:creationId xmlns:a16="http://schemas.microsoft.com/office/drawing/2014/main" id="{9EF5F14B-0979-1E71-0624-86EAD81E7255}"/>
              </a:ext>
            </a:extLst>
          </p:cNvPr>
          <p:cNvSpPr/>
          <p:nvPr/>
        </p:nvSpPr>
        <p:spPr>
          <a:xfrm>
            <a:off x="10926039" y="6680299"/>
            <a:ext cx="395585" cy="19050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6">
            <a:extLst>
              <a:ext uri="{FF2B5EF4-FFF2-40B4-BE49-F238E27FC236}">
                <a16:creationId xmlns:a16="http://schemas.microsoft.com/office/drawing/2014/main" id="{23627E66-8E84-3966-D0AE-379F4B6E12D2}"/>
              </a:ext>
            </a:extLst>
          </p:cNvPr>
          <p:cNvSpPr/>
          <p:nvPr/>
        </p:nvSpPr>
        <p:spPr>
          <a:xfrm>
            <a:off x="10887939" y="6404074"/>
            <a:ext cx="47178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복사</a:t>
            </a:r>
            <a:endParaRPr lang="en-US" sz="1800" dirty="0"/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30F9596C-86D2-A789-28DE-A783167F942F}"/>
              </a:ext>
            </a:extLst>
          </p:cNvPr>
          <p:cNvSpPr/>
          <p:nvPr/>
        </p:nvSpPr>
        <p:spPr>
          <a:xfrm>
            <a:off x="12557224" y="6423124"/>
            <a:ext cx="13473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PROMPT</a:t>
            </a:r>
            <a:endParaRPr lang="en-US" sz="1800" dirty="0"/>
          </a:p>
        </p:txBody>
      </p:sp>
      <p:sp>
        <p:nvSpPr>
          <p:cNvPr id="54" name="Shape 15">
            <a:extLst>
              <a:ext uri="{FF2B5EF4-FFF2-40B4-BE49-F238E27FC236}">
                <a16:creationId xmlns:a16="http://schemas.microsoft.com/office/drawing/2014/main" id="{EBE20335-D54A-C1CF-2F1B-32EBF2F4DE1F}"/>
              </a:ext>
            </a:extLst>
          </p:cNvPr>
          <p:cNvSpPr/>
          <p:nvPr/>
        </p:nvSpPr>
        <p:spPr>
          <a:xfrm>
            <a:off x="16930390" y="6699349"/>
            <a:ext cx="395585" cy="19050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16">
            <a:extLst>
              <a:ext uri="{FF2B5EF4-FFF2-40B4-BE49-F238E27FC236}">
                <a16:creationId xmlns:a16="http://schemas.microsoft.com/office/drawing/2014/main" id="{CD04DDA2-788D-84FD-F337-71210D3DF118}"/>
              </a:ext>
            </a:extLst>
          </p:cNvPr>
          <p:cNvSpPr/>
          <p:nvPr/>
        </p:nvSpPr>
        <p:spPr>
          <a:xfrm>
            <a:off x="16892290" y="6423124"/>
            <a:ext cx="47178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복사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813607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0049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27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217354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74554" y="623888"/>
            <a:ext cx="9276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0049A3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WORD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27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다시 쓰기와 정형 표 변환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어조·명확성 개선과 장황한 줄글의 표 변환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4198293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다시 쓰기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5545485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984998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대상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1737726" y="4937373"/>
            <a:ext cx="4236348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문단 선택 후 Copilot 다시 쓰기</a:t>
            </a:r>
            <a:endParaRPr lang="en-US" sz="2475" dirty="0"/>
          </a:p>
        </p:txBody>
      </p:sp>
      <p:sp>
        <p:nvSpPr>
          <p:cNvPr id="16" name="Text 13"/>
          <p:cNvSpPr/>
          <p:nvPr/>
        </p:nvSpPr>
        <p:spPr>
          <a:xfrm>
            <a:off x="762000" y="5793135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지시</a:t>
            </a:r>
            <a:endParaRPr lang="en-US" sz="2475" dirty="0"/>
          </a:p>
        </p:txBody>
      </p:sp>
      <p:sp>
        <p:nvSpPr>
          <p:cNvPr id="17" name="Text 14"/>
          <p:cNvSpPr/>
          <p:nvPr/>
        </p:nvSpPr>
        <p:spPr>
          <a:xfrm>
            <a:off x="1737726" y="5745510"/>
            <a:ext cx="4782979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어조, 길이, 유지할 기술 용어를 명시</a:t>
            </a:r>
            <a:endParaRPr lang="en-US" sz="2475" dirty="0"/>
          </a:p>
        </p:txBody>
      </p:sp>
      <p:sp>
        <p:nvSpPr>
          <p:cNvPr id="18" name="Shape 15"/>
          <p:cNvSpPr/>
          <p:nvPr/>
        </p:nvSpPr>
        <p:spPr>
          <a:xfrm>
            <a:off x="9144000" y="3950643"/>
            <a:ext cx="9525" cy="2650629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9572625" y="4198293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표 변환</a:t>
            </a:r>
            <a:endParaRPr lang="en-US" sz="3600" dirty="0"/>
          </a:p>
        </p:txBody>
      </p:sp>
      <p:sp>
        <p:nvSpPr>
          <p:cNvPr id="20" name="Shape 17"/>
          <p:cNvSpPr/>
          <p:nvPr/>
        </p:nvSpPr>
        <p:spPr>
          <a:xfrm>
            <a:off x="9572625" y="5545485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9572625" y="4984998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대상</a:t>
            </a:r>
            <a:endParaRPr lang="en-US" sz="2475" dirty="0"/>
          </a:p>
        </p:txBody>
      </p:sp>
      <p:sp>
        <p:nvSpPr>
          <p:cNvPr id="22" name="Text 19"/>
          <p:cNvSpPr/>
          <p:nvPr/>
        </p:nvSpPr>
        <p:spPr>
          <a:xfrm>
            <a:off x="10548351" y="4937373"/>
            <a:ext cx="3845897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절차·체크리스트 형태의 줄글</a:t>
            </a:r>
            <a:endParaRPr lang="en-US" sz="2475" dirty="0"/>
          </a:p>
        </p:txBody>
      </p:sp>
      <p:sp>
        <p:nvSpPr>
          <p:cNvPr id="23" name="Text 20"/>
          <p:cNvSpPr/>
          <p:nvPr/>
        </p:nvSpPr>
        <p:spPr>
          <a:xfrm>
            <a:off x="9572625" y="5793135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지시</a:t>
            </a:r>
            <a:endParaRPr lang="en-US" sz="2475" dirty="0"/>
          </a:p>
        </p:txBody>
      </p:sp>
      <p:sp>
        <p:nvSpPr>
          <p:cNvPr id="24" name="Text 21"/>
          <p:cNvSpPr/>
          <p:nvPr/>
        </p:nvSpPr>
        <p:spPr>
          <a:xfrm>
            <a:off x="10548351" y="5745510"/>
            <a:ext cx="362472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원하는 열 이름을 직접 나열</a:t>
            </a:r>
            <a:endParaRPr lang="en-US" sz="2475" dirty="0"/>
          </a:p>
        </p:txBody>
      </p:sp>
      <p:sp>
        <p:nvSpPr>
          <p:cNvPr id="25" name="Shape 22"/>
          <p:cNvSpPr/>
          <p:nvPr/>
        </p:nvSpPr>
        <p:spPr>
          <a:xfrm>
            <a:off x="762000" y="7905750"/>
            <a:ext cx="16764000" cy="1409700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1047750" y="8543925"/>
            <a:ext cx="16192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1047750" y="8134350"/>
            <a:ext cx="158308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16094422" y="8391525"/>
            <a:ext cx="1145828" cy="1905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16056322" y="8134350"/>
            <a:ext cx="1222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프롬프트 복사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1047750" y="8590062"/>
            <a:ext cx="16427450" cy="788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아래 L3 스위치 점검 절차 줄글을 [단계 | 점검 항목 | CLI 명령어 | 정상 기준 | 이상 시 조치] 5개 열의 표로 변환해줘.</a:t>
            </a:r>
            <a:endParaRPr lang="en-US" sz="2400" dirty="0"/>
          </a:p>
        </p:txBody>
      </p:sp>
      <p:sp>
        <p:nvSpPr>
          <p:cNvPr id="31" name="Shape 28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3" name="Text 30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240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35 / 60</a:t>
            </a:r>
            <a:endParaRPr lang="en-US" sz="2400" dirty="0"/>
          </a:p>
        </p:txBody>
      </p:sp>
      <p:sp>
        <p:nvSpPr>
          <p:cNvPr id="34" name="DiffDot1">
            <a:extLst>
              <a:ext uri="{FF2B5EF4-FFF2-40B4-BE49-F238E27FC236}">
                <a16:creationId xmlns:a16="http://schemas.microsoft.com/office/drawing/2014/main" id="{9D669D31-0175-BC4E-8534-0B73B8A49201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5" name="DiffDot2">
            <a:extLst>
              <a:ext uri="{FF2B5EF4-FFF2-40B4-BE49-F238E27FC236}">
                <a16:creationId xmlns:a16="http://schemas.microsoft.com/office/drawing/2014/main" id="{96E4B4A9-F295-EF49-B7DD-D33AC672C355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DiffDot3">
            <a:extLst>
              <a:ext uri="{FF2B5EF4-FFF2-40B4-BE49-F238E27FC236}">
                <a16:creationId xmlns:a16="http://schemas.microsoft.com/office/drawing/2014/main" id="{E756B08D-318C-D946-8663-FA61DA5B6B86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 sz="2400"/>
          </a:p>
        </p:txBody>
      </p:sp>
      <p:sp>
        <p:nvSpPr>
          <p:cNvPr id="37" name="DiffDot4">
            <a:extLst>
              <a:ext uri="{FF2B5EF4-FFF2-40B4-BE49-F238E27FC236}">
                <a16:creationId xmlns:a16="http://schemas.microsoft.com/office/drawing/2014/main" id="{9659DEFF-59DE-A249-9BFD-D890C90F856C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8" name="DiffDot5">
            <a:extLst>
              <a:ext uri="{FF2B5EF4-FFF2-40B4-BE49-F238E27FC236}">
                <a16:creationId xmlns:a16="http://schemas.microsoft.com/office/drawing/2014/main" id="{71910BF4-17AC-8E4B-85CA-1D121AF3E369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9" name="DiffLabel">
            <a:extLst>
              <a:ext uri="{FF2B5EF4-FFF2-40B4-BE49-F238E27FC236}">
                <a16:creationId xmlns:a16="http://schemas.microsoft.com/office/drawing/2014/main" id="{5615E5D7-3922-204F-9558-D8630178DE42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</p:spTree>
    <p:extLst>
      <p:ext uri="{BB962C8B-B14F-4D97-AF65-F5344CB8AC3E}">
        <p14:creationId xmlns:p14="http://schemas.microsoft.com/office/powerpoint/2010/main" val="12308823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0049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28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217354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74554" y="623888"/>
            <a:ext cx="9276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0049A3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WORD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28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문서 요약과 심층 질의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긴 문서의 핵심 요약, 쟁점 도출, 후속 조치 정리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998268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요약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5345460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784973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분량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2038350" y="4737348"/>
            <a:ext cx="3575119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임원 보고용 200단어 내외</a:t>
            </a:r>
            <a:endParaRPr lang="en-US" sz="2475" dirty="0"/>
          </a:p>
        </p:txBody>
      </p:sp>
      <p:sp>
        <p:nvSpPr>
          <p:cNvPr id="16" name="Text 13"/>
          <p:cNvSpPr/>
          <p:nvPr/>
        </p:nvSpPr>
        <p:spPr>
          <a:xfrm>
            <a:off x="762000" y="5593110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형식</a:t>
            </a:r>
            <a:endParaRPr lang="en-US" sz="2475" dirty="0"/>
          </a:p>
        </p:txBody>
      </p:sp>
      <p:sp>
        <p:nvSpPr>
          <p:cNvPr id="17" name="Text 14"/>
          <p:cNvSpPr/>
          <p:nvPr/>
        </p:nvSpPr>
        <p:spPr>
          <a:xfrm>
            <a:off x="2038350" y="5545485"/>
            <a:ext cx="3713455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핵심 결론 먼저, 근거는 뒤에</a:t>
            </a:r>
            <a:endParaRPr lang="en-US" sz="2475" dirty="0"/>
          </a:p>
        </p:txBody>
      </p:sp>
      <p:sp>
        <p:nvSpPr>
          <p:cNvPr id="18" name="Shape 15"/>
          <p:cNvSpPr/>
          <p:nvPr/>
        </p:nvSpPr>
        <p:spPr>
          <a:xfrm>
            <a:off x="9144000" y="3750618"/>
            <a:ext cx="9525" cy="2650629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9572625" y="3998268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심층 질의</a:t>
            </a:r>
            <a:endParaRPr lang="en-US" sz="3600" dirty="0"/>
          </a:p>
        </p:txBody>
      </p:sp>
      <p:sp>
        <p:nvSpPr>
          <p:cNvPr id="20" name="Shape 17"/>
          <p:cNvSpPr/>
          <p:nvPr/>
        </p:nvSpPr>
        <p:spPr>
          <a:xfrm>
            <a:off x="9572625" y="5345460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9572625" y="4784973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쟁점</a:t>
            </a:r>
            <a:endParaRPr lang="en-US" sz="2475" dirty="0"/>
          </a:p>
        </p:txBody>
      </p:sp>
      <p:sp>
        <p:nvSpPr>
          <p:cNvPr id="22" name="Text 19"/>
          <p:cNvSpPr/>
          <p:nvPr/>
        </p:nvSpPr>
        <p:spPr>
          <a:xfrm>
            <a:off x="10848975" y="4737348"/>
            <a:ext cx="414483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취약점·리스크를 항목별로 도출</a:t>
            </a:r>
            <a:endParaRPr lang="en-US" sz="2475" dirty="0"/>
          </a:p>
        </p:txBody>
      </p:sp>
      <p:sp>
        <p:nvSpPr>
          <p:cNvPr id="23" name="Text 20"/>
          <p:cNvSpPr/>
          <p:nvPr/>
        </p:nvSpPr>
        <p:spPr>
          <a:xfrm>
            <a:off x="9572625" y="5593110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조치</a:t>
            </a:r>
            <a:endParaRPr lang="en-US" sz="2475" dirty="0"/>
          </a:p>
        </p:txBody>
      </p:sp>
      <p:sp>
        <p:nvSpPr>
          <p:cNvPr id="24" name="Text 21"/>
          <p:cNvSpPr/>
          <p:nvPr/>
        </p:nvSpPr>
        <p:spPr>
          <a:xfrm>
            <a:off x="10848975" y="5545485"/>
            <a:ext cx="4908381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우선순위가 붙은 Action Items 요청</a:t>
            </a:r>
            <a:endParaRPr lang="en-US" sz="2475" dirty="0"/>
          </a:p>
        </p:txBody>
      </p:sp>
      <p:sp>
        <p:nvSpPr>
          <p:cNvPr id="25" name="Shape 22"/>
          <p:cNvSpPr/>
          <p:nvPr/>
        </p:nvSpPr>
        <p:spPr>
          <a:xfrm>
            <a:off x="762000" y="7505700"/>
            <a:ext cx="16764000" cy="1809750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1047750" y="8143875"/>
            <a:ext cx="16192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1047750" y="7734300"/>
            <a:ext cx="158308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16094422" y="7991475"/>
            <a:ext cx="1145828" cy="1905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16056322" y="7734300"/>
            <a:ext cx="1222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프롬프트 복사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1047750" y="8242300"/>
            <a:ext cx="13946059" cy="1136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이 기술 문서를 분석해 임원 보고용 요약을 200단어로 작성하고, 보안 취약점 3가지와 단계별 해결 방안을 표로 정리한 뒤 후속 Action Items를 우선순위 순으로 제안해줘.</a:t>
            </a:r>
            <a:endParaRPr lang="en-US" sz="2400" dirty="0"/>
          </a:p>
        </p:txBody>
      </p:sp>
      <p:sp>
        <p:nvSpPr>
          <p:cNvPr id="31" name="Shape 28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3" name="Text 30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sz="240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36 / 60</a:t>
            </a:r>
            <a:endParaRPr lang="en-US" sz="2400" dirty="0"/>
          </a:p>
        </p:txBody>
      </p:sp>
      <p:sp>
        <p:nvSpPr>
          <p:cNvPr id="34" name="DiffDot1">
            <a:extLst>
              <a:ext uri="{FF2B5EF4-FFF2-40B4-BE49-F238E27FC236}">
                <a16:creationId xmlns:a16="http://schemas.microsoft.com/office/drawing/2014/main" id="{AFE5EBBF-6CB3-5847-96BA-623785E05FE9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5" name="DiffDot2">
            <a:extLst>
              <a:ext uri="{FF2B5EF4-FFF2-40B4-BE49-F238E27FC236}">
                <a16:creationId xmlns:a16="http://schemas.microsoft.com/office/drawing/2014/main" id="{49C9C482-E8FA-394B-A057-5D276F689227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DiffDot3">
            <a:extLst>
              <a:ext uri="{FF2B5EF4-FFF2-40B4-BE49-F238E27FC236}">
                <a16:creationId xmlns:a16="http://schemas.microsoft.com/office/drawing/2014/main" id="{0E421A94-971C-4C49-90A3-97E9BF4F51F1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 sz="2400"/>
          </a:p>
        </p:txBody>
      </p:sp>
      <p:sp>
        <p:nvSpPr>
          <p:cNvPr id="37" name="DiffDot4">
            <a:extLst>
              <a:ext uri="{FF2B5EF4-FFF2-40B4-BE49-F238E27FC236}">
                <a16:creationId xmlns:a16="http://schemas.microsoft.com/office/drawing/2014/main" id="{8AC0E976-F470-D644-876A-26D94E2205F2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8" name="DiffDot5">
            <a:extLst>
              <a:ext uri="{FF2B5EF4-FFF2-40B4-BE49-F238E27FC236}">
                <a16:creationId xmlns:a16="http://schemas.microsoft.com/office/drawing/2014/main" id="{9DDB575A-5710-3C4B-ADFA-4D64387E72D1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9" name="DiffLabel">
            <a:extLst>
              <a:ext uri="{FF2B5EF4-FFF2-40B4-BE49-F238E27FC236}">
                <a16:creationId xmlns:a16="http://schemas.microsoft.com/office/drawing/2014/main" id="{6781EF0D-8A60-CD4F-A0F7-C7ECDAB7E7B3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</p:spTree>
    <p:extLst>
      <p:ext uri="{BB962C8B-B14F-4D97-AF65-F5344CB8AC3E}">
        <p14:creationId xmlns:p14="http://schemas.microsoft.com/office/powerpoint/2010/main" val="17789178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0049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29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217354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74554" y="623888"/>
            <a:ext cx="9276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0049A3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WORD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29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AI 이미지와 테크 배너 제작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보고서 표지·배너용 이미지를 자연어로 생성합니다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594199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프롬프트 구성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4941391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380905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소재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38350" y="4333280"/>
            <a:ext cx="5454685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무엇이 보여야 하는가 (기지국, 광케이블)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762000" y="5749528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5189041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스타일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38350" y="5141416"/>
            <a:ext cx="3784669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3D 아이소메트릭, 미니멀 등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62000" y="5997178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색·구도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038350" y="5949553"/>
            <a:ext cx="350325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색 팔레트, 배경, 여백 지정</a:t>
            </a: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9144000" y="3346549"/>
            <a:ext cx="9525" cy="345876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3594199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실무 팁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9572625" y="4941391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572625" y="4380905"/>
            <a:ext cx="12511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용도 명시</a:t>
            </a: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10957173" y="4333280"/>
            <a:ext cx="4696867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문서 표지·챕터 배너 등 목적을 함께</a:t>
            </a: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9572625" y="5749528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5189041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톤 일치</a:t>
            </a: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10848975" y="5141416"/>
            <a:ext cx="3839185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문서의 전문적 분위기를 언급</a:t>
            </a: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9572625" y="5997178"/>
            <a:ext cx="12511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반복 개선</a:t>
            </a: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10957173" y="5949553"/>
            <a:ext cx="3930372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결과를 보며 색·구도만 재지시</a:t>
            </a: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762000" y="7505700"/>
            <a:ext cx="16764000" cy="1809750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047750" y="8143875"/>
            <a:ext cx="16192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1047750" y="7734300"/>
            <a:ext cx="158308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16094422" y="7991475"/>
            <a:ext cx="1145828" cy="1905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6056322" y="7734300"/>
            <a:ext cx="1222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프롬프트 복사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047750" y="8164439"/>
            <a:ext cx="14865350" cy="1227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5G 망 현대화 보고서 챕터 표지용 테크 배너를 만들어줘. 기지국·광케이블·클라우드 코어망이 연결된 구도, 미니멀 3D 아이소메트릭, 네온 블루 팔레트, 화이트 배경, 여백 있는 구성으로.</a:t>
            </a:r>
            <a:endParaRPr lang="en-US" sz="2400" dirty="0"/>
          </a:p>
        </p:txBody>
      </p:sp>
      <p:sp>
        <p:nvSpPr>
          <p:cNvPr id="37" name="Shape 34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37 / 60</a:t>
            </a:r>
            <a:endParaRPr lang="en-US" sz="1650" dirty="0"/>
          </a:p>
        </p:txBody>
      </p:sp>
      <p:sp>
        <p:nvSpPr>
          <p:cNvPr id="40" name="DiffDot1">
            <a:extLst>
              <a:ext uri="{FF2B5EF4-FFF2-40B4-BE49-F238E27FC236}">
                <a16:creationId xmlns:a16="http://schemas.microsoft.com/office/drawing/2014/main" id="{E7D44AB8-E663-134F-834A-029CACD4EAF6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ffDot2">
            <a:extLst>
              <a:ext uri="{FF2B5EF4-FFF2-40B4-BE49-F238E27FC236}">
                <a16:creationId xmlns:a16="http://schemas.microsoft.com/office/drawing/2014/main" id="{F6CC995F-B6DD-5D40-9FE1-6A717B3724D6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DiffDot3">
            <a:extLst>
              <a:ext uri="{FF2B5EF4-FFF2-40B4-BE49-F238E27FC236}">
                <a16:creationId xmlns:a16="http://schemas.microsoft.com/office/drawing/2014/main" id="{B12C7C36-3EEC-AD42-8DF6-A7795F99949E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DiffDot4">
            <a:extLst>
              <a:ext uri="{FF2B5EF4-FFF2-40B4-BE49-F238E27FC236}">
                <a16:creationId xmlns:a16="http://schemas.microsoft.com/office/drawing/2014/main" id="{ABADEC0A-89AA-9F48-9448-3C38C46BCB66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DiffDot5">
            <a:extLst>
              <a:ext uri="{FF2B5EF4-FFF2-40B4-BE49-F238E27FC236}">
                <a16:creationId xmlns:a16="http://schemas.microsoft.com/office/drawing/2014/main" id="{3426A8F2-B2A0-8E4C-A864-CDA7FA8339B2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DiffLabel">
            <a:extLst>
              <a:ext uri="{FF2B5EF4-FFF2-40B4-BE49-F238E27FC236}">
                <a16:creationId xmlns:a16="http://schemas.microsoft.com/office/drawing/2014/main" id="{4FD80965-E2F4-9E45-8FDA-BCEC0EADF2AA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</p:spTree>
    <p:extLst>
      <p:ext uri="{BB962C8B-B14F-4D97-AF65-F5344CB8AC3E}">
        <p14:creationId xmlns:p14="http://schemas.microsoft.com/office/powerpoint/2010/main" val="36246872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0049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30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217354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74554" y="623888"/>
            <a:ext cx="9276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0049A3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WORD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30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음성 메모를 정형 보고서로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현장에서 녹음·전사한 메모를 표준 보고서 형식으로 구조화합니다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594199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절차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4941391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380905"/>
            <a:ext cx="1143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1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1295950" y="4320095"/>
            <a:ext cx="4904452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모바일에서 녹음 후 전사 텍스트 확보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762000" y="5749528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5189041"/>
            <a:ext cx="1143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1295950" y="5128231"/>
            <a:ext cx="4521205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원하는 보고서 항목을 나열해 지시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62000" y="5997178"/>
            <a:ext cx="1143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3</a:t>
            </a:r>
            <a:endParaRPr lang="en-US" sz="2475" dirty="0"/>
          </a:p>
        </p:txBody>
      </p:sp>
      <p:sp>
        <p:nvSpPr>
          <p:cNvPr id="20" name="Text 17"/>
          <p:cNvSpPr/>
          <p:nvPr/>
        </p:nvSpPr>
        <p:spPr>
          <a:xfrm>
            <a:off x="1295950" y="5936368"/>
            <a:ext cx="422243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확인 필요 항목을 현장에서 보완</a:t>
            </a: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9144000" y="3346549"/>
            <a:ext cx="9525" cy="345876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3594199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규칙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9572625" y="4941391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572625" y="4380905"/>
            <a:ext cx="12511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추정 금지</a:t>
            </a:r>
            <a:endParaRPr lang="en-US" sz="2475" dirty="0"/>
          </a:p>
        </p:txBody>
      </p:sp>
      <p:sp>
        <p:nvSpPr>
          <p:cNvPr id="25" name="Text 22"/>
          <p:cNvSpPr/>
          <p:nvPr/>
        </p:nvSpPr>
        <p:spPr>
          <a:xfrm>
            <a:off x="10957173" y="4295702"/>
            <a:ext cx="418494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없는 정보는 "확인 필요"로 표시</a:t>
            </a: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9572625" y="5749528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5189041"/>
            <a:ext cx="12511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구술 정리</a:t>
            </a:r>
            <a:endParaRPr lang="en-US" sz="2475" dirty="0"/>
          </a:p>
        </p:txBody>
      </p:sp>
      <p:sp>
        <p:nvSpPr>
          <p:cNvPr id="28" name="Text 25"/>
          <p:cNvSpPr/>
          <p:nvPr/>
        </p:nvSpPr>
        <p:spPr>
          <a:xfrm>
            <a:off x="10957173" y="5103838"/>
            <a:ext cx="3248352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중복·군더더기 표현 제거</a:t>
            </a: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9572625" y="5997178"/>
            <a:ext cx="12511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의미 유지</a:t>
            </a:r>
            <a:endParaRPr lang="en-US" sz="2475" dirty="0"/>
          </a:p>
        </p:txBody>
      </p:sp>
      <p:sp>
        <p:nvSpPr>
          <p:cNvPr id="30" name="Text 27"/>
          <p:cNvSpPr/>
          <p:nvPr/>
        </p:nvSpPr>
        <p:spPr>
          <a:xfrm>
            <a:off x="10957173" y="5911975"/>
            <a:ext cx="392366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기술 용어는 원문 의미 그대로</a:t>
            </a: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762000" y="7505700"/>
            <a:ext cx="16764000" cy="1809750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047750" y="8143875"/>
            <a:ext cx="16192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1047750" y="7734300"/>
            <a:ext cx="158308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16094422" y="7991475"/>
            <a:ext cx="1145828" cy="1905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6056322" y="7734300"/>
            <a:ext cx="1222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프롬프트 복사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047750" y="8242300"/>
            <a:ext cx="16427450" cy="1136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이 음성 메모 전사 텍스트를 [점검 일시 | 국사 | 랙 번호 | 이상 증상 | 조치 내역 | 후속 조치] 형식의 점검 보고서로 구조화해줘. </a:t>
            </a:r>
          </a:p>
          <a:p>
            <a:pPr marL="0" indent="0" algn="l">
              <a:lnSpc>
                <a:spcPct val="131250"/>
              </a:lnSpc>
              <a:buNone/>
            </a:pPr>
            <a:r>
              <a:rPr lang="en-US" sz="2400" dirty="0" err="1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명시되지</a:t>
            </a: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 않은 항목은 "확인 필요"로 표시해줘.</a:t>
            </a:r>
            <a:endParaRPr lang="en-US" sz="2400" dirty="0"/>
          </a:p>
        </p:txBody>
      </p:sp>
      <p:sp>
        <p:nvSpPr>
          <p:cNvPr id="37" name="Shape 34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38 / 60</a:t>
            </a:r>
            <a:endParaRPr lang="en-US" sz="1650" dirty="0"/>
          </a:p>
        </p:txBody>
      </p:sp>
      <p:sp>
        <p:nvSpPr>
          <p:cNvPr id="40" name="DiffDot1">
            <a:extLst>
              <a:ext uri="{FF2B5EF4-FFF2-40B4-BE49-F238E27FC236}">
                <a16:creationId xmlns:a16="http://schemas.microsoft.com/office/drawing/2014/main" id="{939AA078-B143-F442-8822-E75E1E8F95D7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ffDot2">
            <a:extLst>
              <a:ext uri="{FF2B5EF4-FFF2-40B4-BE49-F238E27FC236}">
                <a16:creationId xmlns:a16="http://schemas.microsoft.com/office/drawing/2014/main" id="{C9C65373-0291-C74B-911E-C5413159BC0C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DiffDot3">
            <a:extLst>
              <a:ext uri="{FF2B5EF4-FFF2-40B4-BE49-F238E27FC236}">
                <a16:creationId xmlns:a16="http://schemas.microsoft.com/office/drawing/2014/main" id="{ADAD4A07-4DF9-854B-BC70-31F71C19A15E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DiffDot4">
            <a:extLst>
              <a:ext uri="{FF2B5EF4-FFF2-40B4-BE49-F238E27FC236}">
                <a16:creationId xmlns:a16="http://schemas.microsoft.com/office/drawing/2014/main" id="{EE503384-DFD2-2145-A177-675FCA746647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DiffDot5">
            <a:extLst>
              <a:ext uri="{FF2B5EF4-FFF2-40B4-BE49-F238E27FC236}">
                <a16:creationId xmlns:a16="http://schemas.microsoft.com/office/drawing/2014/main" id="{A95EF413-B1A6-4B40-B7B2-78D2A2D26546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DiffLabel">
            <a:extLst>
              <a:ext uri="{FF2B5EF4-FFF2-40B4-BE49-F238E27FC236}">
                <a16:creationId xmlns:a16="http://schemas.microsoft.com/office/drawing/2014/main" id="{C00F834D-C40A-B047-AD74-D37AF6B6CCF5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</p:spTree>
    <p:extLst>
      <p:ext uri="{BB962C8B-B14F-4D97-AF65-F5344CB8AC3E}">
        <p14:creationId xmlns:p14="http://schemas.microsoft.com/office/powerpoint/2010/main" val="50723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roubleshootBox">
            <a:extLst>
              <a:ext uri="{FF2B5EF4-FFF2-40B4-BE49-F238E27FC236}">
                <a16:creationId xmlns:a16="http://schemas.microsoft.com/office/drawing/2014/main" id="{B58B9247-8C6D-EF42-A72D-5467EE4E1598}"/>
              </a:ext>
            </a:extLst>
          </p:cNvPr>
          <p:cNvSpPr/>
          <p:nvPr/>
        </p:nvSpPr>
        <p:spPr>
          <a:xfrm>
            <a:off x="762000" y="8712200"/>
            <a:ext cx="16764000" cy="736600"/>
          </a:xfrm>
          <a:prstGeom prst="roundRect">
            <a:avLst/>
          </a:prstGeom>
          <a:solidFill>
            <a:srgbClr val="FFF4EC"/>
          </a:solidFill>
          <a:ln w="12700" cap="flat" cmpd="sng" algn="ctr">
            <a:solidFill>
              <a:srgbClr val="ED7D3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0049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31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217354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74554" y="623888"/>
            <a:ext cx="9276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0049A3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WORD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31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최대 20개 파일 참조 초안 생성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여러 사내 파일을 결합해 실무형 초안을 한 번에 완성합니다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594199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쓰는 법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4941391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380905"/>
            <a:ext cx="1143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1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1286790" y="4333280"/>
            <a:ext cx="4479459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문서에서 /files 입력 후 파일 선택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762000" y="5749528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5189041"/>
            <a:ext cx="1143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1286790" y="5141416"/>
            <a:ext cx="4320332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목적·분량·구성 순서를 함께 지시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62000" y="5997178"/>
            <a:ext cx="1143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3</a:t>
            </a:r>
            <a:endParaRPr lang="en-US" sz="2475" dirty="0"/>
          </a:p>
        </p:txBody>
      </p:sp>
      <p:sp>
        <p:nvSpPr>
          <p:cNvPr id="20" name="Text 17"/>
          <p:cNvSpPr/>
          <p:nvPr/>
        </p:nvSpPr>
        <p:spPr>
          <a:xfrm>
            <a:off x="1286790" y="5949553"/>
            <a:ext cx="392366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생성된 초안의 근거 파일 확인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9144000" y="3346549"/>
            <a:ext cx="9525" cy="345876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3594199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주의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9572625" y="4941391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572625" y="4380905"/>
            <a:ext cx="13779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최대 20개</a:t>
            </a:r>
            <a:endParaRPr lang="en-US" sz="2475" dirty="0"/>
          </a:p>
        </p:txBody>
      </p:sp>
      <p:sp>
        <p:nvSpPr>
          <p:cNvPr id="25" name="Text 22"/>
          <p:cNvSpPr/>
          <p:nvPr/>
        </p:nvSpPr>
        <p:spPr>
          <a:xfrm>
            <a:off x="11034861" y="4333280"/>
            <a:ext cx="580093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참조 파일이 많을수록 지시를 더 구체적으로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9572625" y="5749528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5189041"/>
            <a:ext cx="12511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근거 우선</a:t>
            </a:r>
            <a:endParaRPr lang="en-US" sz="2475" dirty="0"/>
          </a:p>
        </p:txBody>
      </p:sp>
      <p:sp>
        <p:nvSpPr>
          <p:cNvPr id="28" name="Text 25"/>
          <p:cNvSpPr/>
          <p:nvPr/>
        </p:nvSpPr>
        <p:spPr>
          <a:xfrm>
            <a:off x="10957173" y="5141416"/>
            <a:ext cx="528770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파일에 없는 수치는 추정 금지 규칙 명시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9572625" y="5997178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권한</a:t>
            </a:r>
            <a:endParaRPr lang="en-US" sz="2475" dirty="0"/>
          </a:p>
        </p:txBody>
      </p:sp>
      <p:sp>
        <p:nvSpPr>
          <p:cNvPr id="30" name="Text 27"/>
          <p:cNvSpPr/>
          <p:nvPr/>
        </p:nvSpPr>
        <p:spPr>
          <a:xfrm>
            <a:off x="10848975" y="5949553"/>
            <a:ext cx="4391218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000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내가 열 수 있는 파일만 참조 가능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762000" y="6995815"/>
            <a:ext cx="16764000" cy="1589385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047750" y="7449856"/>
            <a:ext cx="16192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1047750" y="7183156"/>
            <a:ext cx="158308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16094422" y="7440331"/>
            <a:ext cx="1145828" cy="1905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6056322" y="7183156"/>
            <a:ext cx="1222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프롬프트 복사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047750" y="7487956"/>
            <a:ext cx="15493454" cy="1173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/files "KT_5G_수도권_기지국_품질지표_2026.xlsx", "KT_2026_5G망_현대화_기술보고서.docx"를 결합해 3분기 수도권 트래픽 집중 구역의 긴급 증설 필요성을 강조하는 3페이지 기안서 초안을 작성해줘.</a:t>
            </a:r>
            <a:endParaRPr lang="en-US" sz="2400" dirty="0"/>
          </a:p>
        </p:txBody>
      </p:sp>
      <p:sp>
        <p:nvSpPr>
          <p:cNvPr id="37" name="Shape 34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39 / 60</a:t>
            </a:r>
            <a:endParaRPr lang="en-US" sz="1650" dirty="0"/>
          </a:p>
        </p:txBody>
      </p:sp>
      <p:sp>
        <p:nvSpPr>
          <p:cNvPr id="40" name="DiffDot1">
            <a:extLst>
              <a:ext uri="{FF2B5EF4-FFF2-40B4-BE49-F238E27FC236}">
                <a16:creationId xmlns:a16="http://schemas.microsoft.com/office/drawing/2014/main" id="{C25E4E7F-3282-4A40-A8FC-9813CA110D5F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ffDot2">
            <a:extLst>
              <a:ext uri="{FF2B5EF4-FFF2-40B4-BE49-F238E27FC236}">
                <a16:creationId xmlns:a16="http://schemas.microsoft.com/office/drawing/2014/main" id="{EFB276F3-2EDB-A74B-B9C2-3FD7E9ACDA42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DiffDot3">
            <a:extLst>
              <a:ext uri="{FF2B5EF4-FFF2-40B4-BE49-F238E27FC236}">
                <a16:creationId xmlns:a16="http://schemas.microsoft.com/office/drawing/2014/main" id="{6E626B5D-392B-854F-82AE-E09BA1F47C74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DiffDot4">
            <a:extLst>
              <a:ext uri="{FF2B5EF4-FFF2-40B4-BE49-F238E27FC236}">
                <a16:creationId xmlns:a16="http://schemas.microsoft.com/office/drawing/2014/main" id="{7E3789A1-CEEC-034D-820C-61A6E690D332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DiffDot5">
            <a:extLst>
              <a:ext uri="{FF2B5EF4-FFF2-40B4-BE49-F238E27FC236}">
                <a16:creationId xmlns:a16="http://schemas.microsoft.com/office/drawing/2014/main" id="{7154831C-C759-0440-B843-B4F41054827D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DiffLabel">
            <a:extLst>
              <a:ext uri="{FF2B5EF4-FFF2-40B4-BE49-F238E27FC236}">
                <a16:creationId xmlns:a16="http://schemas.microsoft.com/office/drawing/2014/main" id="{F8F7CD6A-C8A8-1346-8C2C-F8C3776D8184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  <p:sp>
        <p:nvSpPr>
          <p:cNvPr id="47" name="TroubleshootTitle">
            <a:extLst>
              <a:ext uri="{FF2B5EF4-FFF2-40B4-BE49-F238E27FC236}">
                <a16:creationId xmlns:a16="http://schemas.microsoft.com/office/drawing/2014/main" id="{26E4BE60-7944-2942-AAF9-E766B25E2093}"/>
              </a:ext>
            </a:extLst>
          </p:cNvPr>
          <p:cNvSpPr txBox="1"/>
          <p:nvPr/>
        </p:nvSpPr>
        <p:spPr>
          <a:xfrm>
            <a:off x="1066800" y="87884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" altLang="ko-KR" sz="1400" b="1" dirty="0">
                <a:solidFill>
                  <a:srgbClr val="C25A11"/>
                </a:solidFill>
                <a:latin typeface="BM DoHyeon OTF"/>
                <a:ea typeface="BM DoHyeon OTF"/>
              </a:rPr>
              <a:t>[Troubleshooting]</a:t>
            </a:r>
            <a:endParaRPr lang="ko-KR" altLang="en-US" sz="1400" b="1" dirty="0">
              <a:solidFill>
                <a:srgbClr val="C25A11"/>
              </a:solidFill>
              <a:latin typeface="BM DoHyeon OTF"/>
              <a:ea typeface="BM DoHyeon OTF"/>
            </a:endParaRPr>
          </a:p>
        </p:txBody>
      </p:sp>
      <p:sp>
        <p:nvSpPr>
          <p:cNvPr id="48" name="TroubleshootBody">
            <a:extLst>
              <a:ext uri="{FF2B5EF4-FFF2-40B4-BE49-F238E27FC236}">
                <a16:creationId xmlns:a16="http://schemas.microsoft.com/office/drawing/2014/main" id="{CF60B70E-A66D-244C-9165-ED44AC4DFA00}"/>
              </a:ext>
            </a:extLst>
          </p:cNvPr>
          <p:cNvSpPr txBox="1"/>
          <p:nvPr/>
        </p:nvSpPr>
        <p:spPr>
          <a:xfrm>
            <a:off x="1066800" y="9093200"/>
            <a:ext cx="16154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① 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분석도구 에이전트로 </a:t>
            </a:r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20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개 파일의 </a:t>
            </a:r>
            <a:r>
              <a:rPr lang="ko-KR" altLang="en-US" sz="1400" dirty="0" err="1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컬럼명</a:t>
            </a:r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·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형식이 다르면 표준 스키마를 먼저 정의해 매핑 후 통합 요청  </a:t>
            </a:r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② 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일부 파일 누락 시 목록을 다시 지정해 </a:t>
            </a:r>
            <a:r>
              <a:rPr lang="ko-KR" altLang="en-US" sz="1400" dirty="0" err="1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재요청</a:t>
            </a:r>
            <a:endParaRPr lang="ko-KR" altLang="en-US" sz="1400" dirty="0">
              <a:solidFill>
                <a:srgbClr val="595959"/>
              </a:solidFill>
              <a:latin typeface="BM DoHyeon OTF" panose="020B0600000101010101" pitchFamily="34" charset="-127"/>
              <a:ea typeface="BM DoHyeon 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92372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roubleshootBox">
            <a:extLst>
              <a:ext uri="{FF2B5EF4-FFF2-40B4-BE49-F238E27FC236}">
                <a16:creationId xmlns:a16="http://schemas.microsoft.com/office/drawing/2014/main" id="{14F330D7-4FBF-E44E-BBBA-09C856F098F1}"/>
              </a:ext>
            </a:extLst>
          </p:cNvPr>
          <p:cNvSpPr/>
          <p:nvPr/>
        </p:nvSpPr>
        <p:spPr>
          <a:xfrm>
            <a:off x="762000" y="8712200"/>
            <a:ext cx="16764000" cy="787400"/>
          </a:xfrm>
          <a:prstGeom prst="roundRect">
            <a:avLst/>
          </a:prstGeom>
          <a:solidFill>
            <a:srgbClr val="FFF4EC"/>
          </a:solidFill>
          <a:ln w="12700" cap="flat" cmpd="sng" algn="ctr">
            <a:solidFill>
              <a:srgbClr val="ED7D3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0049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32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217354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74554" y="623888"/>
            <a:ext cx="9276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0049A3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WORD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32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CAPEX 분석과 경영진 기안서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노후 장비 교체 투자비와 OPEX 절감 효과를 기안서로 정리합니다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594199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분석 항목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4941391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380905"/>
            <a:ext cx="115416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4대 투자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49512" y="4333280"/>
            <a:ext cx="5048027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코어망 · 무선망 · 전송망 · 지능형 관제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762000" y="5749528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5189041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지표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38350" y="5141416"/>
            <a:ext cx="5619705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CAPEX, 연간 OPEX 절감, MTTR 개선율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62000" y="5997178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결과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038350" y="5949553"/>
            <a:ext cx="443820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3년 누적 절감액과 투자 회수기간</a:t>
            </a: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9144000" y="3346549"/>
            <a:ext cx="9525" cy="345876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3594199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작성 규칙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9572625" y="4941391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572625" y="4380905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근거</a:t>
            </a: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10848975" y="4333280"/>
            <a:ext cx="3330699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CSV에 있는 수치만 사용</a:t>
            </a: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9572625" y="5749528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5189041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표</a:t>
            </a: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10848975" y="5141416"/>
            <a:ext cx="4151546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투자비·절감액·회수기간을 표로</a:t>
            </a: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9572625" y="5997178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요약</a:t>
            </a: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10848975" y="5949553"/>
            <a:ext cx="3840495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경영진 판단용 핵심 효과 3줄</a:t>
            </a: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762000" y="6938665"/>
            <a:ext cx="16764000" cy="1646535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047750" y="7487434"/>
            <a:ext cx="16192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1047750" y="7220734"/>
            <a:ext cx="158308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16094422" y="7477909"/>
            <a:ext cx="1145828" cy="1905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6056322" y="7220734"/>
            <a:ext cx="1222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프롬프트 복사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047750" y="7558757"/>
            <a:ext cx="16427450" cy="1012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/files "KT_5G_설비투자_CAPEX_예산안_2026.csv"를 근거로 4대 투자 항목의 설비투자 기안서 초안을 작성해줘. </a:t>
            </a:r>
          </a:p>
          <a:p>
            <a:pPr marL="0" indent="0" algn="l">
              <a:lnSpc>
                <a:spcPct val="131250"/>
              </a:lnSpc>
              <a:buNone/>
            </a:pPr>
            <a:r>
              <a:rPr lang="en-US" sz="2400" dirty="0" err="1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항목별</a:t>
            </a: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 CAPEX·연간 절감액·3년 누적 절감액·회수기간을 표로 정리하고, 파일에 없는 수치는 만들지 말아줘.</a:t>
            </a:r>
            <a:endParaRPr lang="en-US" sz="2400" dirty="0"/>
          </a:p>
        </p:txBody>
      </p:sp>
      <p:sp>
        <p:nvSpPr>
          <p:cNvPr id="37" name="Shape 34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40 / 60</a:t>
            </a:r>
            <a:endParaRPr lang="en-US" sz="1650" dirty="0"/>
          </a:p>
        </p:txBody>
      </p:sp>
      <p:sp>
        <p:nvSpPr>
          <p:cNvPr id="40" name="DiffDot1">
            <a:extLst>
              <a:ext uri="{FF2B5EF4-FFF2-40B4-BE49-F238E27FC236}">
                <a16:creationId xmlns:a16="http://schemas.microsoft.com/office/drawing/2014/main" id="{F24A0521-E265-E142-8A22-DB90A86963D2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ffDot2">
            <a:extLst>
              <a:ext uri="{FF2B5EF4-FFF2-40B4-BE49-F238E27FC236}">
                <a16:creationId xmlns:a16="http://schemas.microsoft.com/office/drawing/2014/main" id="{559B70FF-580A-C84F-895F-CCCFDB347879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DiffDot3">
            <a:extLst>
              <a:ext uri="{FF2B5EF4-FFF2-40B4-BE49-F238E27FC236}">
                <a16:creationId xmlns:a16="http://schemas.microsoft.com/office/drawing/2014/main" id="{0D4B946E-AF03-9E41-82D1-A06C64337D0D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DiffDot4">
            <a:extLst>
              <a:ext uri="{FF2B5EF4-FFF2-40B4-BE49-F238E27FC236}">
                <a16:creationId xmlns:a16="http://schemas.microsoft.com/office/drawing/2014/main" id="{2BE5161E-881F-0844-AA9C-347DE0E01CA5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DiffDot5">
            <a:extLst>
              <a:ext uri="{FF2B5EF4-FFF2-40B4-BE49-F238E27FC236}">
                <a16:creationId xmlns:a16="http://schemas.microsoft.com/office/drawing/2014/main" id="{648248A1-1F70-6549-9178-B1825100846F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DiffLabel">
            <a:extLst>
              <a:ext uri="{FF2B5EF4-FFF2-40B4-BE49-F238E27FC236}">
                <a16:creationId xmlns:a16="http://schemas.microsoft.com/office/drawing/2014/main" id="{BE90EEFA-18FB-6447-89B8-B39B80E6FADD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  <p:sp>
        <p:nvSpPr>
          <p:cNvPr id="47" name="TroubleshootTitle">
            <a:extLst>
              <a:ext uri="{FF2B5EF4-FFF2-40B4-BE49-F238E27FC236}">
                <a16:creationId xmlns:a16="http://schemas.microsoft.com/office/drawing/2014/main" id="{46F77CD9-921A-BE49-9745-5EF18BCC3292}"/>
              </a:ext>
            </a:extLst>
          </p:cNvPr>
          <p:cNvSpPr txBox="1"/>
          <p:nvPr/>
        </p:nvSpPr>
        <p:spPr>
          <a:xfrm>
            <a:off x="1066800" y="8790332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" altLang="ko-KR" sz="1400" b="1" dirty="0">
                <a:solidFill>
                  <a:srgbClr val="C25A11"/>
                </a:solidFill>
                <a:latin typeface="BM DoHyeon OTF"/>
                <a:ea typeface="BM DoHyeon OTF"/>
              </a:rPr>
              <a:t>[Troubleshooting]</a:t>
            </a:r>
            <a:endParaRPr lang="ko-KR" altLang="en-US" sz="1400" b="1" dirty="0">
              <a:solidFill>
                <a:srgbClr val="C25A11"/>
              </a:solidFill>
              <a:latin typeface="BM DoHyeon OTF"/>
              <a:ea typeface="BM DoHyeon OTF"/>
            </a:endParaRPr>
          </a:p>
        </p:txBody>
      </p:sp>
      <p:sp>
        <p:nvSpPr>
          <p:cNvPr id="48" name="TroubleshootBody">
            <a:extLst>
              <a:ext uri="{FF2B5EF4-FFF2-40B4-BE49-F238E27FC236}">
                <a16:creationId xmlns:a16="http://schemas.microsoft.com/office/drawing/2014/main" id="{45925D20-2692-5B49-9926-ACFD27B19D07}"/>
              </a:ext>
            </a:extLst>
          </p:cNvPr>
          <p:cNvSpPr txBox="1"/>
          <p:nvPr/>
        </p:nvSpPr>
        <p:spPr>
          <a:xfrm>
            <a:off x="1066800" y="9093200"/>
            <a:ext cx="16154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① CAPEX·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절감액 수치가 파일에 없으면 임의 생성 대신 </a:t>
            </a:r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"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확인 필요</a:t>
            </a:r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"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로 표시되었는지 검증  </a:t>
            </a:r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② 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회수기간 계산식이 항목별로 정확한지 재확인</a:t>
            </a:r>
          </a:p>
        </p:txBody>
      </p:sp>
    </p:spTree>
    <p:extLst>
      <p:ext uri="{BB962C8B-B14F-4D97-AF65-F5344CB8AC3E}">
        <p14:creationId xmlns:p14="http://schemas.microsoft.com/office/powerpoint/2010/main" val="8408716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roubleshootBox">
            <a:extLst>
              <a:ext uri="{FF2B5EF4-FFF2-40B4-BE49-F238E27FC236}">
                <a16:creationId xmlns:a16="http://schemas.microsoft.com/office/drawing/2014/main" id="{0086F5EA-7E26-7442-BCBB-BD80BD5DF6B9}"/>
              </a:ext>
            </a:extLst>
          </p:cNvPr>
          <p:cNvSpPr/>
          <p:nvPr/>
        </p:nvSpPr>
        <p:spPr>
          <a:xfrm>
            <a:off x="762000" y="8712200"/>
            <a:ext cx="16764000" cy="787400"/>
          </a:xfrm>
          <a:prstGeom prst="roundRect">
            <a:avLst/>
          </a:prstGeom>
          <a:solidFill>
            <a:srgbClr val="FFF4EC"/>
          </a:solidFill>
          <a:ln w="12700" cap="flat" cmpd="sng" algn="ctr">
            <a:solidFill>
              <a:srgbClr val="ED7D3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0049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33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217354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74554" y="623888"/>
            <a:ext cx="9276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0049A3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WORD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33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5G SA 코어망 흐름 시각화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제어 평면과 사용자 평면 인터페이스를 다이어그램으로 생성합니다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594199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구성 요소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4941391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380905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노드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38350" y="4333280"/>
            <a:ext cx="5094521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UE, gNodeB, AMF, SMF, UPF, DN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762000" y="5749528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5189041"/>
            <a:ext cx="12511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제어 평면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146548" y="5141416"/>
            <a:ext cx="174434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N1, N2, N11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62000" y="5997178"/>
            <a:ext cx="15915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사용자 평면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418457" y="5949553"/>
            <a:ext cx="1721748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N3, N4, N6</a:t>
            </a: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9144000" y="3346549"/>
            <a:ext cx="9525" cy="345876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3594199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검증 포인트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9572625" y="4941391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572625" y="4380905"/>
            <a:ext cx="12511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표준 정합</a:t>
            </a: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10957173" y="4333280"/>
            <a:ext cx="5662925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3GPP 5G SA 구조와 연결 대상 일치 확인</a:t>
            </a: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9572625" y="5749528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5189041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라벨</a:t>
            </a: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10848975" y="5141416"/>
            <a:ext cx="3157165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인터페이스 이름 정확도</a:t>
            </a: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9572625" y="5997178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구분</a:t>
            </a: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10848975" y="5949553"/>
            <a:ext cx="3851955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CP와 UP를 시각적으로 분리</a:t>
            </a: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762000" y="6957716"/>
            <a:ext cx="16764000" cy="1687809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047750" y="7487434"/>
            <a:ext cx="16192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1047750" y="7220734"/>
            <a:ext cx="158308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16094422" y="7478543"/>
            <a:ext cx="1145828" cy="1905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6056322" y="7220734"/>
            <a:ext cx="1222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프롬프트 복사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047750" y="7631520"/>
            <a:ext cx="16427450" cy="1025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5G SA 구조에서 UE, gNodeB, AMF, SMF, UPF, DN 간 제어 평면과 사용자 평면 흐름을 Mermaid flowchart로 작성해줘. N1·N2·N3·N4·N6·N11 인터페이스를 라벨링하고 CP/UP를 구분해줘.</a:t>
            </a:r>
            <a:endParaRPr lang="en-US" sz="2400" dirty="0"/>
          </a:p>
        </p:txBody>
      </p:sp>
      <p:sp>
        <p:nvSpPr>
          <p:cNvPr id="37" name="Shape 34"/>
          <p:cNvSpPr/>
          <p:nvPr/>
        </p:nvSpPr>
        <p:spPr>
          <a:xfrm>
            <a:off x="762000" y="9730636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62000" y="9806836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16650444" y="9806836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41 / 60</a:t>
            </a:r>
            <a:endParaRPr lang="en-US" sz="1650" dirty="0"/>
          </a:p>
        </p:txBody>
      </p:sp>
      <p:sp>
        <p:nvSpPr>
          <p:cNvPr id="40" name="DiffDot1">
            <a:extLst>
              <a:ext uri="{FF2B5EF4-FFF2-40B4-BE49-F238E27FC236}">
                <a16:creationId xmlns:a16="http://schemas.microsoft.com/office/drawing/2014/main" id="{65ADC0D9-59C1-804E-A8B8-C98C66011316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ffDot2">
            <a:extLst>
              <a:ext uri="{FF2B5EF4-FFF2-40B4-BE49-F238E27FC236}">
                <a16:creationId xmlns:a16="http://schemas.microsoft.com/office/drawing/2014/main" id="{4A1D67D7-A176-1846-B294-79FDAA230BCC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DiffDot3">
            <a:extLst>
              <a:ext uri="{FF2B5EF4-FFF2-40B4-BE49-F238E27FC236}">
                <a16:creationId xmlns:a16="http://schemas.microsoft.com/office/drawing/2014/main" id="{24A988B7-2D58-994B-99E0-76E7B2DCFA93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DiffDot4">
            <a:extLst>
              <a:ext uri="{FF2B5EF4-FFF2-40B4-BE49-F238E27FC236}">
                <a16:creationId xmlns:a16="http://schemas.microsoft.com/office/drawing/2014/main" id="{0B61F075-8860-674D-87C0-4EA3821E6E56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DiffDot5">
            <a:extLst>
              <a:ext uri="{FF2B5EF4-FFF2-40B4-BE49-F238E27FC236}">
                <a16:creationId xmlns:a16="http://schemas.microsoft.com/office/drawing/2014/main" id="{EE313D6B-6EFA-CC45-847F-BC5B2E091819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DiffLabel">
            <a:extLst>
              <a:ext uri="{FF2B5EF4-FFF2-40B4-BE49-F238E27FC236}">
                <a16:creationId xmlns:a16="http://schemas.microsoft.com/office/drawing/2014/main" id="{D541010D-AE88-474D-A371-5E31EAD63B9E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  <p:sp>
        <p:nvSpPr>
          <p:cNvPr id="47" name="TroubleshootTitle">
            <a:extLst>
              <a:ext uri="{FF2B5EF4-FFF2-40B4-BE49-F238E27FC236}">
                <a16:creationId xmlns:a16="http://schemas.microsoft.com/office/drawing/2014/main" id="{C7C726A9-016B-FD4C-ACE7-019BFBDDF3F6}"/>
              </a:ext>
            </a:extLst>
          </p:cNvPr>
          <p:cNvSpPr txBox="1"/>
          <p:nvPr/>
        </p:nvSpPr>
        <p:spPr>
          <a:xfrm>
            <a:off x="1104900" y="8791597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" altLang="ko-KR" sz="1400" b="1" dirty="0">
                <a:solidFill>
                  <a:srgbClr val="C25A11"/>
                </a:solidFill>
                <a:latin typeface="BM DoHyeon OTF"/>
                <a:ea typeface="BM DoHyeon OTF"/>
              </a:rPr>
              <a:t>[Troubleshooting]</a:t>
            </a:r>
            <a:endParaRPr lang="ko-KR" altLang="en-US" sz="1400" b="1" dirty="0">
              <a:solidFill>
                <a:srgbClr val="C25A11"/>
              </a:solidFill>
              <a:latin typeface="BM DoHyeon OTF"/>
              <a:ea typeface="BM DoHyeon OTF"/>
            </a:endParaRPr>
          </a:p>
        </p:txBody>
      </p:sp>
      <p:sp>
        <p:nvSpPr>
          <p:cNvPr id="48" name="TroubleshootBody">
            <a:extLst>
              <a:ext uri="{FF2B5EF4-FFF2-40B4-BE49-F238E27FC236}">
                <a16:creationId xmlns:a16="http://schemas.microsoft.com/office/drawing/2014/main" id="{757EE2CB-585F-7440-AEEC-6893BBE6D6F7}"/>
              </a:ext>
            </a:extLst>
          </p:cNvPr>
          <p:cNvSpPr txBox="1"/>
          <p:nvPr/>
        </p:nvSpPr>
        <p:spPr>
          <a:xfrm>
            <a:off x="901700" y="9070997"/>
            <a:ext cx="16154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" altLang="ko-KR" sz="140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① Mermaid </a:t>
            </a:r>
            <a:r>
              <a:rPr lang="ko-KR" altLang="en-US" sz="140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코드가 렌더링되지 않으면 문법 오류 라인을 지적해 재요청  </a:t>
            </a:r>
            <a:r>
              <a:rPr lang="en-US" altLang="ko-KR" sz="140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② </a:t>
            </a:r>
            <a:r>
              <a:rPr lang="en" altLang="ko-KR" sz="140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N1~N6 </a:t>
            </a:r>
            <a:r>
              <a:rPr lang="ko-KR" altLang="en-US" sz="140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인터페이스 라벨과 </a:t>
            </a:r>
            <a:r>
              <a:rPr lang="en" altLang="ko-KR" sz="140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CP/UP </a:t>
            </a:r>
            <a:r>
              <a:rPr lang="ko-KR" altLang="en-US" sz="140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구분이 누락되지 않았는지 확인</a:t>
            </a:r>
          </a:p>
        </p:txBody>
      </p:sp>
    </p:spTree>
    <p:extLst>
      <p:ext uri="{BB962C8B-B14F-4D97-AF65-F5344CB8AC3E}">
        <p14:creationId xmlns:p14="http://schemas.microsoft.com/office/powerpoint/2010/main" val="19477574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roubleshootBox">
            <a:extLst>
              <a:ext uri="{FF2B5EF4-FFF2-40B4-BE49-F238E27FC236}">
                <a16:creationId xmlns:a16="http://schemas.microsoft.com/office/drawing/2014/main" id="{7E37C769-E421-A24B-96D8-BB2DA57A8B3D}"/>
              </a:ext>
            </a:extLst>
          </p:cNvPr>
          <p:cNvSpPr/>
          <p:nvPr/>
        </p:nvSpPr>
        <p:spPr>
          <a:xfrm>
            <a:off x="762000" y="8712200"/>
            <a:ext cx="16764000" cy="787400"/>
          </a:xfrm>
          <a:prstGeom prst="roundRect">
            <a:avLst/>
          </a:prstGeom>
          <a:solidFill>
            <a:srgbClr val="FFF4EC"/>
          </a:solidFill>
          <a:ln w="12700" cap="flat" cmpd="sng" algn="ctr">
            <a:solidFill>
              <a:srgbClr val="ED7D3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0049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34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217354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74554" y="623888"/>
            <a:ext cx="9276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0049A3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WORD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34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다중 소스 기반 SOP 작성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Excel 분석 + 표준 매뉴얼 + Teams 회의를 결합한 표준 작업 절차서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594199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입력 자료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4941391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380905"/>
            <a:ext cx="1143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Excel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2038350" y="4333280"/>
            <a:ext cx="4557385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5G_KPI_분석결과.xlsx 통계 시트</a:t>
            </a:r>
            <a:endParaRPr lang="en-US" sz="2475" dirty="0"/>
          </a:p>
        </p:txBody>
      </p:sp>
      <p:sp>
        <p:nvSpPr>
          <p:cNvPr id="16" name="Shape 13"/>
          <p:cNvSpPr/>
          <p:nvPr/>
        </p:nvSpPr>
        <p:spPr>
          <a:xfrm>
            <a:off x="762000" y="5749528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5189041"/>
            <a:ext cx="1143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Word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2038350" y="5141416"/>
            <a:ext cx="3805952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L3스위치_표준매뉴얼.docx</a:t>
            </a:r>
            <a:endParaRPr lang="en-US" sz="2475" dirty="0"/>
          </a:p>
        </p:txBody>
      </p:sp>
      <p:sp>
        <p:nvSpPr>
          <p:cNvPr id="19" name="Text 16"/>
          <p:cNvSpPr/>
          <p:nvPr/>
        </p:nvSpPr>
        <p:spPr>
          <a:xfrm>
            <a:off x="762000" y="5997178"/>
            <a:ext cx="1143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Teams</a:t>
            </a:r>
            <a:endParaRPr lang="en-US" sz="2475" dirty="0"/>
          </a:p>
        </p:txBody>
      </p:sp>
      <p:sp>
        <p:nvSpPr>
          <p:cNvPr id="20" name="Text 17"/>
          <p:cNvSpPr/>
          <p:nvPr/>
        </p:nvSpPr>
        <p:spPr>
          <a:xfrm>
            <a:off x="2038350" y="5949553"/>
            <a:ext cx="2643932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장애 대책 회의 기록</a:t>
            </a:r>
            <a:endParaRPr lang="en-US" sz="2475" dirty="0"/>
          </a:p>
        </p:txBody>
      </p:sp>
      <p:sp>
        <p:nvSpPr>
          <p:cNvPr id="21" name="Shape 18"/>
          <p:cNvSpPr/>
          <p:nvPr/>
        </p:nvSpPr>
        <p:spPr>
          <a:xfrm>
            <a:off x="9144000" y="3346549"/>
            <a:ext cx="9525" cy="345876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3594199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필수 구성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9572625" y="4941391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572625" y="4380905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절차</a:t>
            </a:r>
            <a:endParaRPr lang="en-US" sz="2475" dirty="0"/>
          </a:p>
        </p:txBody>
      </p:sp>
      <p:sp>
        <p:nvSpPr>
          <p:cNvPr id="25" name="Text 22"/>
          <p:cNvSpPr/>
          <p:nvPr/>
        </p:nvSpPr>
        <p:spPr>
          <a:xfrm>
            <a:off x="10848975" y="4333280"/>
            <a:ext cx="397588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목적 · 사전 점검 · 단계별 작업</a:t>
            </a:r>
            <a:endParaRPr lang="en-US" sz="2475" dirty="0"/>
          </a:p>
        </p:txBody>
      </p:sp>
      <p:sp>
        <p:nvSpPr>
          <p:cNvPr id="26" name="Shape 23"/>
          <p:cNvSpPr/>
          <p:nvPr/>
        </p:nvSpPr>
        <p:spPr>
          <a:xfrm>
            <a:off x="9572625" y="5749528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5189041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검증</a:t>
            </a:r>
            <a:endParaRPr lang="en-US" sz="2475" dirty="0"/>
          </a:p>
        </p:txBody>
      </p:sp>
      <p:sp>
        <p:nvSpPr>
          <p:cNvPr id="28" name="Text 25"/>
          <p:cNvSpPr/>
          <p:nvPr/>
        </p:nvSpPr>
        <p:spPr>
          <a:xfrm>
            <a:off x="10848975" y="5141416"/>
            <a:ext cx="3241477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검증 방법과 롤백 가이드</a:t>
            </a:r>
            <a:endParaRPr lang="en-US" sz="2475" dirty="0"/>
          </a:p>
        </p:txBody>
      </p:sp>
      <p:sp>
        <p:nvSpPr>
          <p:cNvPr id="29" name="Text 26"/>
          <p:cNvSpPr/>
          <p:nvPr/>
        </p:nvSpPr>
        <p:spPr>
          <a:xfrm>
            <a:off x="9572625" y="5997178"/>
            <a:ext cx="116383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안전장치</a:t>
            </a:r>
            <a:endParaRPr lang="en-US" sz="2475" dirty="0"/>
          </a:p>
        </p:txBody>
      </p:sp>
      <p:sp>
        <p:nvSpPr>
          <p:cNvPr id="30" name="Text 27"/>
          <p:cNvSpPr/>
          <p:nvPr/>
        </p:nvSpPr>
        <p:spPr>
          <a:xfrm>
            <a:off x="10869811" y="5949553"/>
            <a:ext cx="4521205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매뉴얼에 없는 명령어는 생성 금지</a:t>
            </a:r>
            <a:endParaRPr lang="en-US" sz="2475" dirty="0"/>
          </a:p>
        </p:txBody>
      </p:sp>
      <p:sp>
        <p:nvSpPr>
          <p:cNvPr id="31" name="Shape 28"/>
          <p:cNvSpPr/>
          <p:nvPr/>
        </p:nvSpPr>
        <p:spPr>
          <a:xfrm>
            <a:off x="762000" y="7052965"/>
            <a:ext cx="16764000" cy="1532235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047750" y="7575116"/>
            <a:ext cx="16192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1047750" y="7308416"/>
            <a:ext cx="158308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16094422" y="7565591"/>
            <a:ext cx="1145828" cy="1905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6056322" y="7308416"/>
            <a:ext cx="1222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프롬프트 복사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047750" y="7610041"/>
            <a:ext cx="16427450" cy="962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첨부 자료를 종합해 "수도권 코어망 긴급 증설 및 장애 대응 SOP" 초안을 작성해줘. 목적·사전 점검·체크리스트·단계별 절차·명령어·검증 방법·롤백 가이드를 포함하고, 자료에 없는 내용은 "확인 필요", 매뉴얼에 없는 명령어는 "매뉴얼 확인 필요"로 표시해줘.</a:t>
            </a:r>
            <a:endParaRPr lang="en-US" sz="2400" dirty="0"/>
          </a:p>
        </p:txBody>
      </p:sp>
      <p:sp>
        <p:nvSpPr>
          <p:cNvPr id="37" name="Shape 34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42 / 60</a:t>
            </a:r>
            <a:endParaRPr lang="en-US" sz="1650" dirty="0"/>
          </a:p>
        </p:txBody>
      </p:sp>
      <p:sp>
        <p:nvSpPr>
          <p:cNvPr id="40" name="DiffDot1">
            <a:extLst>
              <a:ext uri="{FF2B5EF4-FFF2-40B4-BE49-F238E27FC236}">
                <a16:creationId xmlns:a16="http://schemas.microsoft.com/office/drawing/2014/main" id="{C2A62B17-4802-EF45-8692-8A306C2F70CC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ffDot2">
            <a:extLst>
              <a:ext uri="{FF2B5EF4-FFF2-40B4-BE49-F238E27FC236}">
                <a16:creationId xmlns:a16="http://schemas.microsoft.com/office/drawing/2014/main" id="{CE4EFAA7-3CCA-1A4E-8D84-3AE76F17E280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DiffDot3">
            <a:extLst>
              <a:ext uri="{FF2B5EF4-FFF2-40B4-BE49-F238E27FC236}">
                <a16:creationId xmlns:a16="http://schemas.microsoft.com/office/drawing/2014/main" id="{29112606-F61B-C241-B538-752D07ECA47B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DiffDot4">
            <a:extLst>
              <a:ext uri="{FF2B5EF4-FFF2-40B4-BE49-F238E27FC236}">
                <a16:creationId xmlns:a16="http://schemas.microsoft.com/office/drawing/2014/main" id="{639032CC-96BA-CF4A-A1DD-B209F14C9599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DiffDot5">
            <a:extLst>
              <a:ext uri="{FF2B5EF4-FFF2-40B4-BE49-F238E27FC236}">
                <a16:creationId xmlns:a16="http://schemas.microsoft.com/office/drawing/2014/main" id="{A2BA5C54-19AE-D54D-A708-E14EB3080851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DiffLabel">
            <a:extLst>
              <a:ext uri="{FF2B5EF4-FFF2-40B4-BE49-F238E27FC236}">
                <a16:creationId xmlns:a16="http://schemas.microsoft.com/office/drawing/2014/main" id="{608970A3-9758-8640-AC8E-48EC02FFA1D7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  <p:sp>
        <p:nvSpPr>
          <p:cNvPr id="47" name="TroubleshootTitle">
            <a:extLst>
              <a:ext uri="{FF2B5EF4-FFF2-40B4-BE49-F238E27FC236}">
                <a16:creationId xmlns:a16="http://schemas.microsoft.com/office/drawing/2014/main" id="{B7CCDC4C-6CB1-F843-8915-AF9A2E2BDEE4}"/>
              </a:ext>
            </a:extLst>
          </p:cNvPr>
          <p:cNvSpPr txBox="1"/>
          <p:nvPr/>
        </p:nvSpPr>
        <p:spPr>
          <a:xfrm>
            <a:off x="1270000" y="88265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" altLang="ko-KR" sz="1400" b="1">
                <a:solidFill>
                  <a:srgbClr val="C25A11"/>
                </a:solidFill>
                <a:latin typeface="BM DoHyeon OTF"/>
                <a:ea typeface="BM DoHyeon OTF"/>
              </a:rPr>
              <a:t>[Troubleshooting]</a:t>
            </a:r>
            <a:endParaRPr lang="ko-KR" altLang="en-US" sz="1400" b="1">
              <a:solidFill>
                <a:srgbClr val="C25A11"/>
              </a:solidFill>
              <a:latin typeface="BM DoHyeon OTF"/>
              <a:ea typeface="BM DoHyeon OTF"/>
            </a:endParaRPr>
          </a:p>
        </p:txBody>
      </p:sp>
      <p:sp>
        <p:nvSpPr>
          <p:cNvPr id="48" name="TroubleshootBody">
            <a:extLst>
              <a:ext uri="{FF2B5EF4-FFF2-40B4-BE49-F238E27FC236}">
                <a16:creationId xmlns:a16="http://schemas.microsoft.com/office/drawing/2014/main" id="{D4E8E8EA-69AB-B94A-9926-0CE58F269993}"/>
              </a:ext>
            </a:extLst>
          </p:cNvPr>
          <p:cNvSpPr txBox="1"/>
          <p:nvPr/>
        </p:nvSpPr>
        <p:spPr>
          <a:xfrm>
            <a:off x="1066800" y="9093200"/>
            <a:ext cx="16154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① 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자료에 없는 내용이 </a:t>
            </a:r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"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확인 필요</a:t>
            </a:r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"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로 정확히 표시되는지 검증  </a:t>
            </a:r>
            <a:r>
              <a:rPr lang="en-US" altLang="ko-KR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② 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매뉴얼 </a:t>
            </a:r>
            <a:r>
              <a:rPr lang="ko-KR" altLang="en-US" sz="1400" dirty="0" err="1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미기재</a:t>
            </a:r>
            <a:r>
              <a:rPr lang="ko-KR" altLang="en-US" sz="1400" dirty="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 명령어가 임의로 채워지지 않았는지 재확인</a:t>
            </a:r>
          </a:p>
        </p:txBody>
      </p:sp>
    </p:spTree>
    <p:extLst>
      <p:ext uri="{BB962C8B-B14F-4D97-AF65-F5344CB8AC3E}">
        <p14:creationId xmlns:p14="http://schemas.microsoft.com/office/powerpoint/2010/main" val="12172812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EF68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35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177343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634543" y="623888"/>
            <a:ext cx="19676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EF6800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POWERPOINT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35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프레젠테이션 제작 4단계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브리프 → 초안 → 다듬기 → 검토 순서로 만듭니다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4113609"/>
            <a:ext cx="414909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30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1. 브리프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62000" y="4704159"/>
            <a:ext cx="414909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424"/>
              </a:lnSpc>
              <a:buNone/>
            </a:pPr>
            <a:r>
              <a:rPr lang="en-US" sz="2175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STEP 1</a:t>
            </a:r>
            <a:endParaRPr lang="en-US" sz="2175" dirty="0"/>
          </a:p>
        </p:txBody>
      </p:sp>
      <p:sp>
        <p:nvSpPr>
          <p:cNvPr id="14" name="Text 11"/>
          <p:cNvSpPr/>
          <p:nvPr/>
        </p:nvSpPr>
        <p:spPr>
          <a:xfrm>
            <a:off x="762000" y="5466606"/>
            <a:ext cx="228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—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66800" y="5295156"/>
            <a:ext cx="3571113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941"/>
              </a:lnSpc>
              <a:buNone/>
            </a:pPr>
            <a:r>
              <a:rPr lang="en-US" sz="2250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목적 · 청중 · 핵심 메시지 · 분량 정의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4953000" y="3865959"/>
            <a:ext cx="9525" cy="2505521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381625" y="4113609"/>
            <a:ext cx="367760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30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2. 초안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5381625" y="4704159"/>
            <a:ext cx="3677602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424"/>
              </a:lnSpc>
              <a:buNone/>
            </a:pPr>
            <a:r>
              <a:rPr lang="en-US" sz="2175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STEP 2</a:t>
            </a:r>
            <a:endParaRPr lang="en-US" sz="2175" dirty="0"/>
          </a:p>
        </p:txBody>
      </p:sp>
      <p:sp>
        <p:nvSpPr>
          <p:cNvPr id="19" name="Text 16"/>
          <p:cNvSpPr/>
          <p:nvPr/>
        </p:nvSpPr>
        <p:spPr>
          <a:xfrm>
            <a:off x="5381625" y="5466606"/>
            <a:ext cx="228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686425" y="5295156"/>
            <a:ext cx="312962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941"/>
              </a:lnSpc>
              <a:buNone/>
            </a:pPr>
            <a:r>
              <a:rPr lang="en-US" sz="2250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참조 문서에서 핵심 추출, 슬라이드 초안 생성</a:t>
            </a:r>
            <a:endParaRPr lang="en-US" sz="2250" dirty="0"/>
          </a:p>
        </p:txBody>
      </p:sp>
      <p:sp>
        <p:nvSpPr>
          <p:cNvPr id="21" name="Shape 18"/>
          <p:cNvSpPr/>
          <p:nvPr/>
        </p:nvSpPr>
        <p:spPr>
          <a:xfrm>
            <a:off x="9144000" y="3865959"/>
            <a:ext cx="9525" cy="2505521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4113609"/>
            <a:ext cx="367760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30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3. 다듬기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9572625" y="4704159"/>
            <a:ext cx="3677602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424"/>
              </a:lnSpc>
              <a:buNone/>
            </a:pPr>
            <a:r>
              <a:rPr lang="en-US" sz="2175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STEP 3</a:t>
            </a:r>
            <a:endParaRPr lang="en-US" sz="2175" dirty="0"/>
          </a:p>
        </p:txBody>
      </p:sp>
      <p:sp>
        <p:nvSpPr>
          <p:cNvPr id="24" name="Text 21"/>
          <p:cNvSpPr/>
          <p:nvPr/>
        </p:nvSpPr>
        <p:spPr>
          <a:xfrm>
            <a:off x="9572625" y="5466606"/>
            <a:ext cx="228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—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877425" y="5295156"/>
            <a:ext cx="312962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941"/>
              </a:lnSpc>
              <a:buNone/>
            </a:pPr>
            <a:r>
              <a:rPr lang="en-US" sz="2250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전문가 어조, 문장 압축, 시각 요소 보강</a:t>
            </a:r>
            <a:endParaRPr lang="en-US" sz="2250" dirty="0"/>
          </a:p>
        </p:txBody>
      </p:sp>
      <p:sp>
        <p:nvSpPr>
          <p:cNvPr id="26" name="Shape 23"/>
          <p:cNvSpPr/>
          <p:nvPr/>
        </p:nvSpPr>
        <p:spPr>
          <a:xfrm>
            <a:off x="13335000" y="3865959"/>
            <a:ext cx="9525" cy="2505521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13763625" y="4113609"/>
            <a:ext cx="413861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30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4. 검토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13763625" y="4704159"/>
            <a:ext cx="4138612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424"/>
              </a:lnSpc>
              <a:buNone/>
            </a:pPr>
            <a:r>
              <a:rPr lang="en-US" sz="2175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STEP 4</a:t>
            </a:r>
            <a:endParaRPr lang="en-US" sz="2175" dirty="0"/>
          </a:p>
        </p:txBody>
      </p:sp>
      <p:sp>
        <p:nvSpPr>
          <p:cNvPr id="29" name="Text 26"/>
          <p:cNvSpPr/>
          <p:nvPr/>
        </p:nvSpPr>
        <p:spPr>
          <a:xfrm>
            <a:off x="13763625" y="5466606"/>
            <a:ext cx="228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—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4068425" y="5295156"/>
            <a:ext cx="3561302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941"/>
              </a:lnSpc>
              <a:buNone/>
            </a:pPr>
            <a:r>
              <a:rPr lang="en-US" sz="2250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논리 흐름 점검, Action Items 추출</a:t>
            </a:r>
            <a:endParaRPr lang="en-US" sz="2250" dirty="0"/>
          </a:p>
        </p:txBody>
      </p:sp>
      <p:sp>
        <p:nvSpPr>
          <p:cNvPr id="31" name="Shape 28"/>
          <p:cNvSpPr/>
          <p:nvPr/>
        </p:nvSpPr>
        <p:spPr>
          <a:xfrm>
            <a:off x="762000" y="7218909"/>
            <a:ext cx="16764000" cy="2096541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047750" y="7891398"/>
            <a:ext cx="16192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1047750" y="7481823"/>
            <a:ext cx="158308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16094422" y="7738998"/>
            <a:ext cx="1145828" cy="19050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6056322" y="7481823"/>
            <a:ext cx="1222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프롬프트 복사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047750" y="8015223"/>
            <a:ext cx="14722518" cy="1363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기술보고서.docx를 기반으로 임원 의사결정용 4장 슬라이드 초안을 작성해줘. 각 장에 핵심 메시지, 근거 데이터, 시각화 아이디어, 의사결정 포인트를 넣고 문서에 없는 수치는 "확인 필요"로 표시해줘.</a:t>
            </a:r>
            <a:endParaRPr lang="en-US" sz="2400" dirty="0"/>
          </a:p>
        </p:txBody>
      </p:sp>
      <p:sp>
        <p:nvSpPr>
          <p:cNvPr id="37" name="Shape 34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43 / 60</a:t>
            </a:r>
            <a:endParaRPr lang="en-US" sz="1650" dirty="0"/>
          </a:p>
        </p:txBody>
      </p:sp>
      <p:sp>
        <p:nvSpPr>
          <p:cNvPr id="40" name="DiffDot1">
            <a:extLst>
              <a:ext uri="{FF2B5EF4-FFF2-40B4-BE49-F238E27FC236}">
                <a16:creationId xmlns:a16="http://schemas.microsoft.com/office/drawing/2014/main" id="{D32F95B5-B623-234D-BCBD-A88F7C1B603E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ffDot2">
            <a:extLst>
              <a:ext uri="{FF2B5EF4-FFF2-40B4-BE49-F238E27FC236}">
                <a16:creationId xmlns:a16="http://schemas.microsoft.com/office/drawing/2014/main" id="{BC8FDB2D-AF62-BE49-8186-25912185E773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DiffDot3">
            <a:extLst>
              <a:ext uri="{FF2B5EF4-FFF2-40B4-BE49-F238E27FC236}">
                <a16:creationId xmlns:a16="http://schemas.microsoft.com/office/drawing/2014/main" id="{1203E02C-7C1F-1C45-A3F2-85412F494401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DiffDot4">
            <a:extLst>
              <a:ext uri="{FF2B5EF4-FFF2-40B4-BE49-F238E27FC236}">
                <a16:creationId xmlns:a16="http://schemas.microsoft.com/office/drawing/2014/main" id="{8969599F-82B4-8047-A46F-DFF8362EB3D4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DiffDot5">
            <a:extLst>
              <a:ext uri="{FF2B5EF4-FFF2-40B4-BE49-F238E27FC236}">
                <a16:creationId xmlns:a16="http://schemas.microsoft.com/office/drawing/2014/main" id="{D8BBCC77-2945-2F4E-8592-B9D053D2ECD8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DiffLabel">
            <a:extLst>
              <a:ext uri="{FF2B5EF4-FFF2-40B4-BE49-F238E27FC236}">
                <a16:creationId xmlns:a16="http://schemas.microsoft.com/office/drawing/2014/main" id="{4E71BF75-1671-3B47-85E5-7D20B4320BDC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</p:spTree>
    <p:extLst>
      <p:ext uri="{BB962C8B-B14F-4D97-AF65-F5344CB8AC3E}">
        <p14:creationId xmlns:p14="http://schemas.microsoft.com/office/powerpoint/2010/main" val="2939311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EF68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36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177343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634543" y="623888"/>
            <a:ext cx="19676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EF6800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POWERPOINT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36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PowerPoint 실전 치트키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시작 · 편집 · 검토 단계별 프롬프트 패턴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4328815"/>
            <a:ext cx="56856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33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1. 시작</a:t>
            </a:r>
            <a:endParaRPr lang="en-US" sz="3375" dirty="0"/>
          </a:p>
        </p:txBody>
      </p:sp>
      <p:sp>
        <p:nvSpPr>
          <p:cNvPr id="13" name="Shape 10"/>
          <p:cNvSpPr/>
          <p:nvPr/>
        </p:nvSpPr>
        <p:spPr>
          <a:xfrm>
            <a:off x="762000" y="5614095"/>
            <a:ext cx="5168801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5081290"/>
            <a:ext cx="1143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패턴</a:t>
            </a:r>
            <a:endParaRPr lang="en-US" sz="2325" dirty="0"/>
          </a:p>
        </p:txBody>
      </p:sp>
      <p:sp>
        <p:nvSpPr>
          <p:cNvPr id="15" name="Text 12"/>
          <p:cNvSpPr/>
          <p:nvPr/>
        </p:nvSpPr>
        <p:spPr>
          <a:xfrm>
            <a:off x="1415442" y="5033665"/>
            <a:ext cx="4894946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861"/>
              </a:lnSpc>
              <a:buNone/>
            </a:pPr>
            <a:r>
              <a:rPr lang="en-US" sz="23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참조 Word 문서 연동 + 개요 빌드</a:t>
            </a:r>
            <a:endParaRPr lang="en-US" sz="2325" dirty="0"/>
          </a:p>
        </p:txBody>
      </p:sp>
      <p:sp>
        <p:nvSpPr>
          <p:cNvPr id="16" name="Shape 13"/>
          <p:cNvSpPr/>
          <p:nvPr/>
        </p:nvSpPr>
        <p:spPr>
          <a:xfrm>
            <a:off x="762000" y="6242149"/>
            <a:ext cx="5168801" cy="1600200"/>
          </a:xfrm>
          <a:prstGeom prst="rect">
            <a:avLst/>
          </a:prstGeom>
          <a:ln w="9525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962025" y="6423124"/>
            <a:ext cx="13473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PROMPT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335191" y="6699349"/>
            <a:ext cx="395585" cy="19050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5297091" y="6423124"/>
            <a:ext cx="47178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복사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62025" y="6832699"/>
            <a:ext cx="4911813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818"/>
              </a:lnSpc>
              <a:buNone/>
            </a:pPr>
            <a:r>
              <a:rPr lang="en-US" sz="2175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이 문서를 참조해 5장 슬라이드 </a:t>
            </a:r>
            <a:r>
              <a:rPr lang="en-US" sz="2175" dirty="0" err="1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개요를</a:t>
            </a:r>
            <a:r>
              <a:rPr lang="en-US" sz="2175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 </a:t>
            </a:r>
            <a:r>
              <a:rPr lang="en-US" sz="2175" dirty="0" err="1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만들어줘</a:t>
            </a:r>
            <a:endParaRPr lang="en-US" sz="2175" dirty="0"/>
          </a:p>
        </p:txBody>
      </p:sp>
      <p:sp>
        <p:nvSpPr>
          <p:cNvPr id="21" name="Shape 18"/>
          <p:cNvSpPr/>
          <p:nvPr/>
        </p:nvSpPr>
        <p:spPr>
          <a:xfrm>
            <a:off x="6349901" y="4081165"/>
            <a:ext cx="9525" cy="4008834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6778526" y="4328815"/>
            <a:ext cx="521435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33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2. 편집</a:t>
            </a:r>
            <a:endParaRPr lang="en-US" sz="3375" dirty="0"/>
          </a:p>
        </p:txBody>
      </p:sp>
      <p:sp>
        <p:nvSpPr>
          <p:cNvPr id="23" name="Shape 20"/>
          <p:cNvSpPr/>
          <p:nvPr/>
        </p:nvSpPr>
        <p:spPr>
          <a:xfrm>
            <a:off x="6778526" y="5616240"/>
            <a:ext cx="474032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6778526" y="5081290"/>
            <a:ext cx="1143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패턴</a:t>
            </a:r>
            <a:endParaRPr lang="en-US" sz="2325" dirty="0"/>
          </a:p>
        </p:txBody>
      </p:sp>
      <p:sp>
        <p:nvSpPr>
          <p:cNvPr id="25" name="Text 22"/>
          <p:cNvSpPr/>
          <p:nvPr/>
        </p:nvSpPr>
        <p:spPr>
          <a:xfrm>
            <a:off x="7534639" y="5033665"/>
            <a:ext cx="4088131" cy="894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861"/>
              </a:lnSpc>
              <a:buNone/>
            </a:pPr>
            <a:r>
              <a:rPr lang="en-US" sz="23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문장 압축 + 전문가 톤 + 이미지 생성</a:t>
            </a:r>
            <a:endParaRPr lang="en-US" sz="2325" dirty="0"/>
          </a:p>
        </p:txBody>
      </p:sp>
      <p:sp>
        <p:nvSpPr>
          <p:cNvPr id="26" name="Shape 23"/>
          <p:cNvSpPr/>
          <p:nvPr/>
        </p:nvSpPr>
        <p:spPr>
          <a:xfrm>
            <a:off x="6778526" y="6242149"/>
            <a:ext cx="4740325" cy="1600200"/>
          </a:xfrm>
          <a:prstGeom prst="rect">
            <a:avLst/>
          </a:prstGeom>
          <a:ln w="9525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6978551" y="6423124"/>
            <a:ext cx="13473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PROMPT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0923240" y="6699349"/>
            <a:ext cx="395585" cy="1905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10885140" y="6423124"/>
            <a:ext cx="47178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복사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6978552" y="6832699"/>
            <a:ext cx="3743728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818"/>
              </a:lnSpc>
              <a:buNone/>
            </a:pPr>
            <a:r>
              <a:rPr lang="en-US" sz="2175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이 슬라이드를 60단어로 압축하고 전문가 톤으로 다시 써줘.</a:t>
            </a:r>
            <a:endParaRPr lang="en-US" sz="2175" dirty="0"/>
          </a:p>
        </p:txBody>
      </p:sp>
      <p:sp>
        <p:nvSpPr>
          <p:cNvPr id="31" name="Shape 28"/>
          <p:cNvSpPr/>
          <p:nvPr/>
        </p:nvSpPr>
        <p:spPr>
          <a:xfrm>
            <a:off x="11937950" y="4081165"/>
            <a:ext cx="9525" cy="4008834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12366575" y="4328815"/>
            <a:ext cx="567536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33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3. 검토</a:t>
            </a:r>
            <a:endParaRPr lang="en-US" sz="3375" dirty="0"/>
          </a:p>
        </p:txBody>
      </p:sp>
      <p:sp>
        <p:nvSpPr>
          <p:cNvPr id="33" name="Shape 30"/>
          <p:cNvSpPr/>
          <p:nvPr/>
        </p:nvSpPr>
        <p:spPr>
          <a:xfrm>
            <a:off x="12366575" y="5614095"/>
            <a:ext cx="515942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12366575" y="5081290"/>
            <a:ext cx="1143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패턴</a:t>
            </a:r>
            <a:endParaRPr lang="en-US" sz="2325" dirty="0"/>
          </a:p>
        </p:txBody>
      </p:sp>
      <p:sp>
        <p:nvSpPr>
          <p:cNvPr id="35" name="Text 32"/>
          <p:cNvSpPr/>
          <p:nvPr/>
        </p:nvSpPr>
        <p:spPr>
          <a:xfrm>
            <a:off x="13104757" y="5033665"/>
            <a:ext cx="4229031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861"/>
              </a:lnSpc>
              <a:buNone/>
            </a:pPr>
            <a:r>
              <a:rPr lang="en-US" sz="23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핵심 메시지 검토 + 액션 정리</a:t>
            </a:r>
            <a:endParaRPr lang="en-US" sz="2325" dirty="0"/>
          </a:p>
        </p:txBody>
      </p:sp>
      <p:sp>
        <p:nvSpPr>
          <p:cNvPr id="36" name="Shape 33"/>
          <p:cNvSpPr/>
          <p:nvPr/>
        </p:nvSpPr>
        <p:spPr>
          <a:xfrm>
            <a:off x="12366575" y="6242149"/>
            <a:ext cx="5159425" cy="1600200"/>
          </a:xfrm>
          <a:prstGeom prst="rect">
            <a:avLst/>
          </a:prstGeom>
          <a:ln w="9525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12566600" y="6423124"/>
            <a:ext cx="13473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PROMPT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16930390" y="6699349"/>
            <a:ext cx="395585" cy="1905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16892290" y="6423124"/>
            <a:ext cx="47178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복사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12566600" y="6832699"/>
            <a:ext cx="34989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818"/>
              </a:lnSpc>
              <a:buNone/>
            </a:pPr>
            <a:r>
              <a:rPr lang="en-US" sz="2175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이 덱의 핵심 메시지 3개와 후속 Action Items를 정리해줘.</a:t>
            </a:r>
            <a:endParaRPr lang="en-US" sz="2175" dirty="0"/>
          </a:p>
        </p:txBody>
      </p:sp>
      <p:sp>
        <p:nvSpPr>
          <p:cNvPr id="41" name="Shape 38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43" name="Text 40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44 / 60</a:t>
            </a:r>
            <a:endParaRPr lang="en-US" sz="1650" dirty="0"/>
          </a:p>
        </p:txBody>
      </p:sp>
      <p:sp>
        <p:nvSpPr>
          <p:cNvPr id="44" name="DiffDot1">
            <a:extLst>
              <a:ext uri="{FF2B5EF4-FFF2-40B4-BE49-F238E27FC236}">
                <a16:creationId xmlns:a16="http://schemas.microsoft.com/office/drawing/2014/main" id="{5A0BBE1D-3C1F-9F48-97A7-6B94CE26876E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DiffDot2">
            <a:extLst>
              <a:ext uri="{FF2B5EF4-FFF2-40B4-BE49-F238E27FC236}">
                <a16:creationId xmlns:a16="http://schemas.microsoft.com/office/drawing/2014/main" id="{1A000221-65FE-244F-A763-71CCD94783BC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6" name="DiffDot3">
            <a:extLst>
              <a:ext uri="{FF2B5EF4-FFF2-40B4-BE49-F238E27FC236}">
                <a16:creationId xmlns:a16="http://schemas.microsoft.com/office/drawing/2014/main" id="{2525EE43-64A7-714E-8D58-F053E7BB1DEC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7" name="DiffDot4">
            <a:extLst>
              <a:ext uri="{FF2B5EF4-FFF2-40B4-BE49-F238E27FC236}">
                <a16:creationId xmlns:a16="http://schemas.microsoft.com/office/drawing/2014/main" id="{E2EF7EDF-C6AB-0E48-9037-BDF957C54437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8" name="DiffDot5">
            <a:extLst>
              <a:ext uri="{FF2B5EF4-FFF2-40B4-BE49-F238E27FC236}">
                <a16:creationId xmlns:a16="http://schemas.microsoft.com/office/drawing/2014/main" id="{F2CB7D0B-10A1-AA44-A988-A4ABC78EEE55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9" name="DiffLabel">
            <a:extLst>
              <a:ext uri="{FF2B5EF4-FFF2-40B4-BE49-F238E27FC236}">
                <a16:creationId xmlns:a16="http://schemas.microsoft.com/office/drawing/2014/main" id="{9E8D096E-FA31-DC42-A0EB-16286A7FDE7C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</p:spTree>
    <p:extLst>
      <p:ext uri="{BB962C8B-B14F-4D97-AF65-F5344CB8AC3E}">
        <p14:creationId xmlns:p14="http://schemas.microsoft.com/office/powerpoint/2010/main" val="21735791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EF68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37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177343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634543" y="623888"/>
            <a:ext cx="19676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EF6800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POWERPOINT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37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슬라이드 텍스트 다시 쓰기 4대 전략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압축 · 톤 변경 · 구조화 · 액션 중심 재작성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794224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압축과 구조화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5141416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580930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분량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2038350" y="4533305"/>
            <a:ext cx="268944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60단어 이내로 압축</a:t>
            </a:r>
            <a:endParaRPr lang="en-US" sz="2475" dirty="0"/>
          </a:p>
        </p:txBody>
      </p:sp>
      <p:sp>
        <p:nvSpPr>
          <p:cNvPr id="16" name="Shape 13"/>
          <p:cNvSpPr/>
          <p:nvPr/>
        </p:nvSpPr>
        <p:spPr>
          <a:xfrm>
            <a:off x="762000" y="5949553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5389066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형태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2038350" y="5341441"/>
            <a:ext cx="341468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불릿 중심, 중복 표현 제거</a:t>
            </a:r>
            <a:endParaRPr lang="en-US" sz="2475" dirty="0"/>
          </a:p>
        </p:txBody>
      </p:sp>
      <p:sp>
        <p:nvSpPr>
          <p:cNvPr id="19" name="Text 16"/>
          <p:cNvSpPr/>
          <p:nvPr/>
        </p:nvSpPr>
        <p:spPr>
          <a:xfrm>
            <a:off x="762000" y="6197203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강조</a:t>
            </a:r>
            <a:endParaRPr lang="en-US" sz="2475" dirty="0"/>
          </a:p>
        </p:txBody>
      </p:sp>
      <p:sp>
        <p:nvSpPr>
          <p:cNvPr id="20" name="Text 17"/>
          <p:cNvSpPr/>
          <p:nvPr/>
        </p:nvSpPr>
        <p:spPr>
          <a:xfrm>
            <a:off x="2038350" y="6149578"/>
            <a:ext cx="2559457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핵심 키워드만 굵게</a:t>
            </a:r>
            <a:endParaRPr lang="en-US" sz="2475" dirty="0"/>
          </a:p>
        </p:txBody>
      </p:sp>
      <p:sp>
        <p:nvSpPr>
          <p:cNvPr id="21" name="Shape 18"/>
          <p:cNvSpPr/>
          <p:nvPr/>
        </p:nvSpPr>
        <p:spPr>
          <a:xfrm>
            <a:off x="9144000" y="3546574"/>
            <a:ext cx="9525" cy="345876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3794224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톤과 액션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9572625" y="5141416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572625" y="4580930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톤</a:t>
            </a:r>
            <a:endParaRPr lang="en-US" sz="2475" dirty="0"/>
          </a:p>
        </p:txBody>
      </p:sp>
      <p:sp>
        <p:nvSpPr>
          <p:cNvPr id="25" name="Text 22"/>
          <p:cNvSpPr/>
          <p:nvPr/>
        </p:nvSpPr>
        <p:spPr>
          <a:xfrm>
            <a:off x="10848975" y="4533305"/>
            <a:ext cx="354041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청중에 맞는 비즈니스 어조</a:t>
            </a:r>
            <a:endParaRPr lang="en-US" sz="2475" dirty="0"/>
          </a:p>
        </p:txBody>
      </p:sp>
      <p:sp>
        <p:nvSpPr>
          <p:cNvPr id="26" name="Shape 23"/>
          <p:cNvSpPr/>
          <p:nvPr/>
        </p:nvSpPr>
        <p:spPr>
          <a:xfrm>
            <a:off x="9572625" y="5949553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5389066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액션</a:t>
            </a:r>
            <a:endParaRPr lang="en-US" sz="2475" dirty="0"/>
          </a:p>
        </p:txBody>
      </p:sp>
      <p:sp>
        <p:nvSpPr>
          <p:cNvPr id="28" name="Text 25"/>
          <p:cNvSpPr/>
          <p:nvPr/>
        </p:nvSpPr>
        <p:spPr>
          <a:xfrm>
            <a:off x="10848975" y="5341441"/>
            <a:ext cx="354041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결론과 요청 사항을 앞으로</a:t>
            </a:r>
            <a:endParaRPr lang="en-US" sz="2475" dirty="0"/>
          </a:p>
        </p:txBody>
      </p:sp>
      <p:sp>
        <p:nvSpPr>
          <p:cNvPr id="29" name="Text 26"/>
          <p:cNvSpPr/>
          <p:nvPr/>
        </p:nvSpPr>
        <p:spPr>
          <a:xfrm>
            <a:off x="9572625" y="6197203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불변</a:t>
            </a:r>
            <a:endParaRPr lang="en-US" sz="2475" dirty="0"/>
          </a:p>
        </p:txBody>
      </p:sp>
      <p:sp>
        <p:nvSpPr>
          <p:cNvPr id="30" name="Text 27"/>
          <p:cNvSpPr/>
          <p:nvPr/>
        </p:nvSpPr>
        <p:spPr>
          <a:xfrm>
            <a:off x="10848975" y="6149578"/>
            <a:ext cx="354041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원문의 의미와 수치는 유지</a:t>
            </a:r>
            <a:endParaRPr lang="en-US" sz="2475" dirty="0"/>
          </a:p>
        </p:txBody>
      </p:sp>
      <p:sp>
        <p:nvSpPr>
          <p:cNvPr id="31" name="Shape 28"/>
          <p:cNvSpPr/>
          <p:nvPr/>
        </p:nvSpPr>
        <p:spPr>
          <a:xfrm>
            <a:off x="762000" y="7431287"/>
            <a:ext cx="16764000" cy="1884163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047750" y="8180671"/>
            <a:ext cx="16192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1047750" y="7771096"/>
            <a:ext cx="158308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16094422" y="8028271"/>
            <a:ext cx="1145828" cy="1905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6056322" y="7771096"/>
            <a:ext cx="1222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프롬프트 복사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047750" y="8380696"/>
            <a:ext cx="16427450" cy="9982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이 슬라이드 텍스트를 60단어 이내로 압축하고 핵심 키워드를 강조해줘. 불릿 중심으로 다시 쓰되 원문의 의미와 수치는 바꾸지 말아줘.</a:t>
            </a:r>
            <a:endParaRPr lang="en-US" sz="2400" dirty="0"/>
          </a:p>
        </p:txBody>
      </p:sp>
      <p:sp>
        <p:nvSpPr>
          <p:cNvPr id="37" name="Shape 34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45 / 60</a:t>
            </a:r>
            <a:endParaRPr lang="en-US" sz="1650" dirty="0"/>
          </a:p>
        </p:txBody>
      </p:sp>
      <p:sp>
        <p:nvSpPr>
          <p:cNvPr id="40" name="DiffDot1">
            <a:extLst>
              <a:ext uri="{FF2B5EF4-FFF2-40B4-BE49-F238E27FC236}">
                <a16:creationId xmlns:a16="http://schemas.microsoft.com/office/drawing/2014/main" id="{A16A4254-81B8-7541-B35B-BBF7C1D11BB4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ffDot2">
            <a:extLst>
              <a:ext uri="{FF2B5EF4-FFF2-40B4-BE49-F238E27FC236}">
                <a16:creationId xmlns:a16="http://schemas.microsoft.com/office/drawing/2014/main" id="{652DB86E-FE16-F34B-90CF-E1945F620CCA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DiffDot3">
            <a:extLst>
              <a:ext uri="{FF2B5EF4-FFF2-40B4-BE49-F238E27FC236}">
                <a16:creationId xmlns:a16="http://schemas.microsoft.com/office/drawing/2014/main" id="{E0601E86-5D84-CC46-8109-670E7CA7BC94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DiffDot4">
            <a:extLst>
              <a:ext uri="{FF2B5EF4-FFF2-40B4-BE49-F238E27FC236}">
                <a16:creationId xmlns:a16="http://schemas.microsoft.com/office/drawing/2014/main" id="{24BE0A0E-D220-4F43-9C56-B415DAFA174A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DiffDot5">
            <a:extLst>
              <a:ext uri="{FF2B5EF4-FFF2-40B4-BE49-F238E27FC236}">
                <a16:creationId xmlns:a16="http://schemas.microsoft.com/office/drawing/2014/main" id="{745CE2B2-2E52-1147-9EEA-F3BC9CD867DD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DiffLabel">
            <a:extLst>
              <a:ext uri="{FF2B5EF4-FFF2-40B4-BE49-F238E27FC236}">
                <a16:creationId xmlns:a16="http://schemas.microsoft.com/office/drawing/2014/main" id="{5C4DB574-9DED-F948-9E7C-09DA39B21F51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</p:spTree>
    <p:extLst>
      <p:ext uri="{BB962C8B-B14F-4D97-AF65-F5344CB8AC3E}">
        <p14:creationId xmlns:p14="http://schemas.microsoft.com/office/powerpoint/2010/main" val="10570341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EF68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38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177343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634543" y="623888"/>
            <a:ext cx="19676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EF6800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POWERPOINT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38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슬라이드 이미지 프롬프트 작성법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추상적 표현보다 피사체·스타일·색·조명·구도를 지정합니다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4205734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나쁜 예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5552926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992439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문제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2038350" y="4944814"/>
            <a:ext cx="4911328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원하는 스타일·구도를 통제할 수 없음</a:t>
            </a:r>
            <a:endParaRPr lang="en-US" sz="2475" dirty="0"/>
          </a:p>
        </p:txBody>
      </p:sp>
      <p:sp>
        <p:nvSpPr>
          <p:cNvPr id="16" name="Shape 13"/>
          <p:cNvSpPr/>
          <p:nvPr/>
        </p:nvSpPr>
        <p:spPr>
          <a:xfrm>
            <a:off x="762000" y="6361063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5800576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위험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2038350" y="5752951"/>
            <a:ext cx="3354928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과도한 SF·비현실적 표현</a:t>
            </a:r>
            <a:endParaRPr lang="en-US" sz="2475" dirty="0"/>
          </a:p>
        </p:txBody>
      </p:sp>
      <p:sp>
        <p:nvSpPr>
          <p:cNvPr id="19" name="Text 16"/>
          <p:cNvSpPr/>
          <p:nvPr/>
        </p:nvSpPr>
        <p:spPr>
          <a:xfrm>
            <a:off x="762000" y="6608713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결과</a:t>
            </a:r>
            <a:endParaRPr lang="en-US" sz="2475" dirty="0"/>
          </a:p>
        </p:txBody>
      </p:sp>
      <p:sp>
        <p:nvSpPr>
          <p:cNvPr id="20" name="Text 17"/>
          <p:cNvSpPr/>
          <p:nvPr/>
        </p:nvSpPr>
        <p:spPr>
          <a:xfrm>
            <a:off x="2038350" y="6561088"/>
            <a:ext cx="3241477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기업 보고서 톤과 불일치</a:t>
            </a:r>
            <a:endParaRPr lang="en-US" sz="2475" dirty="0"/>
          </a:p>
        </p:txBody>
      </p:sp>
      <p:sp>
        <p:nvSpPr>
          <p:cNvPr id="21" name="Shape 18"/>
          <p:cNvSpPr/>
          <p:nvPr/>
        </p:nvSpPr>
        <p:spPr>
          <a:xfrm>
            <a:off x="9144000" y="3958084"/>
            <a:ext cx="9525" cy="345876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4205734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좋은 예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9572625" y="5552926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572625" y="4992439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피사체</a:t>
            </a:r>
            <a:endParaRPr lang="en-US" sz="2475" dirty="0"/>
          </a:p>
        </p:txBody>
      </p:sp>
      <p:sp>
        <p:nvSpPr>
          <p:cNvPr id="25" name="Text 22"/>
          <p:cNvSpPr/>
          <p:nvPr/>
        </p:nvSpPr>
        <p:spPr>
          <a:xfrm>
            <a:off x="10848975" y="4944814"/>
            <a:ext cx="4137958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무엇이 어떻게 연결되는지 명시</a:t>
            </a:r>
            <a:endParaRPr lang="en-US" sz="2475" dirty="0"/>
          </a:p>
        </p:txBody>
      </p:sp>
      <p:sp>
        <p:nvSpPr>
          <p:cNvPr id="26" name="Shape 23"/>
          <p:cNvSpPr/>
          <p:nvPr/>
        </p:nvSpPr>
        <p:spPr>
          <a:xfrm>
            <a:off x="9572625" y="6361063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5800576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스타일</a:t>
            </a:r>
            <a:endParaRPr lang="en-US" sz="2475" dirty="0"/>
          </a:p>
        </p:txBody>
      </p:sp>
      <p:sp>
        <p:nvSpPr>
          <p:cNvPr id="28" name="Text 25"/>
          <p:cNvSpPr/>
          <p:nvPr/>
        </p:nvSpPr>
        <p:spPr>
          <a:xfrm>
            <a:off x="10848975" y="5752951"/>
            <a:ext cx="4555421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3D 아이소메트릭, 색 팔레트, 조명</a:t>
            </a:r>
            <a:endParaRPr lang="en-US" sz="2475" dirty="0"/>
          </a:p>
        </p:txBody>
      </p:sp>
      <p:sp>
        <p:nvSpPr>
          <p:cNvPr id="29" name="Text 26"/>
          <p:cNvSpPr/>
          <p:nvPr/>
        </p:nvSpPr>
        <p:spPr>
          <a:xfrm>
            <a:off x="9572625" y="6608713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구도</a:t>
            </a:r>
            <a:endParaRPr lang="en-US" sz="2475" dirty="0"/>
          </a:p>
        </p:txBody>
      </p:sp>
      <p:sp>
        <p:nvSpPr>
          <p:cNvPr id="30" name="Text 27"/>
          <p:cNvSpPr/>
          <p:nvPr/>
        </p:nvSpPr>
        <p:spPr>
          <a:xfrm>
            <a:off x="10848975" y="6561088"/>
            <a:ext cx="380202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화이트 배경, 여백, 배치 용도</a:t>
            </a:r>
            <a:endParaRPr lang="en-US" sz="2475" dirty="0"/>
          </a:p>
        </p:txBody>
      </p:sp>
      <p:sp>
        <p:nvSpPr>
          <p:cNvPr id="31" name="Shape 28"/>
          <p:cNvSpPr/>
          <p:nvPr/>
        </p:nvSpPr>
        <p:spPr>
          <a:xfrm>
            <a:off x="762000" y="8728770"/>
            <a:ext cx="16764000" cy="28575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762000" y="9033570"/>
            <a:ext cx="50229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b="1" kern="0" spc="315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요점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473845" y="8928795"/>
            <a:ext cx="6922026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23030"/>
              </a:lnSpc>
              <a:buNone/>
            </a:pPr>
            <a:r>
              <a:rPr lang="en-US" sz="24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공식: 피사체 + 스타일 + 색상 + 조명 + 배경 + 구도 + 용도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46 / 60</a:t>
            </a:r>
            <a:endParaRPr lang="en-US" sz="1650" dirty="0"/>
          </a:p>
        </p:txBody>
      </p:sp>
      <p:sp>
        <p:nvSpPr>
          <p:cNvPr id="37" name="DiffDot1">
            <a:extLst>
              <a:ext uri="{FF2B5EF4-FFF2-40B4-BE49-F238E27FC236}">
                <a16:creationId xmlns:a16="http://schemas.microsoft.com/office/drawing/2014/main" id="{AEB52548-55D8-A948-BA9E-72863C835224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8" name="DiffDot2">
            <a:extLst>
              <a:ext uri="{FF2B5EF4-FFF2-40B4-BE49-F238E27FC236}">
                <a16:creationId xmlns:a16="http://schemas.microsoft.com/office/drawing/2014/main" id="{2164E796-7456-5E45-8D19-1B5C186C36B3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9" name="DiffDot3">
            <a:extLst>
              <a:ext uri="{FF2B5EF4-FFF2-40B4-BE49-F238E27FC236}">
                <a16:creationId xmlns:a16="http://schemas.microsoft.com/office/drawing/2014/main" id="{7678838B-23A7-A643-B26D-2C9F83909303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0" name="DiffDot4">
            <a:extLst>
              <a:ext uri="{FF2B5EF4-FFF2-40B4-BE49-F238E27FC236}">
                <a16:creationId xmlns:a16="http://schemas.microsoft.com/office/drawing/2014/main" id="{BAA6AB70-6B55-4140-BF55-672CC1FBA2DB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ffDot5">
            <a:extLst>
              <a:ext uri="{FF2B5EF4-FFF2-40B4-BE49-F238E27FC236}">
                <a16:creationId xmlns:a16="http://schemas.microsoft.com/office/drawing/2014/main" id="{FA18348F-1604-974A-ABF5-ABA85739BF29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DiffLabel">
            <a:extLst>
              <a:ext uri="{FF2B5EF4-FFF2-40B4-BE49-F238E27FC236}">
                <a16:creationId xmlns:a16="http://schemas.microsoft.com/office/drawing/2014/main" id="{E73C86F7-ADC9-CA43-AF57-270B496AC89E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</p:spTree>
    <p:extLst>
      <p:ext uri="{BB962C8B-B14F-4D97-AF65-F5344CB8AC3E}">
        <p14:creationId xmlns:p14="http://schemas.microsoft.com/office/powerpoint/2010/main" val="17034642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EF68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39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177343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634543" y="623888"/>
            <a:ext cx="19676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EF6800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POWERPOINT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39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브랜드 템플릿과 자리 표시자 활용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기업 서식의 레이아웃·테마를 유지하며 내용만 채웁니다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594199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유지할 것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4941391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380905"/>
            <a:ext cx="116383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레이아웃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2059186" y="4333280"/>
            <a:ext cx="422243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템플릿 자리 표시자 구조 그대로</a:t>
            </a:r>
            <a:endParaRPr lang="en-US" sz="2475" dirty="0"/>
          </a:p>
        </p:txBody>
      </p:sp>
      <p:sp>
        <p:nvSpPr>
          <p:cNvPr id="16" name="Shape 13"/>
          <p:cNvSpPr/>
          <p:nvPr/>
        </p:nvSpPr>
        <p:spPr>
          <a:xfrm>
            <a:off x="762000" y="5749528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5189041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색·서체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2038350" y="5141416"/>
            <a:ext cx="4137958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템플릿에 정의된 브랜드 스타일</a:t>
            </a:r>
            <a:endParaRPr lang="en-US" sz="2475" dirty="0"/>
          </a:p>
        </p:txBody>
      </p:sp>
      <p:sp>
        <p:nvSpPr>
          <p:cNvPr id="19" name="Text 16"/>
          <p:cNvSpPr/>
          <p:nvPr/>
        </p:nvSpPr>
        <p:spPr>
          <a:xfrm>
            <a:off x="762000" y="5997178"/>
            <a:ext cx="12511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제목 체계</a:t>
            </a:r>
            <a:endParaRPr lang="en-US" sz="2475" dirty="0"/>
          </a:p>
        </p:txBody>
      </p:sp>
      <p:sp>
        <p:nvSpPr>
          <p:cNvPr id="20" name="Text 17"/>
          <p:cNvSpPr/>
          <p:nvPr/>
        </p:nvSpPr>
        <p:spPr>
          <a:xfrm>
            <a:off x="2146548" y="5949553"/>
            <a:ext cx="3241477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슬라이드 제목 위계 유지</a:t>
            </a:r>
            <a:endParaRPr lang="en-US" sz="2475" dirty="0"/>
          </a:p>
        </p:txBody>
      </p:sp>
      <p:sp>
        <p:nvSpPr>
          <p:cNvPr id="21" name="Shape 18"/>
          <p:cNvSpPr/>
          <p:nvPr/>
        </p:nvSpPr>
        <p:spPr>
          <a:xfrm>
            <a:off x="9144000" y="3346549"/>
            <a:ext cx="9525" cy="345876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3594199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지시할 것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9572625" y="4941391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572625" y="4380905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구조</a:t>
            </a:r>
            <a:endParaRPr lang="en-US" sz="2475" dirty="0"/>
          </a:p>
        </p:txBody>
      </p:sp>
      <p:sp>
        <p:nvSpPr>
          <p:cNvPr id="25" name="Text 22"/>
          <p:cNvSpPr/>
          <p:nvPr/>
        </p:nvSpPr>
        <p:spPr>
          <a:xfrm>
            <a:off x="10848975" y="4333280"/>
            <a:ext cx="392497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카드 3개 등 콘텐츠 영역 개수</a:t>
            </a:r>
            <a:endParaRPr lang="en-US" sz="2475" dirty="0"/>
          </a:p>
        </p:txBody>
      </p:sp>
      <p:sp>
        <p:nvSpPr>
          <p:cNvPr id="26" name="Shape 23"/>
          <p:cNvSpPr/>
          <p:nvPr/>
        </p:nvSpPr>
        <p:spPr>
          <a:xfrm>
            <a:off x="9572625" y="5749528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5189041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균형</a:t>
            </a:r>
            <a:endParaRPr lang="en-US" sz="2475" dirty="0"/>
          </a:p>
        </p:txBody>
      </p:sp>
      <p:sp>
        <p:nvSpPr>
          <p:cNvPr id="28" name="Text 25"/>
          <p:cNvSpPr/>
          <p:nvPr/>
        </p:nvSpPr>
        <p:spPr>
          <a:xfrm>
            <a:off x="10848975" y="5141416"/>
            <a:ext cx="4521205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카드별 텍스트 양이 편중되지 않게</a:t>
            </a:r>
            <a:endParaRPr lang="en-US" sz="2475" dirty="0"/>
          </a:p>
        </p:txBody>
      </p:sp>
      <p:sp>
        <p:nvSpPr>
          <p:cNvPr id="29" name="Text 26"/>
          <p:cNvSpPr/>
          <p:nvPr/>
        </p:nvSpPr>
        <p:spPr>
          <a:xfrm>
            <a:off x="9572625" y="5997178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톤</a:t>
            </a:r>
            <a:endParaRPr lang="en-US" sz="2475" dirty="0"/>
          </a:p>
        </p:txBody>
      </p:sp>
      <p:sp>
        <p:nvSpPr>
          <p:cNvPr id="30" name="Text 27"/>
          <p:cNvSpPr/>
          <p:nvPr/>
        </p:nvSpPr>
        <p:spPr>
          <a:xfrm>
            <a:off x="10848975" y="5949553"/>
            <a:ext cx="294270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보고 대상에 맞는 어조</a:t>
            </a:r>
            <a:endParaRPr lang="en-US" sz="2475" dirty="0"/>
          </a:p>
        </p:txBody>
      </p:sp>
      <p:sp>
        <p:nvSpPr>
          <p:cNvPr id="31" name="Shape 28"/>
          <p:cNvSpPr/>
          <p:nvPr/>
        </p:nvSpPr>
        <p:spPr>
          <a:xfrm>
            <a:off x="762000" y="7505700"/>
            <a:ext cx="16764000" cy="1809750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047750" y="8143875"/>
            <a:ext cx="16192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1047750" y="7734300"/>
            <a:ext cx="158308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16094422" y="7991475"/>
            <a:ext cx="1145828" cy="1905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6056322" y="7734300"/>
            <a:ext cx="1222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프롬프트 복사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047750" y="8242300"/>
            <a:ext cx="16427450" cy="1136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기업 브랜드 템플릿의 레이아웃과 디자인 가이드를 참고해 본문을 작성해줘. </a:t>
            </a:r>
          </a:p>
          <a:p>
            <a:pPr marL="0" indent="0" algn="l">
              <a:lnSpc>
                <a:spcPct val="13125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3개 카드 영역으로 내용을 나누고 텍스트 양이 편중되지 않게, 자리 표시자 구조와 브랜드 색상을 유지해줘.</a:t>
            </a:r>
            <a:endParaRPr lang="en-US" sz="2400" dirty="0"/>
          </a:p>
        </p:txBody>
      </p:sp>
      <p:sp>
        <p:nvSpPr>
          <p:cNvPr id="37" name="Shape 34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47 / 60</a:t>
            </a:r>
            <a:endParaRPr lang="en-US" sz="1650" dirty="0"/>
          </a:p>
        </p:txBody>
      </p:sp>
      <p:sp>
        <p:nvSpPr>
          <p:cNvPr id="40" name="DiffDot1">
            <a:extLst>
              <a:ext uri="{FF2B5EF4-FFF2-40B4-BE49-F238E27FC236}">
                <a16:creationId xmlns:a16="http://schemas.microsoft.com/office/drawing/2014/main" id="{59758D28-D8DF-D146-AB47-19163A74C92B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ffDot2">
            <a:extLst>
              <a:ext uri="{FF2B5EF4-FFF2-40B4-BE49-F238E27FC236}">
                <a16:creationId xmlns:a16="http://schemas.microsoft.com/office/drawing/2014/main" id="{3CA6DCB0-2080-9A48-ACD5-F0D16D898B36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DiffDot3">
            <a:extLst>
              <a:ext uri="{FF2B5EF4-FFF2-40B4-BE49-F238E27FC236}">
                <a16:creationId xmlns:a16="http://schemas.microsoft.com/office/drawing/2014/main" id="{4286D28D-87D9-1647-873D-0B8D313969FB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DiffDot4">
            <a:extLst>
              <a:ext uri="{FF2B5EF4-FFF2-40B4-BE49-F238E27FC236}">
                <a16:creationId xmlns:a16="http://schemas.microsoft.com/office/drawing/2014/main" id="{AB226DE0-A9D2-C14E-BAE5-223FCF7258DD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DiffDot5">
            <a:extLst>
              <a:ext uri="{FF2B5EF4-FFF2-40B4-BE49-F238E27FC236}">
                <a16:creationId xmlns:a16="http://schemas.microsoft.com/office/drawing/2014/main" id="{F1919C8B-ECFC-354E-87DB-7CC749FFDDBB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DiffLabel">
            <a:extLst>
              <a:ext uri="{FF2B5EF4-FFF2-40B4-BE49-F238E27FC236}">
                <a16:creationId xmlns:a16="http://schemas.microsoft.com/office/drawing/2014/main" id="{136F87E3-2D83-4B4A-94C6-9FA7FAED70D6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</p:spTree>
    <p:extLst>
      <p:ext uri="{BB962C8B-B14F-4D97-AF65-F5344CB8AC3E}">
        <p14:creationId xmlns:p14="http://schemas.microsoft.com/office/powerpoint/2010/main" val="24445966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EF68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40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177343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634543" y="623888"/>
            <a:ext cx="19676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EF6800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POWERPOINT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40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개요와 발표자 노트 자동 작성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주제·청중·분량을 지정하면 슬라이드 개요와 노트를 만듭니다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594199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지정할 항목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4941391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380905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주제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2038350" y="4333280"/>
            <a:ext cx="3241477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다룰 범위를 한 문장으로</a:t>
            </a:r>
            <a:endParaRPr lang="en-US" sz="2475" dirty="0"/>
          </a:p>
        </p:txBody>
      </p:sp>
      <p:sp>
        <p:nvSpPr>
          <p:cNvPr id="16" name="Shape 13"/>
          <p:cNvSpPr/>
          <p:nvPr/>
        </p:nvSpPr>
        <p:spPr>
          <a:xfrm>
            <a:off x="762000" y="5749528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5189041"/>
            <a:ext cx="126846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청중·시간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2163812" y="5141416"/>
            <a:ext cx="270974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운용팀 대상 15분 등</a:t>
            </a:r>
            <a:endParaRPr lang="en-US" sz="2475" dirty="0"/>
          </a:p>
        </p:txBody>
      </p:sp>
      <p:sp>
        <p:nvSpPr>
          <p:cNvPr id="19" name="Text 16"/>
          <p:cNvSpPr/>
          <p:nvPr/>
        </p:nvSpPr>
        <p:spPr>
          <a:xfrm>
            <a:off x="762000" y="5997178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구성</a:t>
            </a:r>
            <a:endParaRPr lang="en-US" sz="2475" dirty="0"/>
          </a:p>
        </p:txBody>
      </p:sp>
      <p:sp>
        <p:nvSpPr>
          <p:cNvPr id="20" name="Text 17"/>
          <p:cNvSpPr/>
          <p:nvPr/>
        </p:nvSpPr>
        <p:spPr>
          <a:xfrm>
            <a:off x="2038350" y="5949553"/>
            <a:ext cx="294270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목차 순서를 직접 나열</a:t>
            </a:r>
            <a:endParaRPr lang="en-US" sz="2475" dirty="0"/>
          </a:p>
        </p:txBody>
      </p:sp>
      <p:sp>
        <p:nvSpPr>
          <p:cNvPr id="21" name="Shape 18"/>
          <p:cNvSpPr/>
          <p:nvPr/>
        </p:nvSpPr>
        <p:spPr>
          <a:xfrm>
            <a:off x="9144000" y="3346549"/>
            <a:ext cx="9525" cy="345876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3594199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요청 산출물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9572625" y="4941391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572625" y="4380905"/>
            <a:ext cx="15915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핵심 메시지</a:t>
            </a:r>
            <a:endParaRPr lang="en-US" sz="2475" dirty="0"/>
          </a:p>
        </p:txBody>
      </p:sp>
      <p:sp>
        <p:nvSpPr>
          <p:cNvPr id="25" name="Text 22"/>
          <p:cNvSpPr/>
          <p:nvPr/>
        </p:nvSpPr>
        <p:spPr>
          <a:xfrm>
            <a:off x="11229082" y="4333280"/>
            <a:ext cx="2032471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슬라이드별 1개</a:t>
            </a:r>
            <a:endParaRPr lang="en-US" sz="2475" dirty="0"/>
          </a:p>
        </p:txBody>
      </p:sp>
      <p:sp>
        <p:nvSpPr>
          <p:cNvPr id="26" name="Shape 23"/>
          <p:cNvSpPr/>
          <p:nvPr/>
        </p:nvSpPr>
        <p:spPr>
          <a:xfrm>
            <a:off x="9572625" y="5749528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5189041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불릿</a:t>
            </a:r>
            <a:endParaRPr lang="en-US" sz="2475" dirty="0"/>
          </a:p>
        </p:txBody>
      </p:sp>
      <p:sp>
        <p:nvSpPr>
          <p:cNvPr id="28" name="Text 25"/>
          <p:cNvSpPr/>
          <p:nvPr/>
        </p:nvSpPr>
        <p:spPr>
          <a:xfrm>
            <a:off x="10848975" y="5141416"/>
            <a:ext cx="1878747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근거 3개 이내</a:t>
            </a:r>
            <a:endParaRPr lang="en-US" sz="2475" dirty="0"/>
          </a:p>
        </p:txBody>
      </p:sp>
      <p:sp>
        <p:nvSpPr>
          <p:cNvPr id="29" name="Text 26"/>
          <p:cNvSpPr/>
          <p:nvPr/>
        </p:nvSpPr>
        <p:spPr>
          <a:xfrm>
            <a:off x="9572625" y="5997178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노트</a:t>
            </a:r>
            <a:endParaRPr lang="en-US" sz="2475" dirty="0"/>
          </a:p>
        </p:txBody>
      </p:sp>
      <p:sp>
        <p:nvSpPr>
          <p:cNvPr id="30" name="Text 27"/>
          <p:cNvSpPr/>
          <p:nvPr/>
        </p:nvSpPr>
        <p:spPr>
          <a:xfrm>
            <a:off x="10848975" y="5949553"/>
            <a:ext cx="294270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발표자 노트 포함 요청</a:t>
            </a:r>
            <a:endParaRPr lang="en-US" sz="2475" dirty="0"/>
          </a:p>
        </p:txBody>
      </p:sp>
      <p:sp>
        <p:nvSpPr>
          <p:cNvPr id="31" name="Shape 28"/>
          <p:cNvSpPr/>
          <p:nvPr/>
        </p:nvSpPr>
        <p:spPr>
          <a:xfrm>
            <a:off x="762000" y="7505700"/>
            <a:ext cx="16764000" cy="1809750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047750" y="8143875"/>
            <a:ext cx="16192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1047750" y="7734300"/>
            <a:ext cx="158308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16094422" y="7991475"/>
            <a:ext cx="1145828" cy="1905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6056322" y="7734300"/>
            <a:ext cx="1222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프롬프트 복사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047750" y="8242300"/>
            <a:ext cx="16427450" cy="1136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5G 코어망 가상화 전환 전략을 주제로 운용팀 대상 15분 브리핑용 5장 개요를 작성해줘. ①현황 ②필요성 ③목표 아키텍처 ④단계별 전략 ⑤기대효과 순으로, 장별 핵심 메시지 1개와 불릿 3개, 발표자 노트를 포함해줘.</a:t>
            </a:r>
            <a:endParaRPr lang="en-US" sz="2400" dirty="0"/>
          </a:p>
        </p:txBody>
      </p:sp>
      <p:sp>
        <p:nvSpPr>
          <p:cNvPr id="37" name="Shape 34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48 / 60</a:t>
            </a:r>
            <a:endParaRPr lang="en-US" sz="1650" dirty="0"/>
          </a:p>
        </p:txBody>
      </p:sp>
      <p:sp>
        <p:nvSpPr>
          <p:cNvPr id="40" name="DiffDot1">
            <a:extLst>
              <a:ext uri="{FF2B5EF4-FFF2-40B4-BE49-F238E27FC236}">
                <a16:creationId xmlns:a16="http://schemas.microsoft.com/office/drawing/2014/main" id="{8BCC4D6F-45DA-1D43-BE9D-709B93420AF5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ffDot2">
            <a:extLst>
              <a:ext uri="{FF2B5EF4-FFF2-40B4-BE49-F238E27FC236}">
                <a16:creationId xmlns:a16="http://schemas.microsoft.com/office/drawing/2014/main" id="{FC50F301-C418-6945-9503-41EBBC15E4FB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DiffDot3">
            <a:extLst>
              <a:ext uri="{FF2B5EF4-FFF2-40B4-BE49-F238E27FC236}">
                <a16:creationId xmlns:a16="http://schemas.microsoft.com/office/drawing/2014/main" id="{7C06FF40-C647-9040-BF16-7A38511C0F98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DiffDot4">
            <a:extLst>
              <a:ext uri="{FF2B5EF4-FFF2-40B4-BE49-F238E27FC236}">
                <a16:creationId xmlns:a16="http://schemas.microsoft.com/office/drawing/2014/main" id="{1E5274E1-BE78-7741-96A7-F46FF8DB99D9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DiffDot5">
            <a:extLst>
              <a:ext uri="{FF2B5EF4-FFF2-40B4-BE49-F238E27FC236}">
                <a16:creationId xmlns:a16="http://schemas.microsoft.com/office/drawing/2014/main" id="{351C3060-2FFA-8E4C-87B9-812ECF71F482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DiffLabel">
            <a:extLst>
              <a:ext uri="{FF2B5EF4-FFF2-40B4-BE49-F238E27FC236}">
                <a16:creationId xmlns:a16="http://schemas.microsoft.com/office/drawing/2014/main" id="{A88DE311-06A2-B442-99A3-587051BC6D98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</p:spTree>
    <p:extLst>
      <p:ext uri="{BB962C8B-B14F-4D97-AF65-F5344CB8AC3E}">
        <p14:creationId xmlns:p14="http://schemas.microsoft.com/office/powerpoint/2010/main" val="7492042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EF68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41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177343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634543" y="623888"/>
            <a:ext cx="19676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EF6800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POWERPOINT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41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이동 중 모바일 음성 Q&amp;A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스마트폰에서 덱 요약을 확인하고 음성으로 질의합니다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794224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활용 상황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5141416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580930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이동 중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2038350" y="4533305"/>
            <a:ext cx="3325951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보고 직전 덱 핵심만 확인</a:t>
            </a:r>
            <a:endParaRPr lang="en-US" sz="2475" dirty="0"/>
          </a:p>
        </p:txBody>
      </p:sp>
      <p:sp>
        <p:nvSpPr>
          <p:cNvPr id="16" name="Shape 13"/>
          <p:cNvSpPr/>
          <p:nvPr/>
        </p:nvSpPr>
        <p:spPr>
          <a:xfrm>
            <a:off x="762000" y="5949553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5389066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현장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2038350" y="5341441"/>
            <a:ext cx="362472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자료를 열지 않고 수치 확인</a:t>
            </a:r>
            <a:endParaRPr lang="en-US" sz="2475" dirty="0"/>
          </a:p>
        </p:txBody>
      </p:sp>
      <p:sp>
        <p:nvSpPr>
          <p:cNvPr id="19" name="Text 16"/>
          <p:cNvSpPr/>
          <p:nvPr/>
        </p:nvSpPr>
        <p:spPr>
          <a:xfrm>
            <a:off x="762000" y="6197203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회의 전</a:t>
            </a:r>
            <a:endParaRPr lang="en-US" sz="2475" dirty="0"/>
          </a:p>
        </p:txBody>
      </p:sp>
      <p:sp>
        <p:nvSpPr>
          <p:cNvPr id="20" name="Text 17"/>
          <p:cNvSpPr/>
          <p:nvPr/>
        </p:nvSpPr>
        <p:spPr>
          <a:xfrm>
            <a:off x="2038350" y="6149578"/>
            <a:ext cx="2643932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질문 예상 답변 준비</a:t>
            </a:r>
            <a:endParaRPr lang="en-US" sz="2475" dirty="0"/>
          </a:p>
        </p:txBody>
      </p:sp>
      <p:sp>
        <p:nvSpPr>
          <p:cNvPr id="21" name="Shape 18"/>
          <p:cNvSpPr/>
          <p:nvPr/>
        </p:nvSpPr>
        <p:spPr>
          <a:xfrm>
            <a:off x="9144000" y="3546574"/>
            <a:ext cx="9525" cy="345876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3794224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사용 팁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9572625" y="5141416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572625" y="4580930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짧게</a:t>
            </a:r>
            <a:endParaRPr lang="en-US" sz="2475" dirty="0"/>
          </a:p>
        </p:txBody>
      </p:sp>
      <p:sp>
        <p:nvSpPr>
          <p:cNvPr id="25" name="Text 22"/>
          <p:cNvSpPr/>
          <p:nvPr/>
        </p:nvSpPr>
        <p:spPr>
          <a:xfrm>
            <a:off x="10848975" y="4533305"/>
            <a:ext cx="2643932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한 번에 하나만 질문</a:t>
            </a:r>
            <a:endParaRPr lang="en-US" sz="2475" dirty="0"/>
          </a:p>
        </p:txBody>
      </p:sp>
      <p:sp>
        <p:nvSpPr>
          <p:cNvPr id="26" name="Shape 23"/>
          <p:cNvSpPr/>
          <p:nvPr/>
        </p:nvSpPr>
        <p:spPr>
          <a:xfrm>
            <a:off x="9572625" y="5949553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5389066"/>
            <a:ext cx="12511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위치 요청</a:t>
            </a:r>
            <a:endParaRPr lang="en-US" sz="2475" dirty="0"/>
          </a:p>
        </p:txBody>
      </p:sp>
      <p:sp>
        <p:nvSpPr>
          <p:cNvPr id="28" name="Text 25"/>
          <p:cNvSpPr/>
          <p:nvPr/>
        </p:nvSpPr>
        <p:spPr>
          <a:xfrm>
            <a:off x="10957173" y="5341441"/>
            <a:ext cx="4521205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슬라이드 번호를 함께 달라고 지시</a:t>
            </a:r>
            <a:endParaRPr lang="en-US" sz="2475" dirty="0"/>
          </a:p>
        </p:txBody>
      </p:sp>
      <p:sp>
        <p:nvSpPr>
          <p:cNvPr id="29" name="Text 26"/>
          <p:cNvSpPr/>
          <p:nvPr/>
        </p:nvSpPr>
        <p:spPr>
          <a:xfrm>
            <a:off x="9572625" y="6197203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확인</a:t>
            </a:r>
            <a:endParaRPr lang="en-US" sz="2475" dirty="0"/>
          </a:p>
        </p:txBody>
      </p:sp>
      <p:sp>
        <p:nvSpPr>
          <p:cNvPr id="30" name="Text 27"/>
          <p:cNvSpPr/>
          <p:nvPr/>
        </p:nvSpPr>
        <p:spPr>
          <a:xfrm>
            <a:off x="10848975" y="6149578"/>
            <a:ext cx="294270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중요 수치는 원문 대조</a:t>
            </a:r>
            <a:endParaRPr lang="en-US" sz="2475" dirty="0"/>
          </a:p>
        </p:txBody>
      </p:sp>
      <p:sp>
        <p:nvSpPr>
          <p:cNvPr id="31" name="Shape 28"/>
          <p:cNvSpPr/>
          <p:nvPr/>
        </p:nvSpPr>
        <p:spPr>
          <a:xfrm>
            <a:off x="762000" y="7905750"/>
            <a:ext cx="16764000" cy="1409700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047750" y="8543925"/>
            <a:ext cx="16192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1047750" y="8134350"/>
            <a:ext cx="158308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16094422" y="8391525"/>
            <a:ext cx="1145828" cy="1905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6056322" y="8134350"/>
            <a:ext cx="1222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프롬프트 복사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047750" y="8642350"/>
            <a:ext cx="1642745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이 덱에서 3분기 예산 초과 위험이 있는 국사를 찾아 슬라이드 번호와 수치를 함께 알려줘.</a:t>
            </a:r>
            <a:endParaRPr lang="en-US" sz="2400" dirty="0"/>
          </a:p>
        </p:txBody>
      </p:sp>
      <p:sp>
        <p:nvSpPr>
          <p:cNvPr id="37" name="Shape 34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49 / 60</a:t>
            </a:r>
            <a:endParaRPr lang="en-US" sz="1650" dirty="0"/>
          </a:p>
        </p:txBody>
      </p:sp>
      <p:sp>
        <p:nvSpPr>
          <p:cNvPr id="40" name="DiffDot1">
            <a:extLst>
              <a:ext uri="{FF2B5EF4-FFF2-40B4-BE49-F238E27FC236}">
                <a16:creationId xmlns:a16="http://schemas.microsoft.com/office/drawing/2014/main" id="{3759D749-AAFE-574A-A266-86389A70D59A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ffDot2">
            <a:extLst>
              <a:ext uri="{FF2B5EF4-FFF2-40B4-BE49-F238E27FC236}">
                <a16:creationId xmlns:a16="http://schemas.microsoft.com/office/drawing/2014/main" id="{E5B76597-80E7-FD41-8F40-E73EBA4FEFC3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DiffDot3">
            <a:extLst>
              <a:ext uri="{FF2B5EF4-FFF2-40B4-BE49-F238E27FC236}">
                <a16:creationId xmlns:a16="http://schemas.microsoft.com/office/drawing/2014/main" id="{56E9882A-593C-FE48-A3EE-5F40B8AF37AC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DiffDot4">
            <a:extLst>
              <a:ext uri="{FF2B5EF4-FFF2-40B4-BE49-F238E27FC236}">
                <a16:creationId xmlns:a16="http://schemas.microsoft.com/office/drawing/2014/main" id="{F228A0F5-37DC-464C-9809-411C07CD8402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DiffDot5">
            <a:extLst>
              <a:ext uri="{FF2B5EF4-FFF2-40B4-BE49-F238E27FC236}">
                <a16:creationId xmlns:a16="http://schemas.microsoft.com/office/drawing/2014/main" id="{858CE14D-620E-ED47-A3A6-41E4D0EFB14E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DiffLabel">
            <a:extLst>
              <a:ext uri="{FF2B5EF4-FFF2-40B4-BE49-F238E27FC236}">
                <a16:creationId xmlns:a16="http://schemas.microsoft.com/office/drawing/2014/main" id="{2C724097-6C77-AA4E-99BA-96529A9E805E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</p:spTree>
    <p:extLst>
      <p:ext uri="{BB962C8B-B14F-4D97-AF65-F5344CB8AC3E}">
        <p14:creationId xmlns:p14="http://schemas.microsoft.com/office/powerpoint/2010/main" val="8370714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EF68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42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177343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634543" y="623888"/>
            <a:ext cx="19676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EF6800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POWERPOINT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42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대용량 덱에서 핵심 슬라이드 선별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수십 장 자료에서 주제 관련 슬라이드만 골라 요약합니다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794224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요청 방법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5141416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580930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주제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2038350" y="4533305"/>
            <a:ext cx="3455938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찾을 키워드를 구체적으로</a:t>
            </a:r>
            <a:endParaRPr lang="en-US" sz="2475" dirty="0"/>
          </a:p>
        </p:txBody>
      </p:sp>
      <p:sp>
        <p:nvSpPr>
          <p:cNvPr id="16" name="Shape 13"/>
          <p:cNvSpPr/>
          <p:nvPr/>
        </p:nvSpPr>
        <p:spPr>
          <a:xfrm>
            <a:off x="762000" y="5949553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5389066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개수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2038350" y="5341441"/>
            <a:ext cx="294401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핵심 3장 등 상한 지정</a:t>
            </a:r>
            <a:endParaRPr lang="en-US" sz="2475" dirty="0"/>
          </a:p>
        </p:txBody>
      </p:sp>
      <p:sp>
        <p:nvSpPr>
          <p:cNvPr id="19" name="Text 16"/>
          <p:cNvSpPr/>
          <p:nvPr/>
        </p:nvSpPr>
        <p:spPr>
          <a:xfrm>
            <a:off x="762000" y="6197203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형식</a:t>
            </a:r>
            <a:endParaRPr lang="en-US" sz="2475" dirty="0"/>
          </a:p>
        </p:txBody>
      </p:sp>
      <p:sp>
        <p:nvSpPr>
          <p:cNvPr id="20" name="Text 17"/>
          <p:cNvSpPr/>
          <p:nvPr/>
        </p:nvSpPr>
        <p:spPr>
          <a:xfrm>
            <a:off x="2038350" y="6149578"/>
            <a:ext cx="384999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슬라이드 번호 + 제목 + 요약</a:t>
            </a:r>
            <a:endParaRPr lang="en-US" sz="2475" dirty="0"/>
          </a:p>
        </p:txBody>
      </p:sp>
      <p:sp>
        <p:nvSpPr>
          <p:cNvPr id="21" name="Shape 18"/>
          <p:cNvSpPr/>
          <p:nvPr/>
        </p:nvSpPr>
        <p:spPr>
          <a:xfrm>
            <a:off x="9144000" y="3546574"/>
            <a:ext cx="9525" cy="345876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3794224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검토 기준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9572625" y="5141416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572625" y="4580930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영향도</a:t>
            </a:r>
            <a:endParaRPr lang="en-US" sz="2475" dirty="0"/>
          </a:p>
        </p:txBody>
      </p:sp>
      <p:sp>
        <p:nvSpPr>
          <p:cNvPr id="25" name="Text 22"/>
          <p:cNvSpPr/>
          <p:nvPr/>
        </p:nvSpPr>
        <p:spPr>
          <a:xfrm>
            <a:off x="10848975" y="4533305"/>
            <a:ext cx="3840495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운용에 미치는 영향 3줄 요약</a:t>
            </a:r>
            <a:endParaRPr lang="en-US" sz="2475" dirty="0"/>
          </a:p>
        </p:txBody>
      </p:sp>
      <p:sp>
        <p:nvSpPr>
          <p:cNvPr id="26" name="Shape 23"/>
          <p:cNvSpPr/>
          <p:nvPr/>
        </p:nvSpPr>
        <p:spPr>
          <a:xfrm>
            <a:off x="9572625" y="5949553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5389066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근거</a:t>
            </a:r>
            <a:endParaRPr lang="en-US" sz="2475" dirty="0"/>
          </a:p>
        </p:txBody>
      </p:sp>
      <p:sp>
        <p:nvSpPr>
          <p:cNvPr id="28" name="Text 25"/>
          <p:cNvSpPr/>
          <p:nvPr/>
        </p:nvSpPr>
        <p:spPr>
          <a:xfrm>
            <a:off x="10848975" y="5341441"/>
            <a:ext cx="3801695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불명확한 내용은 "확인 필요"</a:t>
            </a:r>
            <a:endParaRPr lang="en-US" sz="2475" dirty="0"/>
          </a:p>
        </p:txBody>
      </p:sp>
      <p:sp>
        <p:nvSpPr>
          <p:cNvPr id="29" name="Text 26"/>
          <p:cNvSpPr/>
          <p:nvPr/>
        </p:nvSpPr>
        <p:spPr>
          <a:xfrm>
            <a:off x="9572625" y="6197203"/>
            <a:ext cx="12511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원문 확인</a:t>
            </a:r>
            <a:endParaRPr lang="en-US" sz="2475" dirty="0"/>
          </a:p>
        </p:txBody>
      </p:sp>
      <p:sp>
        <p:nvSpPr>
          <p:cNvPr id="30" name="Text 27"/>
          <p:cNvSpPr/>
          <p:nvPr/>
        </p:nvSpPr>
        <p:spPr>
          <a:xfrm>
            <a:off x="10957173" y="6149578"/>
            <a:ext cx="362472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선별 결과는 원문 대조 필수</a:t>
            </a:r>
            <a:endParaRPr lang="en-US" sz="2475" dirty="0"/>
          </a:p>
        </p:txBody>
      </p:sp>
      <p:sp>
        <p:nvSpPr>
          <p:cNvPr id="31" name="Shape 28"/>
          <p:cNvSpPr/>
          <p:nvPr/>
        </p:nvSpPr>
        <p:spPr>
          <a:xfrm>
            <a:off x="762000" y="7905750"/>
            <a:ext cx="16764000" cy="1409700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047750" y="8543925"/>
            <a:ext cx="16192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1047750" y="8134350"/>
            <a:ext cx="158308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16094422" y="8391525"/>
            <a:ext cx="1145828" cy="1905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6056322" y="8134350"/>
            <a:ext cx="1222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프롬프트 복사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047750" y="8642350"/>
            <a:ext cx="1642745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장비 릴리즈 노트 50장에서 "BGP·OSPF 변경점" 관련 핵심 슬라이드 3장을 찾아 번호와 제목, 주요 변경 내용과 운용 영향도를 각 3줄로 요약해줘.</a:t>
            </a:r>
            <a:endParaRPr lang="en-US" sz="2400" dirty="0"/>
          </a:p>
        </p:txBody>
      </p:sp>
      <p:sp>
        <p:nvSpPr>
          <p:cNvPr id="37" name="Shape 34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50 / 60</a:t>
            </a:r>
            <a:endParaRPr lang="en-US" sz="1650" dirty="0"/>
          </a:p>
        </p:txBody>
      </p:sp>
      <p:sp>
        <p:nvSpPr>
          <p:cNvPr id="40" name="DiffDot1">
            <a:extLst>
              <a:ext uri="{FF2B5EF4-FFF2-40B4-BE49-F238E27FC236}">
                <a16:creationId xmlns:a16="http://schemas.microsoft.com/office/drawing/2014/main" id="{BB0B3B67-A849-B647-ADB4-F801F5499906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ffDot2">
            <a:extLst>
              <a:ext uri="{FF2B5EF4-FFF2-40B4-BE49-F238E27FC236}">
                <a16:creationId xmlns:a16="http://schemas.microsoft.com/office/drawing/2014/main" id="{6B57BBF9-17B2-9445-A402-EDE25A6DB94F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DiffDot3">
            <a:extLst>
              <a:ext uri="{FF2B5EF4-FFF2-40B4-BE49-F238E27FC236}">
                <a16:creationId xmlns:a16="http://schemas.microsoft.com/office/drawing/2014/main" id="{B44D365E-18C8-144F-935E-734830374354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DiffDot4">
            <a:extLst>
              <a:ext uri="{FF2B5EF4-FFF2-40B4-BE49-F238E27FC236}">
                <a16:creationId xmlns:a16="http://schemas.microsoft.com/office/drawing/2014/main" id="{14119AE2-6929-AB4C-B69E-EA2CEE0944A6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DiffDot5">
            <a:extLst>
              <a:ext uri="{FF2B5EF4-FFF2-40B4-BE49-F238E27FC236}">
                <a16:creationId xmlns:a16="http://schemas.microsoft.com/office/drawing/2014/main" id="{D76F654D-C90D-4D4B-BA43-E32A670FF0EE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DiffLabel">
            <a:extLst>
              <a:ext uri="{FF2B5EF4-FFF2-40B4-BE49-F238E27FC236}">
                <a16:creationId xmlns:a16="http://schemas.microsoft.com/office/drawing/2014/main" id="{15CE8F05-74A1-354D-9259-C1A2F61F5F1F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</p:spTree>
    <p:extLst>
      <p:ext uri="{BB962C8B-B14F-4D97-AF65-F5344CB8AC3E}">
        <p14:creationId xmlns:p14="http://schemas.microsoft.com/office/powerpoint/2010/main" val="32143490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roubleshootBox">
            <a:extLst>
              <a:ext uri="{FF2B5EF4-FFF2-40B4-BE49-F238E27FC236}">
                <a16:creationId xmlns:a16="http://schemas.microsoft.com/office/drawing/2014/main" id="{FB9CEC6F-0F2B-F24D-9A47-3937ACA5250D}"/>
              </a:ext>
            </a:extLst>
          </p:cNvPr>
          <p:cNvSpPr/>
          <p:nvPr/>
        </p:nvSpPr>
        <p:spPr>
          <a:xfrm>
            <a:off x="762000" y="8712200"/>
            <a:ext cx="16764000" cy="787400"/>
          </a:xfrm>
          <a:prstGeom prst="roundRect">
            <a:avLst/>
          </a:prstGeom>
          <a:solidFill>
            <a:srgbClr val="FFF4EC"/>
          </a:solidFill>
          <a:ln w="12700" cap="flat" cmpd="sng" algn="ctr">
            <a:solidFill>
              <a:srgbClr val="ED7D3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EF68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43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177343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634543" y="623888"/>
            <a:ext cx="19676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EF6800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POWERPOINT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43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Word 문서를 프레젠테이션으로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수십 페이지 기술 문서를 경영진용 슬라이드로 재구성합니다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594199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재구성 원칙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4941391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380905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압축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2038350" y="4333280"/>
            <a:ext cx="482554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장황한 설명은 핵심 메시지 + 근거로</a:t>
            </a:r>
            <a:endParaRPr lang="en-US" sz="2475" dirty="0"/>
          </a:p>
        </p:txBody>
      </p:sp>
      <p:sp>
        <p:nvSpPr>
          <p:cNvPr id="16" name="Shape 13"/>
          <p:cNvSpPr/>
          <p:nvPr/>
        </p:nvSpPr>
        <p:spPr>
          <a:xfrm>
            <a:off x="762000" y="5749528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5189041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구조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2038350" y="5141416"/>
            <a:ext cx="589883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추진 배경 · 핵심 기술 · 기대 효과 · 투자 계획</a:t>
            </a:r>
            <a:endParaRPr lang="en-US" sz="2475" dirty="0"/>
          </a:p>
        </p:txBody>
      </p:sp>
      <p:sp>
        <p:nvSpPr>
          <p:cNvPr id="19" name="Text 16"/>
          <p:cNvSpPr/>
          <p:nvPr/>
        </p:nvSpPr>
        <p:spPr>
          <a:xfrm>
            <a:off x="762000" y="5997178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분량</a:t>
            </a:r>
            <a:endParaRPr lang="en-US" sz="2475" dirty="0"/>
          </a:p>
        </p:txBody>
      </p:sp>
      <p:sp>
        <p:nvSpPr>
          <p:cNvPr id="20" name="Text 17"/>
          <p:cNvSpPr/>
          <p:nvPr/>
        </p:nvSpPr>
        <p:spPr>
          <a:xfrm>
            <a:off x="2038350" y="5949553"/>
            <a:ext cx="4822269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슬라이드당 메시지 1개, 근거 3~4개</a:t>
            </a:r>
            <a:endParaRPr lang="en-US" sz="2475" dirty="0"/>
          </a:p>
        </p:txBody>
      </p:sp>
      <p:sp>
        <p:nvSpPr>
          <p:cNvPr id="21" name="Shape 18"/>
          <p:cNvSpPr/>
          <p:nvPr/>
        </p:nvSpPr>
        <p:spPr>
          <a:xfrm>
            <a:off x="9144000" y="3346549"/>
            <a:ext cx="9525" cy="345876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3594199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안전장치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9572625" y="4941391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572625" y="4380905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수치</a:t>
            </a:r>
            <a:endParaRPr lang="en-US" sz="2475" dirty="0"/>
          </a:p>
        </p:txBody>
      </p:sp>
      <p:sp>
        <p:nvSpPr>
          <p:cNvPr id="25" name="Text 22"/>
          <p:cNvSpPr/>
          <p:nvPr/>
        </p:nvSpPr>
        <p:spPr>
          <a:xfrm>
            <a:off x="10848975" y="4333280"/>
            <a:ext cx="388617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문서에 없는 값은 "확인 필요"</a:t>
            </a:r>
            <a:endParaRPr lang="en-US" sz="2475" dirty="0"/>
          </a:p>
        </p:txBody>
      </p:sp>
      <p:sp>
        <p:nvSpPr>
          <p:cNvPr id="26" name="Shape 23"/>
          <p:cNvSpPr/>
          <p:nvPr/>
        </p:nvSpPr>
        <p:spPr>
          <a:xfrm>
            <a:off x="9572625" y="5749528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5189041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출처</a:t>
            </a:r>
            <a:endParaRPr lang="en-US" sz="2475" dirty="0"/>
          </a:p>
        </p:txBody>
      </p:sp>
      <p:sp>
        <p:nvSpPr>
          <p:cNvPr id="28" name="Text 25"/>
          <p:cNvSpPr/>
          <p:nvPr/>
        </p:nvSpPr>
        <p:spPr>
          <a:xfrm>
            <a:off x="10848975" y="5141416"/>
            <a:ext cx="3709199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근거가 된 문서 절 표시 요청</a:t>
            </a:r>
            <a:endParaRPr lang="en-US" sz="2475" dirty="0"/>
          </a:p>
        </p:txBody>
      </p:sp>
      <p:sp>
        <p:nvSpPr>
          <p:cNvPr id="29" name="Text 26"/>
          <p:cNvSpPr/>
          <p:nvPr/>
        </p:nvSpPr>
        <p:spPr>
          <a:xfrm>
            <a:off x="9572625" y="5997178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검증</a:t>
            </a:r>
            <a:endParaRPr lang="en-US" sz="2475" dirty="0"/>
          </a:p>
        </p:txBody>
      </p:sp>
      <p:sp>
        <p:nvSpPr>
          <p:cNvPr id="30" name="Text 27"/>
          <p:cNvSpPr/>
          <p:nvPr/>
        </p:nvSpPr>
        <p:spPr>
          <a:xfrm>
            <a:off x="10848975" y="5949553"/>
            <a:ext cx="3325951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원문과 수치 대조 후 사용</a:t>
            </a:r>
            <a:endParaRPr lang="en-US" sz="2475" dirty="0"/>
          </a:p>
        </p:txBody>
      </p:sp>
      <p:sp>
        <p:nvSpPr>
          <p:cNvPr id="31" name="Shape 28"/>
          <p:cNvSpPr/>
          <p:nvPr/>
        </p:nvSpPr>
        <p:spPr>
          <a:xfrm>
            <a:off x="762000" y="7005341"/>
            <a:ext cx="16764000" cy="1579859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047750" y="7562590"/>
            <a:ext cx="16192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1047750" y="7295890"/>
            <a:ext cx="158308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16094422" y="7553065"/>
            <a:ext cx="1145828" cy="1905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6056322" y="7295890"/>
            <a:ext cx="1222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프롬프트 복사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047750" y="7662566"/>
            <a:ext cx="16427450" cy="936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기술보고서.docx를 바탕으로 경영진 보고용 4장 초안을 작성해줘. [추진 배경 · 핵심 기술 · 기대 효과 · 투자 계획] 구조로, 장별 핵심 메시지 1개와 근거 3~4개를 넣고 없는 수치는 "확인 필요"로 표시해줘.</a:t>
            </a:r>
            <a:endParaRPr lang="en-US" sz="2400" dirty="0"/>
          </a:p>
        </p:txBody>
      </p:sp>
      <p:sp>
        <p:nvSpPr>
          <p:cNvPr id="37" name="Shape 34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51 / 60</a:t>
            </a:r>
            <a:endParaRPr lang="en-US" sz="1650" dirty="0"/>
          </a:p>
        </p:txBody>
      </p:sp>
      <p:sp>
        <p:nvSpPr>
          <p:cNvPr id="40" name="DiffDot1">
            <a:extLst>
              <a:ext uri="{FF2B5EF4-FFF2-40B4-BE49-F238E27FC236}">
                <a16:creationId xmlns:a16="http://schemas.microsoft.com/office/drawing/2014/main" id="{120D78DA-9AF1-9542-90FF-BF13CCF69ACD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ffDot2">
            <a:extLst>
              <a:ext uri="{FF2B5EF4-FFF2-40B4-BE49-F238E27FC236}">
                <a16:creationId xmlns:a16="http://schemas.microsoft.com/office/drawing/2014/main" id="{F0E5CE0E-B5E1-EA46-98B9-F976EEE3FF63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DiffDot3">
            <a:extLst>
              <a:ext uri="{FF2B5EF4-FFF2-40B4-BE49-F238E27FC236}">
                <a16:creationId xmlns:a16="http://schemas.microsoft.com/office/drawing/2014/main" id="{62AB0CCE-D642-2A41-A6A4-B65606985BED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DiffDot4">
            <a:extLst>
              <a:ext uri="{FF2B5EF4-FFF2-40B4-BE49-F238E27FC236}">
                <a16:creationId xmlns:a16="http://schemas.microsoft.com/office/drawing/2014/main" id="{88ECDED5-8AB8-3144-BE18-1925C224AEE5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DiffDot5">
            <a:extLst>
              <a:ext uri="{FF2B5EF4-FFF2-40B4-BE49-F238E27FC236}">
                <a16:creationId xmlns:a16="http://schemas.microsoft.com/office/drawing/2014/main" id="{2DFEBD83-F101-744D-BB0B-453A66976F9D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DiffLabel">
            <a:extLst>
              <a:ext uri="{FF2B5EF4-FFF2-40B4-BE49-F238E27FC236}">
                <a16:creationId xmlns:a16="http://schemas.microsoft.com/office/drawing/2014/main" id="{59A9546E-A780-2A4C-ADEA-0AC65BC084F4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  <p:sp>
        <p:nvSpPr>
          <p:cNvPr id="47" name="TroubleshootTitle">
            <a:extLst>
              <a:ext uri="{FF2B5EF4-FFF2-40B4-BE49-F238E27FC236}">
                <a16:creationId xmlns:a16="http://schemas.microsoft.com/office/drawing/2014/main" id="{2EE3DE93-C59B-B844-A611-1FC0C010B608}"/>
              </a:ext>
            </a:extLst>
          </p:cNvPr>
          <p:cNvSpPr txBox="1"/>
          <p:nvPr/>
        </p:nvSpPr>
        <p:spPr>
          <a:xfrm>
            <a:off x="1270000" y="88265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" altLang="ko-KR" sz="1400" b="1">
                <a:solidFill>
                  <a:srgbClr val="C25A11"/>
                </a:solidFill>
                <a:latin typeface="BM DoHyeon OTF"/>
                <a:ea typeface="BM DoHyeon OTF"/>
              </a:rPr>
              <a:t>[Troubleshooting]</a:t>
            </a:r>
            <a:endParaRPr lang="ko-KR" altLang="en-US" sz="1400" b="1">
              <a:solidFill>
                <a:srgbClr val="C25A11"/>
              </a:solidFill>
              <a:latin typeface="BM DoHyeon OTF"/>
              <a:ea typeface="BM DoHyeon OTF"/>
            </a:endParaRPr>
          </a:p>
        </p:txBody>
      </p:sp>
      <p:sp>
        <p:nvSpPr>
          <p:cNvPr id="48" name="TroubleshootBody">
            <a:extLst>
              <a:ext uri="{FF2B5EF4-FFF2-40B4-BE49-F238E27FC236}">
                <a16:creationId xmlns:a16="http://schemas.microsoft.com/office/drawing/2014/main" id="{306C81E6-36BE-1D4E-BAAA-987DCED40110}"/>
              </a:ext>
            </a:extLst>
          </p:cNvPr>
          <p:cNvSpPr txBox="1"/>
          <p:nvPr/>
        </p:nvSpPr>
        <p:spPr>
          <a:xfrm>
            <a:off x="1066800" y="9093200"/>
            <a:ext cx="16154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① </a:t>
            </a:r>
            <a:r>
              <a:rPr lang="ko-KR" altLang="en-US" sz="140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변환 후 표</a:t>
            </a:r>
            <a:r>
              <a:rPr lang="en-US" altLang="ko-KR" sz="140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·</a:t>
            </a:r>
            <a:r>
              <a:rPr lang="ko-KR" altLang="en-US" sz="140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이미지가 깨지면 원본 서식을 단순화해 재요청  </a:t>
            </a:r>
            <a:r>
              <a:rPr lang="en-US" altLang="ko-KR" sz="140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② </a:t>
            </a:r>
            <a:r>
              <a:rPr lang="ko-KR" altLang="en-US" sz="1400">
                <a:solidFill>
                  <a:srgbClr val="595959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슬라이드 분량이 과하면 섹션 단위로 나눠 요청</a:t>
            </a:r>
          </a:p>
        </p:txBody>
      </p:sp>
    </p:spTree>
    <p:extLst>
      <p:ext uri="{BB962C8B-B14F-4D97-AF65-F5344CB8AC3E}">
        <p14:creationId xmlns:p14="http://schemas.microsoft.com/office/powerpoint/2010/main" val="35194768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roubleshootBox">
            <a:extLst>
              <a:ext uri="{FF2B5EF4-FFF2-40B4-BE49-F238E27FC236}">
                <a16:creationId xmlns:a16="http://schemas.microsoft.com/office/drawing/2014/main" id="{E8C7B778-18DB-3044-96ED-E801F55B4B42}"/>
              </a:ext>
            </a:extLst>
          </p:cNvPr>
          <p:cNvSpPr/>
          <p:nvPr/>
        </p:nvSpPr>
        <p:spPr>
          <a:xfrm>
            <a:off x="12954000" y="7912100"/>
            <a:ext cx="4572000" cy="1409700"/>
          </a:xfrm>
          <a:prstGeom prst="roundRect">
            <a:avLst/>
          </a:prstGeom>
          <a:solidFill>
            <a:srgbClr val="FFF4EC"/>
          </a:solidFill>
          <a:ln w="12700" cap="flat" cmpd="sng" algn="ctr">
            <a:solidFill>
              <a:srgbClr val="ED7D3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EF68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44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177343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634543" y="623888"/>
            <a:ext cx="19676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EF6800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POWERPOINT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44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임원 보고용 4대 슬라이드 생성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Word 보고서를 임원 의사결정용 슬라이드로 자동 생성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794224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작업 절차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5141416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580930"/>
            <a:ext cx="1143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1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2038350" y="4533305"/>
            <a:ext cx="3414028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/files로 보고서 파일 지정</a:t>
            </a:r>
            <a:endParaRPr lang="en-US" sz="2475" dirty="0"/>
          </a:p>
        </p:txBody>
      </p:sp>
      <p:sp>
        <p:nvSpPr>
          <p:cNvPr id="16" name="Shape 13"/>
          <p:cNvSpPr/>
          <p:nvPr/>
        </p:nvSpPr>
        <p:spPr>
          <a:xfrm>
            <a:off x="762000" y="5949553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5389066"/>
            <a:ext cx="1143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2038350" y="5341441"/>
            <a:ext cx="333266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임원 보고 형식·분량 지시</a:t>
            </a:r>
            <a:endParaRPr lang="en-US" sz="2475" dirty="0"/>
          </a:p>
        </p:txBody>
      </p:sp>
      <p:sp>
        <p:nvSpPr>
          <p:cNvPr id="19" name="Text 16"/>
          <p:cNvSpPr/>
          <p:nvPr/>
        </p:nvSpPr>
        <p:spPr>
          <a:xfrm>
            <a:off x="762000" y="6197203"/>
            <a:ext cx="1143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3</a:t>
            </a:r>
            <a:endParaRPr lang="en-US" sz="2475" dirty="0"/>
          </a:p>
        </p:txBody>
      </p:sp>
      <p:sp>
        <p:nvSpPr>
          <p:cNvPr id="20" name="Text 17"/>
          <p:cNvSpPr/>
          <p:nvPr/>
        </p:nvSpPr>
        <p:spPr>
          <a:xfrm>
            <a:off x="2038350" y="6149578"/>
            <a:ext cx="3766006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KPI·타임라인을 카드로 요청</a:t>
            </a:r>
            <a:endParaRPr lang="en-US" sz="2475" dirty="0"/>
          </a:p>
        </p:txBody>
      </p:sp>
      <p:sp>
        <p:nvSpPr>
          <p:cNvPr id="21" name="Shape 18"/>
          <p:cNvSpPr/>
          <p:nvPr/>
        </p:nvSpPr>
        <p:spPr>
          <a:xfrm>
            <a:off x="9144000" y="3546574"/>
            <a:ext cx="9525" cy="345876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3794224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체크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9572625" y="5141416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572625" y="4580930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분량</a:t>
            </a:r>
            <a:endParaRPr lang="en-US" sz="2475" dirty="0"/>
          </a:p>
        </p:txBody>
      </p:sp>
      <p:sp>
        <p:nvSpPr>
          <p:cNvPr id="25" name="Text 22"/>
          <p:cNvSpPr/>
          <p:nvPr/>
        </p:nvSpPr>
        <p:spPr>
          <a:xfrm>
            <a:off x="10848975" y="4533305"/>
            <a:ext cx="301326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슬라이드당 메시지 1개</a:t>
            </a:r>
            <a:endParaRPr lang="en-US" sz="2475" dirty="0"/>
          </a:p>
        </p:txBody>
      </p:sp>
      <p:sp>
        <p:nvSpPr>
          <p:cNvPr id="26" name="Shape 23"/>
          <p:cNvSpPr/>
          <p:nvPr/>
        </p:nvSpPr>
        <p:spPr>
          <a:xfrm>
            <a:off x="9572625" y="5949553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5389066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시각화</a:t>
            </a:r>
            <a:endParaRPr lang="en-US" sz="2475" dirty="0"/>
          </a:p>
        </p:txBody>
      </p:sp>
      <p:sp>
        <p:nvSpPr>
          <p:cNvPr id="28" name="Text 25"/>
          <p:cNvSpPr/>
          <p:nvPr/>
        </p:nvSpPr>
        <p:spPr>
          <a:xfrm>
            <a:off x="10848975" y="5341441"/>
            <a:ext cx="2479402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KPI는 숫자 카드로</a:t>
            </a:r>
            <a:endParaRPr lang="en-US" sz="2475" dirty="0"/>
          </a:p>
        </p:txBody>
      </p:sp>
      <p:sp>
        <p:nvSpPr>
          <p:cNvPr id="29" name="Text 26"/>
          <p:cNvSpPr/>
          <p:nvPr/>
        </p:nvSpPr>
        <p:spPr>
          <a:xfrm>
            <a:off x="9572625" y="6197203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수치</a:t>
            </a:r>
            <a:endParaRPr lang="en-US" sz="2475" dirty="0"/>
          </a:p>
        </p:txBody>
      </p:sp>
      <p:sp>
        <p:nvSpPr>
          <p:cNvPr id="30" name="Text 27"/>
          <p:cNvSpPr/>
          <p:nvPr/>
        </p:nvSpPr>
        <p:spPr>
          <a:xfrm>
            <a:off x="10848975" y="6149578"/>
            <a:ext cx="362472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원문에 없는 값은 표시 요청</a:t>
            </a:r>
            <a:endParaRPr lang="en-US" sz="2475" dirty="0"/>
          </a:p>
        </p:txBody>
      </p:sp>
      <p:sp>
        <p:nvSpPr>
          <p:cNvPr id="31" name="Shape 28"/>
          <p:cNvSpPr/>
          <p:nvPr/>
        </p:nvSpPr>
        <p:spPr>
          <a:xfrm>
            <a:off x="762000" y="7905750"/>
            <a:ext cx="11938000" cy="1409700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047750" y="8543925"/>
            <a:ext cx="11366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1047750" y="8134350"/>
            <a:ext cx="158308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11264900" y="8391525"/>
            <a:ext cx="1145828" cy="1905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1226800" y="8134350"/>
            <a:ext cx="1222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프롬프트 복사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047750" y="8642350"/>
            <a:ext cx="1172210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/files "기술보고서.docx"로 프레젠테이션을 생성해줘. 임원 보고에 맞게 글을 줄이고 핵심 KPI와 타임라인을 시각적 카드로 구성해줘.</a:t>
            </a:r>
            <a:endParaRPr lang="en-US" sz="2400" dirty="0"/>
          </a:p>
        </p:txBody>
      </p:sp>
      <p:sp>
        <p:nvSpPr>
          <p:cNvPr id="37" name="Shape 34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52 / 60</a:t>
            </a:r>
            <a:endParaRPr lang="en-US" sz="1650" dirty="0"/>
          </a:p>
        </p:txBody>
      </p:sp>
      <p:sp>
        <p:nvSpPr>
          <p:cNvPr id="40" name="DiffDot1">
            <a:extLst>
              <a:ext uri="{FF2B5EF4-FFF2-40B4-BE49-F238E27FC236}">
                <a16:creationId xmlns:a16="http://schemas.microsoft.com/office/drawing/2014/main" id="{C69DB7CB-EB8F-D44F-B761-A848EA8DF86C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ffDot2">
            <a:extLst>
              <a:ext uri="{FF2B5EF4-FFF2-40B4-BE49-F238E27FC236}">
                <a16:creationId xmlns:a16="http://schemas.microsoft.com/office/drawing/2014/main" id="{873D22B9-F22B-9647-9BB6-9991F0828EEB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DiffDot3">
            <a:extLst>
              <a:ext uri="{FF2B5EF4-FFF2-40B4-BE49-F238E27FC236}">
                <a16:creationId xmlns:a16="http://schemas.microsoft.com/office/drawing/2014/main" id="{E1B9F18B-8EFA-7947-ACDC-E82081D03300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DiffDot4">
            <a:extLst>
              <a:ext uri="{FF2B5EF4-FFF2-40B4-BE49-F238E27FC236}">
                <a16:creationId xmlns:a16="http://schemas.microsoft.com/office/drawing/2014/main" id="{15333373-1980-264B-8730-75BC767F86DF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DiffDot5">
            <a:extLst>
              <a:ext uri="{FF2B5EF4-FFF2-40B4-BE49-F238E27FC236}">
                <a16:creationId xmlns:a16="http://schemas.microsoft.com/office/drawing/2014/main" id="{4FEAD2B4-2972-694C-88AF-765DB68049D9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DiffLabel">
            <a:extLst>
              <a:ext uri="{FF2B5EF4-FFF2-40B4-BE49-F238E27FC236}">
                <a16:creationId xmlns:a16="http://schemas.microsoft.com/office/drawing/2014/main" id="{D3E49BFB-5E70-9044-83F1-55E219CABD08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  <p:sp>
        <p:nvSpPr>
          <p:cNvPr id="47" name="TroubleshootTitle">
            <a:extLst>
              <a:ext uri="{FF2B5EF4-FFF2-40B4-BE49-F238E27FC236}">
                <a16:creationId xmlns:a16="http://schemas.microsoft.com/office/drawing/2014/main" id="{699DB12C-BE67-D145-998F-74D3E9D8F037}"/>
              </a:ext>
            </a:extLst>
          </p:cNvPr>
          <p:cNvSpPr txBox="1"/>
          <p:nvPr/>
        </p:nvSpPr>
        <p:spPr>
          <a:xfrm>
            <a:off x="13208000" y="8051800"/>
            <a:ext cx="4064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" altLang="ko-KR" sz="1400" b="1">
                <a:solidFill>
                  <a:srgbClr val="C25A11"/>
                </a:solidFill>
                <a:latin typeface="BM DoHyeon OTF"/>
                <a:ea typeface="BM DoHyeon OTF"/>
              </a:rPr>
              <a:t>[Troubleshooting]</a:t>
            </a:r>
            <a:endParaRPr lang="ko-KR" altLang="en-US" sz="1400" b="1">
              <a:solidFill>
                <a:srgbClr val="C25A11"/>
              </a:solidFill>
              <a:latin typeface="BM DoHyeon OTF"/>
              <a:ea typeface="BM DoHyeon OTF"/>
            </a:endParaRPr>
          </a:p>
        </p:txBody>
      </p:sp>
      <p:sp>
        <p:nvSpPr>
          <p:cNvPr id="48" name="TroubleshootBody">
            <a:extLst>
              <a:ext uri="{FF2B5EF4-FFF2-40B4-BE49-F238E27FC236}">
                <a16:creationId xmlns:a16="http://schemas.microsoft.com/office/drawing/2014/main" id="{5D9BE2B3-E714-3348-9289-856AB7574BC8}"/>
              </a:ext>
            </a:extLst>
          </p:cNvPr>
          <p:cNvSpPr txBox="1"/>
          <p:nvPr/>
        </p:nvSpPr>
        <p:spPr>
          <a:xfrm>
            <a:off x="13157200" y="8318500"/>
            <a:ext cx="41656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595959"/>
                </a:solidFill>
              </a:rPr>
              <a:t>① </a:t>
            </a:r>
            <a:r>
              <a:rPr lang="ko-KR" altLang="en-US" sz="1400">
                <a:solidFill>
                  <a:srgbClr val="595959"/>
                </a:solidFill>
              </a:rPr>
              <a:t>우선순위 불명확 시 지표</a:t>
            </a:r>
            <a:r>
              <a:rPr lang="en-US" altLang="ko-KR" sz="1400">
                <a:solidFill>
                  <a:srgbClr val="595959"/>
                </a:solidFill>
              </a:rPr>
              <a:t>(</a:t>
            </a:r>
            <a:r>
              <a:rPr lang="ko-KR" altLang="en-US" sz="1400">
                <a:solidFill>
                  <a:srgbClr val="595959"/>
                </a:solidFill>
              </a:rPr>
              <a:t>매출</a:t>
            </a:r>
            <a:r>
              <a:rPr lang="en-US" altLang="ko-KR" sz="1400">
                <a:solidFill>
                  <a:srgbClr val="595959"/>
                </a:solidFill>
              </a:rPr>
              <a:t>/</a:t>
            </a:r>
            <a:r>
              <a:rPr lang="ko-KR" altLang="en-US" sz="1400">
                <a:solidFill>
                  <a:srgbClr val="595959"/>
                </a:solidFill>
              </a:rPr>
              <a:t>리스크</a:t>
            </a:r>
            <a:r>
              <a:rPr lang="en-US" altLang="ko-KR" sz="1400">
                <a:solidFill>
                  <a:srgbClr val="595959"/>
                </a:solidFill>
              </a:rPr>
              <a:t>) </a:t>
            </a:r>
            <a:r>
              <a:rPr lang="ko-KR" altLang="en-US" sz="1400">
                <a:solidFill>
                  <a:srgbClr val="595959"/>
                </a:solidFill>
              </a:rPr>
              <a:t>지정
</a:t>
            </a:r>
            <a:r>
              <a:rPr lang="en-US" altLang="ko-KR" sz="1400">
                <a:solidFill>
                  <a:srgbClr val="595959"/>
                </a:solidFill>
              </a:rPr>
              <a:t>② 4</a:t>
            </a:r>
            <a:r>
              <a:rPr lang="ko-KR" altLang="en-US" sz="1400">
                <a:solidFill>
                  <a:srgbClr val="595959"/>
                </a:solidFill>
              </a:rPr>
              <a:t>대 슬라이드 과할 경우 </a:t>
            </a:r>
            <a:r>
              <a:rPr lang="en-US" altLang="ko-KR" sz="1400">
                <a:solidFill>
                  <a:srgbClr val="595959"/>
                </a:solidFill>
              </a:rPr>
              <a:t>3</a:t>
            </a:r>
            <a:r>
              <a:rPr lang="ko-KR" altLang="en-US" sz="1400">
                <a:solidFill>
                  <a:srgbClr val="595959"/>
                </a:solidFill>
              </a:rPr>
              <a:t>개로 압축 요청</a:t>
            </a:r>
          </a:p>
        </p:txBody>
      </p:sp>
    </p:spTree>
    <p:extLst>
      <p:ext uri="{BB962C8B-B14F-4D97-AF65-F5344CB8AC3E}">
        <p14:creationId xmlns:p14="http://schemas.microsoft.com/office/powerpoint/2010/main" val="8803831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roubleshootBox">
            <a:extLst>
              <a:ext uri="{FF2B5EF4-FFF2-40B4-BE49-F238E27FC236}">
                <a16:creationId xmlns:a16="http://schemas.microsoft.com/office/drawing/2014/main" id="{4C9F5C94-1D43-C742-8BFA-506D2C889CF8}"/>
              </a:ext>
            </a:extLst>
          </p:cNvPr>
          <p:cNvSpPr/>
          <p:nvPr/>
        </p:nvSpPr>
        <p:spPr>
          <a:xfrm>
            <a:off x="12954000" y="7912100"/>
            <a:ext cx="4572000" cy="1409700"/>
          </a:xfrm>
          <a:prstGeom prst="roundRect">
            <a:avLst/>
          </a:prstGeom>
          <a:solidFill>
            <a:srgbClr val="FFF4EC"/>
          </a:solidFill>
          <a:ln w="12700" cap="flat" cmpd="sng" algn="ctr">
            <a:solidFill>
              <a:srgbClr val="ED7D3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EF68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45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177343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634543" y="623888"/>
            <a:ext cx="19676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EF6800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POWERPOINT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45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1페이지 ROI 서머리 디자인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투자 회수 기간과 품질 지표를 한 장으로 압축합니다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794224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필수 요소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5141416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580930"/>
            <a:ext cx="116383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총투자비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2059186" y="4533305"/>
            <a:ext cx="178494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CAPEX 합계</a:t>
            </a:r>
            <a:endParaRPr lang="en-US" sz="2475" dirty="0"/>
          </a:p>
        </p:txBody>
      </p:sp>
      <p:sp>
        <p:nvSpPr>
          <p:cNvPr id="16" name="Shape 13"/>
          <p:cNvSpPr/>
          <p:nvPr/>
        </p:nvSpPr>
        <p:spPr>
          <a:xfrm>
            <a:off x="762000" y="5949553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5389066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절감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2038350" y="5341441"/>
            <a:ext cx="2547342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연간 OPEX 절감액</a:t>
            </a:r>
            <a:endParaRPr lang="en-US" sz="2475" dirty="0"/>
          </a:p>
        </p:txBody>
      </p:sp>
      <p:sp>
        <p:nvSpPr>
          <p:cNvPr id="19" name="Text 16"/>
          <p:cNvSpPr/>
          <p:nvPr/>
        </p:nvSpPr>
        <p:spPr>
          <a:xfrm>
            <a:off x="762000" y="6197203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회수</a:t>
            </a:r>
            <a:endParaRPr lang="en-US" sz="2475" dirty="0"/>
          </a:p>
        </p:txBody>
      </p:sp>
      <p:sp>
        <p:nvSpPr>
          <p:cNvPr id="20" name="Text 17"/>
          <p:cNvSpPr/>
          <p:nvPr/>
        </p:nvSpPr>
        <p:spPr>
          <a:xfrm>
            <a:off x="2038350" y="6149578"/>
            <a:ext cx="392366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투자 회수 기간과 리스크 요약</a:t>
            </a:r>
            <a:endParaRPr lang="en-US" sz="2475" dirty="0"/>
          </a:p>
        </p:txBody>
      </p:sp>
      <p:sp>
        <p:nvSpPr>
          <p:cNvPr id="21" name="Shape 18"/>
          <p:cNvSpPr/>
          <p:nvPr/>
        </p:nvSpPr>
        <p:spPr>
          <a:xfrm>
            <a:off x="9144000" y="3546574"/>
            <a:ext cx="9525" cy="345876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3794224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디자인 원칙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9572625" y="5141416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572625" y="4580930"/>
            <a:ext cx="115416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5초 규칙</a:t>
            </a:r>
            <a:endParaRPr lang="en-US" sz="2475" dirty="0"/>
          </a:p>
        </p:txBody>
      </p:sp>
      <p:sp>
        <p:nvSpPr>
          <p:cNvPr id="25" name="Text 22"/>
          <p:cNvSpPr/>
          <p:nvPr/>
        </p:nvSpPr>
        <p:spPr>
          <a:xfrm>
            <a:off x="10860137" y="4533305"/>
            <a:ext cx="294270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핵심 숫자가 가장 크게</a:t>
            </a:r>
            <a:endParaRPr lang="en-US" sz="2475" dirty="0"/>
          </a:p>
        </p:txBody>
      </p:sp>
      <p:sp>
        <p:nvSpPr>
          <p:cNvPr id="26" name="Shape 23"/>
          <p:cNvSpPr/>
          <p:nvPr/>
        </p:nvSpPr>
        <p:spPr>
          <a:xfrm>
            <a:off x="9572625" y="5949553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5389066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근거</a:t>
            </a:r>
            <a:endParaRPr lang="en-US" sz="2475" dirty="0"/>
          </a:p>
        </p:txBody>
      </p:sp>
      <p:sp>
        <p:nvSpPr>
          <p:cNvPr id="28" name="Text 25"/>
          <p:cNvSpPr/>
          <p:nvPr/>
        </p:nvSpPr>
        <p:spPr>
          <a:xfrm>
            <a:off x="10848975" y="5341441"/>
            <a:ext cx="2643932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수치 옆에 출처 표시</a:t>
            </a:r>
            <a:endParaRPr lang="en-US" sz="2475" dirty="0"/>
          </a:p>
        </p:txBody>
      </p:sp>
      <p:sp>
        <p:nvSpPr>
          <p:cNvPr id="29" name="Text 26"/>
          <p:cNvSpPr/>
          <p:nvPr/>
        </p:nvSpPr>
        <p:spPr>
          <a:xfrm>
            <a:off x="9572625" y="6197203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판단</a:t>
            </a:r>
            <a:endParaRPr lang="en-US" sz="2475" dirty="0"/>
          </a:p>
        </p:txBody>
      </p:sp>
      <p:sp>
        <p:nvSpPr>
          <p:cNvPr id="30" name="Text 27"/>
          <p:cNvSpPr/>
          <p:nvPr/>
        </p:nvSpPr>
        <p:spPr>
          <a:xfrm>
            <a:off x="10848975" y="6149578"/>
            <a:ext cx="363160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승인·보류 판단 포인트 명시</a:t>
            </a:r>
            <a:endParaRPr lang="en-US" sz="2475" dirty="0"/>
          </a:p>
        </p:txBody>
      </p:sp>
      <p:sp>
        <p:nvSpPr>
          <p:cNvPr id="31" name="Shape 28"/>
          <p:cNvSpPr/>
          <p:nvPr/>
        </p:nvSpPr>
        <p:spPr>
          <a:xfrm>
            <a:off x="762000" y="7905750"/>
            <a:ext cx="11938000" cy="1409700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047750" y="8543925"/>
            <a:ext cx="11366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1047750" y="8134350"/>
            <a:ext cx="158308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11264900" y="8391525"/>
            <a:ext cx="1145828" cy="1905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1226800" y="8134350"/>
            <a:ext cx="1222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프롬프트 복사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047750" y="8642350"/>
            <a:ext cx="1172210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/files "CAPEX_예산안_2026.csv"를 바탕으로 총투자비·연간 절감액·회수 기간·리스크 요약을 담은 1페이지 임원 보고 슬라이드를 만들어줘.</a:t>
            </a:r>
            <a:endParaRPr lang="en-US" sz="2400" dirty="0"/>
          </a:p>
        </p:txBody>
      </p:sp>
      <p:sp>
        <p:nvSpPr>
          <p:cNvPr id="37" name="Shape 34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53 / 60</a:t>
            </a:r>
            <a:endParaRPr lang="en-US" sz="1650" dirty="0"/>
          </a:p>
        </p:txBody>
      </p:sp>
      <p:sp>
        <p:nvSpPr>
          <p:cNvPr id="40" name="DiffDot1">
            <a:extLst>
              <a:ext uri="{FF2B5EF4-FFF2-40B4-BE49-F238E27FC236}">
                <a16:creationId xmlns:a16="http://schemas.microsoft.com/office/drawing/2014/main" id="{31B04B89-8DB3-E346-BF4F-8024225AF540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ffDot2">
            <a:extLst>
              <a:ext uri="{FF2B5EF4-FFF2-40B4-BE49-F238E27FC236}">
                <a16:creationId xmlns:a16="http://schemas.microsoft.com/office/drawing/2014/main" id="{CE88716C-B492-1F48-AFC6-232F3A2CED1D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DiffDot3">
            <a:extLst>
              <a:ext uri="{FF2B5EF4-FFF2-40B4-BE49-F238E27FC236}">
                <a16:creationId xmlns:a16="http://schemas.microsoft.com/office/drawing/2014/main" id="{F4D79943-BD2B-EE47-8F13-629FFC9D24C3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DiffDot4">
            <a:extLst>
              <a:ext uri="{FF2B5EF4-FFF2-40B4-BE49-F238E27FC236}">
                <a16:creationId xmlns:a16="http://schemas.microsoft.com/office/drawing/2014/main" id="{390C6BE4-DABD-D84C-AEC5-F509B7CF41B7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DiffDot5">
            <a:extLst>
              <a:ext uri="{FF2B5EF4-FFF2-40B4-BE49-F238E27FC236}">
                <a16:creationId xmlns:a16="http://schemas.microsoft.com/office/drawing/2014/main" id="{A1041996-C8A6-0041-B1FE-99613E00DAA3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DiffLabel">
            <a:extLst>
              <a:ext uri="{FF2B5EF4-FFF2-40B4-BE49-F238E27FC236}">
                <a16:creationId xmlns:a16="http://schemas.microsoft.com/office/drawing/2014/main" id="{FCDFA661-18AE-0347-88C9-1D6DCE8A9B9B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  <p:sp>
        <p:nvSpPr>
          <p:cNvPr id="47" name="TroubleshootTitle">
            <a:extLst>
              <a:ext uri="{FF2B5EF4-FFF2-40B4-BE49-F238E27FC236}">
                <a16:creationId xmlns:a16="http://schemas.microsoft.com/office/drawing/2014/main" id="{C6552498-0C77-FC42-B007-6E7007C2D28B}"/>
              </a:ext>
            </a:extLst>
          </p:cNvPr>
          <p:cNvSpPr txBox="1"/>
          <p:nvPr/>
        </p:nvSpPr>
        <p:spPr>
          <a:xfrm>
            <a:off x="13157200" y="8051800"/>
            <a:ext cx="41656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" altLang="ko-KR" sz="1400" b="1">
                <a:solidFill>
                  <a:srgbClr val="C25A11"/>
                </a:solidFill>
                <a:latin typeface="BM DoHyeon OTF"/>
                <a:ea typeface="BM DoHyeon OTF"/>
              </a:rPr>
              <a:t>[Troubleshooting]</a:t>
            </a:r>
            <a:endParaRPr lang="ko-KR" altLang="en-US" sz="1400" b="1">
              <a:solidFill>
                <a:srgbClr val="C25A11"/>
              </a:solidFill>
              <a:latin typeface="BM DoHyeon OTF"/>
              <a:ea typeface="BM DoHyeon OTF"/>
            </a:endParaRPr>
          </a:p>
        </p:txBody>
      </p:sp>
      <p:sp>
        <p:nvSpPr>
          <p:cNvPr id="48" name="TroubleshootBody">
            <a:extLst>
              <a:ext uri="{FF2B5EF4-FFF2-40B4-BE49-F238E27FC236}">
                <a16:creationId xmlns:a16="http://schemas.microsoft.com/office/drawing/2014/main" id="{7EB83B7C-ABD8-9D4A-BB75-AB5628984174}"/>
              </a:ext>
            </a:extLst>
          </p:cNvPr>
          <p:cNvSpPr txBox="1"/>
          <p:nvPr/>
        </p:nvSpPr>
        <p:spPr>
          <a:xfrm>
            <a:off x="13157200" y="8331200"/>
            <a:ext cx="41656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595959"/>
                </a:solidFill>
              </a:rPr>
              <a:t>① </a:t>
            </a:r>
            <a:r>
              <a:rPr lang="ko-KR" altLang="en-US" sz="1400">
                <a:solidFill>
                  <a:srgbClr val="595959"/>
                </a:solidFill>
              </a:rPr>
              <a:t>지표 정의</a:t>
            </a:r>
            <a:r>
              <a:rPr lang="en-US" altLang="ko-KR" sz="1400">
                <a:solidFill>
                  <a:srgbClr val="595959"/>
                </a:solidFill>
              </a:rPr>
              <a:t>(</a:t>
            </a:r>
            <a:r>
              <a:rPr lang="en" altLang="ko-KR" sz="1400">
                <a:solidFill>
                  <a:srgbClr val="595959"/>
                </a:solidFill>
              </a:rPr>
              <a:t>ROI </a:t>
            </a:r>
            <a:r>
              <a:rPr lang="ko-KR" altLang="en-US" sz="1400">
                <a:solidFill>
                  <a:srgbClr val="595959"/>
                </a:solidFill>
              </a:rPr>
              <a:t>산정 기준</a:t>
            </a:r>
            <a:r>
              <a:rPr lang="en-US" altLang="ko-KR" sz="1400">
                <a:solidFill>
                  <a:srgbClr val="595959"/>
                </a:solidFill>
              </a:rPr>
              <a:t>)</a:t>
            </a:r>
            <a:r>
              <a:rPr lang="ko-KR" altLang="en-US" sz="1400">
                <a:solidFill>
                  <a:srgbClr val="595959"/>
                </a:solidFill>
              </a:rPr>
              <a:t>를 명확히 밝히지 않으면 재요청  </a:t>
            </a:r>
            <a:r>
              <a:rPr lang="en-US" altLang="ko-KR" sz="1400">
                <a:solidFill>
                  <a:srgbClr val="595959"/>
                </a:solidFill>
              </a:rPr>
              <a:t>② </a:t>
            </a:r>
            <a:r>
              <a:rPr lang="ko-KR" altLang="en-US" sz="1400">
                <a:solidFill>
                  <a:srgbClr val="595959"/>
                </a:solidFill>
              </a:rPr>
              <a:t>숫자 근거자료 누락 시 출처 표기 요청</a:t>
            </a:r>
          </a:p>
        </p:txBody>
      </p:sp>
    </p:spTree>
    <p:extLst>
      <p:ext uri="{BB962C8B-B14F-4D97-AF65-F5344CB8AC3E}">
        <p14:creationId xmlns:p14="http://schemas.microsoft.com/office/powerpoint/2010/main" val="30236082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roubleshootBox">
            <a:extLst>
              <a:ext uri="{FF2B5EF4-FFF2-40B4-BE49-F238E27FC236}">
                <a16:creationId xmlns:a16="http://schemas.microsoft.com/office/drawing/2014/main" id="{42D6B8E7-15C1-8241-B2F2-33A4904260BB}"/>
              </a:ext>
            </a:extLst>
          </p:cNvPr>
          <p:cNvSpPr/>
          <p:nvPr/>
        </p:nvSpPr>
        <p:spPr>
          <a:xfrm>
            <a:off x="12954000" y="7912100"/>
            <a:ext cx="4572000" cy="1409700"/>
          </a:xfrm>
          <a:prstGeom prst="roundRect">
            <a:avLst/>
          </a:prstGeom>
          <a:solidFill>
            <a:srgbClr val="FFF4EC"/>
          </a:solidFill>
          <a:ln w="12700" cap="flat" cmpd="sng" algn="ctr">
            <a:solidFill>
              <a:srgbClr val="ED7D3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EF68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46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177343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634543" y="623888"/>
            <a:ext cx="19676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EF6800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POWERPOINT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46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전송망 증설 계획 슬라이드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광파워 열화 데이터를 근거로 100G→400G 증설 의사결정 자료를 구성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794224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필수 요소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5141416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580930"/>
            <a:ext cx="116383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현황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2059186" y="4533305"/>
            <a:ext cx="178494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감쇠 채널의 시간대별 Rx Level 추이</a:t>
            </a:r>
            <a:endParaRPr lang="en-US" sz="2475" dirty="0"/>
          </a:p>
        </p:txBody>
      </p:sp>
      <p:sp>
        <p:nvSpPr>
          <p:cNvPr id="16" name="Shape 13"/>
          <p:cNvSpPr/>
          <p:nvPr/>
        </p:nvSpPr>
        <p:spPr>
          <a:xfrm>
            <a:off x="762000" y="5949553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5389066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병목구간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2038350" y="5341441"/>
            <a:ext cx="2547342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링크 마진 소진이 임박한 구간 식별</a:t>
            </a:r>
            <a:endParaRPr lang="en-US" sz="2475" dirty="0"/>
          </a:p>
        </p:txBody>
      </p:sp>
      <p:sp>
        <p:nvSpPr>
          <p:cNvPr id="19" name="Text 16"/>
          <p:cNvSpPr/>
          <p:nvPr/>
        </p:nvSpPr>
        <p:spPr>
          <a:xfrm>
            <a:off x="762000" y="6197203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증설안</a:t>
            </a:r>
            <a:endParaRPr lang="en-US" sz="2475" dirty="0"/>
          </a:p>
        </p:txBody>
      </p:sp>
      <p:sp>
        <p:nvSpPr>
          <p:cNvPr id="20" name="Text 17"/>
          <p:cNvSpPr/>
          <p:nvPr/>
        </p:nvSpPr>
        <p:spPr>
          <a:xfrm>
            <a:off x="2038350" y="6149578"/>
            <a:ext cx="392366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코히런트 트랜시버·광증폭기 등 대안 제시</a:t>
            </a:r>
            <a:endParaRPr lang="en-US" sz="2475" dirty="0"/>
          </a:p>
        </p:txBody>
      </p:sp>
      <p:sp>
        <p:nvSpPr>
          <p:cNvPr id="21" name="Shape 18"/>
          <p:cNvSpPr/>
          <p:nvPr/>
        </p:nvSpPr>
        <p:spPr>
          <a:xfrm>
            <a:off x="9144000" y="3546574"/>
            <a:ext cx="9525" cy="345876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3794224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디자인 원칙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9572625" y="5141416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572625" y="4580930"/>
            <a:ext cx="115416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근거 우선</a:t>
            </a:r>
            <a:endParaRPr lang="en-US" sz="2475" dirty="0"/>
          </a:p>
        </p:txBody>
      </p:sp>
      <p:sp>
        <p:nvSpPr>
          <p:cNvPr id="25" name="Text 22"/>
          <p:cNvSpPr/>
          <p:nvPr/>
        </p:nvSpPr>
        <p:spPr>
          <a:xfrm>
            <a:off x="10860137" y="4533305"/>
            <a:ext cx="294270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수치는 CSV 데이터만 사용, 없는 값은 확인 필요로</a:t>
            </a:r>
            <a:endParaRPr lang="en-US" sz="2475" dirty="0"/>
          </a:p>
        </p:txBody>
      </p:sp>
      <p:sp>
        <p:nvSpPr>
          <p:cNvPr id="26" name="Shape 23"/>
          <p:cNvSpPr/>
          <p:nvPr/>
        </p:nvSpPr>
        <p:spPr>
          <a:xfrm>
            <a:off x="9572625" y="5949553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5389066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시각화</a:t>
            </a:r>
            <a:endParaRPr lang="en-US" sz="2475" dirty="0"/>
          </a:p>
        </p:txBody>
      </p:sp>
      <p:sp>
        <p:nvSpPr>
          <p:cNvPr id="28" name="Text 25"/>
          <p:cNvSpPr/>
          <p:nvPr/>
        </p:nvSpPr>
        <p:spPr>
          <a:xfrm>
            <a:off x="10848975" y="5341441"/>
            <a:ext cx="2643932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55000" lnSpcReduction="200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감쇠 추이를 꺾은선 차트로 표현</a:t>
            </a:r>
            <a:endParaRPr lang="en-US" sz="2475" dirty="0"/>
          </a:p>
        </p:txBody>
      </p:sp>
      <p:sp>
        <p:nvSpPr>
          <p:cNvPr id="29" name="Text 26"/>
          <p:cNvSpPr/>
          <p:nvPr/>
        </p:nvSpPr>
        <p:spPr>
          <a:xfrm>
            <a:off x="9572625" y="6197203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판단</a:t>
            </a:r>
            <a:endParaRPr lang="en-US" sz="2475" dirty="0"/>
          </a:p>
        </p:txBody>
      </p:sp>
      <p:sp>
        <p:nvSpPr>
          <p:cNvPr id="30" name="Text 27"/>
          <p:cNvSpPr/>
          <p:nvPr/>
        </p:nvSpPr>
        <p:spPr>
          <a:xfrm>
            <a:off x="10848975" y="6149578"/>
            <a:ext cx="363160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투자 승인 여부를 결정할 핵심 포인트 명시</a:t>
            </a:r>
            <a:endParaRPr lang="en-US" sz="2475" dirty="0"/>
          </a:p>
        </p:txBody>
      </p:sp>
      <p:sp>
        <p:nvSpPr>
          <p:cNvPr id="31" name="Shape 28"/>
          <p:cNvSpPr/>
          <p:nvPr/>
        </p:nvSpPr>
        <p:spPr>
          <a:xfrm>
            <a:off x="762000" y="7905750"/>
            <a:ext cx="11938000" cy="1409700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047750" y="8543925"/>
            <a:ext cx="11366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1047750" y="8134350"/>
            <a:ext cx="158308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11264900" y="8391525"/>
            <a:ext cx="1145828" cy="1905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1226800" y="8134350"/>
            <a:ext cx="1222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프롬프트 복사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047750" y="8642350"/>
            <a:ext cx="1172210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/files "KT_전송망_DWDM_광파워_2026.csv"를 근거로 전송망 100G→400G 증설 계획을 [현황-병목구간-증설안-투자비] 4장 슬라이드로 만들어줘.</a:t>
            </a:r>
            <a:endParaRPr lang="en-US" sz="2400" dirty="0"/>
          </a:p>
        </p:txBody>
      </p:sp>
      <p:sp>
        <p:nvSpPr>
          <p:cNvPr id="37" name="Shape 34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54 / 60</a:t>
            </a:r>
            <a:endParaRPr lang="en-US" sz="1650" dirty="0"/>
          </a:p>
        </p:txBody>
      </p:sp>
      <p:sp>
        <p:nvSpPr>
          <p:cNvPr id="40" name="DiffDot1">
            <a:extLst>
              <a:ext uri="{FF2B5EF4-FFF2-40B4-BE49-F238E27FC236}">
                <a16:creationId xmlns:a16="http://schemas.microsoft.com/office/drawing/2014/main" id="{498B9182-D4E6-694D-AA8E-3995C53A66CB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ffDot2">
            <a:extLst>
              <a:ext uri="{FF2B5EF4-FFF2-40B4-BE49-F238E27FC236}">
                <a16:creationId xmlns:a16="http://schemas.microsoft.com/office/drawing/2014/main" id="{DD752503-8016-3E48-AA1F-B6EF90D6F9D2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DiffDot3">
            <a:extLst>
              <a:ext uri="{FF2B5EF4-FFF2-40B4-BE49-F238E27FC236}">
                <a16:creationId xmlns:a16="http://schemas.microsoft.com/office/drawing/2014/main" id="{51DC0375-0308-3143-9A77-06CF79C06701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DiffDot4">
            <a:extLst>
              <a:ext uri="{FF2B5EF4-FFF2-40B4-BE49-F238E27FC236}">
                <a16:creationId xmlns:a16="http://schemas.microsoft.com/office/drawing/2014/main" id="{472A7689-659A-934E-9E3B-179B2A02C8ED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DiffDot5">
            <a:extLst>
              <a:ext uri="{FF2B5EF4-FFF2-40B4-BE49-F238E27FC236}">
                <a16:creationId xmlns:a16="http://schemas.microsoft.com/office/drawing/2014/main" id="{44D259AD-3269-0747-BC1B-7D13765F599D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DiffLabel">
            <a:extLst>
              <a:ext uri="{FF2B5EF4-FFF2-40B4-BE49-F238E27FC236}">
                <a16:creationId xmlns:a16="http://schemas.microsoft.com/office/drawing/2014/main" id="{193A8755-02C3-3B45-8B84-1349DC24994A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  <p:sp>
        <p:nvSpPr>
          <p:cNvPr id="47" name="TroubleshootTitle">
            <a:extLst>
              <a:ext uri="{FF2B5EF4-FFF2-40B4-BE49-F238E27FC236}">
                <a16:creationId xmlns:a16="http://schemas.microsoft.com/office/drawing/2014/main" id="{602DFC57-D5DA-4D41-AFEA-9FBE969CA485}"/>
              </a:ext>
            </a:extLst>
          </p:cNvPr>
          <p:cNvSpPr txBox="1"/>
          <p:nvPr/>
        </p:nvSpPr>
        <p:spPr>
          <a:xfrm>
            <a:off x="13157200" y="8051800"/>
            <a:ext cx="41656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" altLang="ko-KR" sz="1400" b="1">
                <a:solidFill>
                  <a:srgbClr val="C25A11"/>
                </a:solidFill>
                <a:latin typeface="BM DoHyeon OTF"/>
                <a:ea typeface="BM DoHyeon OTF"/>
              </a:rPr>
              <a:t>[Troubleshooting]</a:t>
            </a:r>
            <a:endParaRPr lang="ko-KR" altLang="en-US" sz="1400" b="1">
              <a:solidFill>
                <a:srgbClr val="C25A11"/>
              </a:solidFill>
              <a:latin typeface="BM DoHyeon OTF"/>
              <a:ea typeface="BM DoHyeon OTF"/>
            </a:endParaRPr>
          </a:p>
        </p:txBody>
      </p:sp>
      <p:sp>
        <p:nvSpPr>
          <p:cNvPr id="48" name="TroubleshootBody">
            <a:extLst>
              <a:ext uri="{FF2B5EF4-FFF2-40B4-BE49-F238E27FC236}">
                <a16:creationId xmlns:a16="http://schemas.microsoft.com/office/drawing/2014/main" id="{18D794AB-CD91-9445-86C0-25B565087513}"/>
              </a:ext>
            </a:extLst>
          </p:cNvPr>
          <p:cNvSpPr txBox="1"/>
          <p:nvPr/>
        </p:nvSpPr>
        <p:spPr>
          <a:xfrm>
            <a:off x="13157200" y="8331200"/>
            <a:ext cx="41656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595959"/>
                </a:solidFill>
              </a:rPr>
              <a:t>① </a:t>
            </a:r>
            <a:r>
              <a:rPr lang="ko-KR" altLang="en-US" sz="1400">
                <a:solidFill>
                  <a:srgbClr val="595959"/>
                </a:solidFill>
              </a:rPr>
              <a:t>증설 우선순위 기준이 불명확하면 조건을 구체화해 재요청  </a:t>
            </a:r>
            <a:r>
              <a:rPr lang="en-US" altLang="ko-KR" sz="1400">
                <a:solidFill>
                  <a:srgbClr val="595959"/>
                </a:solidFill>
              </a:rPr>
              <a:t>② </a:t>
            </a:r>
            <a:r>
              <a:rPr lang="ko-KR" altLang="en-US" sz="1400">
                <a:solidFill>
                  <a:srgbClr val="595959"/>
                </a:solidFill>
              </a:rPr>
              <a:t>구간별 수치가 상충하면 최신 자료 기준으로 재확인</a:t>
            </a:r>
          </a:p>
        </p:txBody>
      </p:sp>
    </p:spTree>
    <p:extLst>
      <p:ext uri="{BB962C8B-B14F-4D97-AF65-F5344CB8AC3E}">
        <p14:creationId xmlns:p14="http://schemas.microsoft.com/office/powerpoint/2010/main" val="2557787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roubleshootBox">
            <a:extLst>
              <a:ext uri="{FF2B5EF4-FFF2-40B4-BE49-F238E27FC236}">
                <a16:creationId xmlns:a16="http://schemas.microsoft.com/office/drawing/2014/main" id="{43CA3E56-77E3-BD4D-A445-559CC9D6D794}"/>
              </a:ext>
            </a:extLst>
          </p:cNvPr>
          <p:cNvSpPr/>
          <p:nvPr/>
        </p:nvSpPr>
        <p:spPr>
          <a:xfrm>
            <a:off x="12954000" y="7912100"/>
            <a:ext cx="4572000" cy="1409700"/>
          </a:xfrm>
          <a:prstGeom prst="roundRect">
            <a:avLst/>
          </a:prstGeom>
          <a:solidFill>
            <a:srgbClr val="FFF4EC"/>
          </a:solidFill>
          <a:ln w="12700" cap="flat" cmpd="sng" algn="ctr">
            <a:solidFill>
              <a:srgbClr val="ED7D3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EF68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47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177343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634543" y="623888"/>
            <a:ext cx="19676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EF6800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POWERPOINT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47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TDM→All-IP 전환 로드맵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노후 교환기의 단일 장애점 리스크를 근거로 전환 로드맵을 설계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794224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필수 요소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5141416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580930"/>
            <a:ext cx="116383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현황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2059186" y="4533305"/>
            <a:ext cx="178494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국번별 ASR 편차와 노후 TDM 리스크</a:t>
            </a:r>
            <a:endParaRPr lang="en-US" sz="2475" dirty="0"/>
          </a:p>
        </p:txBody>
      </p:sp>
      <p:sp>
        <p:nvSpPr>
          <p:cNvPr id="16" name="Shape 13"/>
          <p:cNvSpPr/>
          <p:nvPr/>
        </p:nvSpPr>
        <p:spPr>
          <a:xfrm>
            <a:off x="762000" y="5949553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5389066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전환 전략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2038350" y="5341441"/>
            <a:ext cx="2547342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SIP 트렁크 기반 소프트스위치 단계적 전환</a:t>
            </a:r>
            <a:endParaRPr lang="en-US" sz="2475" dirty="0"/>
          </a:p>
        </p:txBody>
      </p:sp>
      <p:sp>
        <p:nvSpPr>
          <p:cNvPr id="19" name="Text 16"/>
          <p:cNvSpPr/>
          <p:nvPr/>
        </p:nvSpPr>
        <p:spPr>
          <a:xfrm>
            <a:off x="762000" y="6197203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기대 효과</a:t>
            </a:r>
            <a:endParaRPr lang="en-US" sz="2475" dirty="0"/>
          </a:p>
        </p:txBody>
      </p:sp>
      <p:sp>
        <p:nvSpPr>
          <p:cNvPr id="20" name="Text 17"/>
          <p:cNvSpPr/>
          <p:nvPr/>
        </p:nvSpPr>
        <p:spPr>
          <a:xfrm>
            <a:off x="2038350" y="6149578"/>
            <a:ext cx="392366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장애 국번 자동 우회, 유지보수 비용 절감</a:t>
            </a:r>
            <a:endParaRPr lang="en-US" sz="2475" dirty="0"/>
          </a:p>
        </p:txBody>
      </p:sp>
      <p:sp>
        <p:nvSpPr>
          <p:cNvPr id="21" name="Shape 18"/>
          <p:cNvSpPr/>
          <p:nvPr/>
        </p:nvSpPr>
        <p:spPr>
          <a:xfrm>
            <a:off x="9144000" y="3546574"/>
            <a:ext cx="9525" cy="345876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3794224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디자인 원칙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9572625" y="5141416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572625" y="4580930"/>
            <a:ext cx="115416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근거 우선</a:t>
            </a:r>
            <a:endParaRPr lang="en-US" sz="2475" dirty="0"/>
          </a:p>
        </p:txBody>
      </p:sp>
      <p:sp>
        <p:nvSpPr>
          <p:cNvPr id="25" name="Text 22"/>
          <p:cNvSpPr/>
          <p:nvPr/>
        </p:nvSpPr>
        <p:spPr>
          <a:xfrm>
            <a:off x="10860137" y="4533305"/>
            <a:ext cx="294270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ASR 데이터에 없는 비용 수치는 확인 필요로 표시</a:t>
            </a:r>
            <a:endParaRPr lang="en-US" sz="2475" dirty="0"/>
          </a:p>
        </p:txBody>
      </p:sp>
      <p:sp>
        <p:nvSpPr>
          <p:cNvPr id="26" name="Shape 23"/>
          <p:cNvSpPr/>
          <p:nvPr/>
        </p:nvSpPr>
        <p:spPr>
          <a:xfrm>
            <a:off x="9572625" y="5949553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5389066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단계 구분</a:t>
            </a:r>
            <a:endParaRPr lang="en-US" sz="2475" dirty="0"/>
          </a:p>
        </p:txBody>
      </p:sp>
      <p:sp>
        <p:nvSpPr>
          <p:cNvPr id="28" name="Text 25"/>
          <p:cNvSpPr/>
          <p:nvPr/>
        </p:nvSpPr>
        <p:spPr>
          <a:xfrm>
            <a:off x="10848975" y="5341441"/>
            <a:ext cx="2643932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3장 구조(현황-전략-효과)로 명확히 분리</a:t>
            </a:r>
            <a:endParaRPr lang="en-US" sz="2475" dirty="0"/>
          </a:p>
        </p:txBody>
      </p:sp>
      <p:sp>
        <p:nvSpPr>
          <p:cNvPr id="29" name="Text 26"/>
          <p:cNvSpPr/>
          <p:nvPr/>
        </p:nvSpPr>
        <p:spPr>
          <a:xfrm>
            <a:off x="9572625" y="6197203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판단</a:t>
            </a:r>
            <a:endParaRPr lang="en-US" sz="2475" dirty="0"/>
          </a:p>
        </p:txBody>
      </p:sp>
      <p:sp>
        <p:nvSpPr>
          <p:cNvPr id="30" name="Text 27"/>
          <p:cNvSpPr/>
          <p:nvPr/>
        </p:nvSpPr>
        <p:spPr>
          <a:xfrm>
            <a:off x="10848975" y="6149578"/>
            <a:ext cx="363160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전환 우선순위를 판단할 기준 제시</a:t>
            </a:r>
            <a:endParaRPr lang="en-US" sz="2475" dirty="0"/>
          </a:p>
        </p:txBody>
      </p:sp>
      <p:sp>
        <p:nvSpPr>
          <p:cNvPr id="31" name="Shape 28"/>
          <p:cNvSpPr/>
          <p:nvPr/>
        </p:nvSpPr>
        <p:spPr>
          <a:xfrm>
            <a:off x="762000" y="7905750"/>
            <a:ext cx="11938000" cy="1409700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047750" y="8543925"/>
            <a:ext cx="11366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1047750" y="8134350"/>
            <a:ext cx="158308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11264900" y="8391525"/>
            <a:ext cx="1145828" cy="1905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1226800" y="8134350"/>
            <a:ext cx="1222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프롬프트 복사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047750" y="8642350"/>
            <a:ext cx="1172210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/files "KT_교환망_CDR_국번별_ASR_2026.csv"를 참고해서 노후 TDM 교환기의 IP 기반(All-IP) 전환 로드맵을 3단계 슬라이드로 작성해줘.</a:t>
            </a:r>
            <a:endParaRPr lang="en-US" sz="2400" dirty="0"/>
          </a:p>
        </p:txBody>
      </p:sp>
      <p:sp>
        <p:nvSpPr>
          <p:cNvPr id="37" name="Shape 34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55 / 60</a:t>
            </a:r>
            <a:endParaRPr lang="en-US" sz="1650" dirty="0"/>
          </a:p>
        </p:txBody>
      </p:sp>
      <p:sp>
        <p:nvSpPr>
          <p:cNvPr id="40" name="DiffDot1">
            <a:extLst>
              <a:ext uri="{FF2B5EF4-FFF2-40B4-BE49-F238E27FC236}">
                <a16:creationId xmlns:a16="http://schemas.microsoft.com/office/drawing/2014/main" id="{AF6B498E-E217-CA42-A4A4-2DA9BDC8C02C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ffDot2">
            <a:extLst>
              <a:ext uri="{FF2B5EF4-FFF2-40B4-BE49-F238E27FC236}">
                <a16:creationId xmlns:a16="http://schemas.microsoft.com/office/drawing/2014/main" id="{30EECCFD-E239-3E4A-A5A4-4E1F995EAC70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DiffDot3">
            <a:extLst>
              <a:ext uri="{FF2B5EF4-FFF2-40B4-BE49-F238E27FC236}">
                <a16:creationId xmlns:a16="http://schemas.microsoft.com/office/drawing/2014/main" id="{3591134A-CFD8-3244-8CD3-A8F8F10AA333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DiffDot4">
            <a:extLst>
              <a:ext uri="{FF2B5EF4-FFF2-40B4-BE49-F238E27FC236}">
                <a16:creationId xmlns:a16="http://schemas.microsoft.com/office/drawing/2014/main" id="{6BC18058-D302-F340-BE8A-DE8DD652B5A5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DiffDot5">
            <a:extLst>
              <a:ext uri="{FF2B5EF4-FFF2-40B4-BE49-F238E27FC236}">
                <a16:creationId xmlns:a16="http://schemas.microsoft.com/office/drawing/2014/main" id="{C11AEC4E-358C-7940-B8A5-A163AB7597F8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DiffLabel">
            <a:extLst>
              <a:ext uri="{FF2B5EF4-FFF2-40B4-BE49-F238E27FC236}">
                <a16:creationId xmlns:a16="http://schemas.microsoft.com/office/drawing/2014/main" id="{9E67BBAB-3B39-8041-8EAC-93D142B6E0B2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  <p:sp>
        <p:nvSpPr>
          <p:cNvPr id="47" name="TroubleshootTitle">
            <a:extLst>
              <a:ext uri="{FF2B5EF4-FFF2-40B4-BE49-F238E27FC236}">
                <a16:creationId xmlns:a16="http://schemas.microsoft.com/office/drawing/2014/main" id="{2D8A3A80-F797-E249-876F-765D4D2A46B6}"/>
              </a:ext>
            </a:extLst>
          </p:cNvPr>
          <p:cNvSpPr txBox="1"/>
          <p:nvPr/>
        </p:nvSpPr>
        <p:spPr>
          <a:xfrm>
            <a:off x="13157200" y="8051800"/>
            <a:ext cx="41656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" altLang="ko-KR" sz="1400" b="1">
                <a:solidFill>
                  <a:srgbClr val="C25A11"/>
                </a:solidFill>
                <a:latin typeface="BM DoHyeon OTF"/>
                <a:ea typeface="BM DoHyeon OTF"/>
              </a:rPr>
              <a:t>[Troubleshooting]</a:t>
            </a:r>
            <a:endParaRPr lang="ko-KR" altLang="en-US" sz="1400" b="1">
              <a:solidFill>
                <a:srgbClr val="C25A11"/>
              </a:solidFill>
              <a:latin typeface="BM DoHyeon OTF"/>
              <a:ea typeface="BM DoHyeon OTF"/>
            </a:endParaRPr>
          </a:p>
        </p:txBody>
      </p:sp>
      <p:sp>
        <p:nvSpPr>
          <p:cNvPr id="48" name="TroubleshootBody">
            <a:extLst>
              <a:ext uri="{FF2B5EF4-FFF2-40B4-BE49-F238E27FC236}">
                <a16:creationId xmlns:a16="http://schemas.microsoft.com/office/drawing/2014/main" id="{7B784461-F6E7-D44F-AC9A-168474220E62}"/>
              </a:ext>
            </a:extLst>
          </p:cNvPr>
          <p:cNvSpPr txBox="1"/>
          <p:nvPr/>
        </p:nvSpPr>
        <p:spPr>
          <a:xfrm>
            <a:off x="13157200" y="8331200"/>
            <a:ext cx="41656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595959"/>
                </a:solidFill>
              </a:rPr>
              <a:t>① </a:t>
            </a:r>
            <a:r>
              <a:rPr lang="ko-KR" altLang="en-US" sz="1400">
                <a:solidFill>
                  <a:srgbClr val="595959"/>
                </a:solidFill>
              </a:rPr>
              <a:t>전환 일정이 현실적인지 리소스</a:t>
            </a:r>
            <a:r>
              <a:rPr lang="en-US" altLang="ko-KR" sz="1400">
                <a:solidFill>
                  <a:srgbClr val="595959"/>
                </a:solidFill>
              </a:rPr>
              <a:t>·</a:t>
            </a:r>
            <a:r>
              <a:rPr lang="ko-KR" altLang="en-US" sz="1400">
                <a:solidFill>
                  <a:srgbClr val="595959"/>
                </a:solidFill>
              </a:rPr>
              <a:t>의존관계를 재확인  </a:t>
            </a:r>
            <a:r>
              <a:rPr lang="en-US" altLang="ko-KR" sz="1400">
                <a:solidFill>
                  <a:srgbClr val="595959"/>
                </a:solidFill>
              </a:rPr>
              <a:t>② </a:t>
            </a:r>
            <a:r>
              <a:rPr lang="ko-KR" altLang="en-US" sz="1400">
                <a:solidFill>
                  <a:srgbClr val="595959"/>
                </a:solidFill>
              </a:rPr>
              <a:t>단계별 리스크 누락 시 추가 반영 재요청</a:t>
            </a:r>
          </a:p>
        </p:txBody>
      </p:sp>
    </p:spTree>
    <p:extLst>
      <p:ext uri="{BB962C8B-B14F-4D97-AF65-F5344CB8AC3E}">
        <p14:creationId xmlns:p14="http://schemas.microsoft.com/office/powerpoint/2010/main" val="8439537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roubleshootBox">
            <a:extLst>
              <a:ext uri="{FF2B5EF4-FFF2-40B4-BE49-F238E27FC236}">
                <a16:creationId xmlns:a16="http://schemas.microsoft.com/office/drawing/2014/main" id="{85FCF850-EE86-5B4E-AFA6-1D7852F8B1D7}"/>
              </a:ext>
            </a:extLst>
          </p:cNvPr>
          <p:cNvSpPr/>
          <p:nvPr/>
        </p:nvSpPr>
        <p:spPr>
          <a:xfrm>
            <a:off x="12954000" y="7912100"/>
            <a:ext cx="4572000" cy="1409700"/>
          </a:xfrm>
          <a:prstGeom prst="roundRect">
            <a:avLst/>
          </a:prstGeom>
          <a:solidFill>
            <a:srgbClr val="FFF4EC"/>
          </a:solidFill>
          <a:ln w="12700" cap="flat" cmpd="sng" algn="ctr">
            <a:solidFill>
              <a:srgbClr val="ED7D3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EF68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48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177343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634543" y="623888"/>
            <a:ext cx="19676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EF6800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POWERPOINT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48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3개 망 연쇄 장애 1장 요약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전송·IP·교환망을 가로지르는 장애를 경영진 보고용 1페이지로 압축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794224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필수 요소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5141416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580930"/>
            <a:ext cx="116383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근본원인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2059186" y="4533305"/>
            <a:ext cx="178494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전송망 광케이블 단선 1줄 요약</a:t>
            </a:r>
            <a:endParaRPr lang="en-US" sz="2475" dirty="0"/>
          </a:p>
        </p:txBody>
      </p:sp>
      <p:sp>
        <p:nvSpPr>
          <p:cNvPr id="16" name="Shape 13"/>
          <p:cNvSpPr/>
          <p:nvPr/>
        </p:nvSpPr>
        <p:spPr>
          <a:xfrm>
            <a:off x="762000" y="5949553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5389066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연쇄흐름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2038350" y="5341441"/>
            <a:ext cx="2547342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전송→IP→교환 순서의 타임라인</a:t>
            </a:r>
            <a:endParaRPr lang="en-US" sz="2475" dirty="0"/>
          </a:p>
        </p:txBody>
      </p:sp>
      <p:sp>
        <p:nvSpPr>
          <p:cNvPr id="19" name="Text 16"/>
          <p:cNvSpPr/>
          <p:nvPr/>
        </p:nvSpPr>
        <p:spPr>
          <a:xfrm>
            <a:off x="762000" y="6197203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복구현황</a:t>
            </a:r>
            <a:endParaRPr lang="en-US" sz="2475" dirty="0"/>
          </a:p>
        </p:txBody>
      </p:sp>
      <p:sp>
        <p:nvSpPr>
          <p:cNvPr id="20" name="Text 17"/>
          <p:cNvSpPr/>
          <p:nvPr/>
        </p:nvSpPr>
        <p:spPr>
          <a:xfrm>
            <a:off x="2038350" y="6149578"/>
            <a:ext cx="392366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총 소요시간과 재발방지 대책</a:t>
            </a:r>
            <a:endParaRPr lang="en-US" sz="2475" dirty="0"/>
          </a:p>
        </p:txBody>
      </p:sp>
      <p:sp>
        <p:nvSpPr>
          <p:cNvPr id="21" name="Shape 18"/>
          <p:cNvSpPr/>
          <p:nvPr/>
        </p:nvSpPr>
        <p:spPr>
          <a:xfrm>
            <a:off x="9144000" y="3546574"/>
            <a:ext cx="9525" cy="345876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3794224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디자인 원칙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9572625" y="5141416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572625" y="4580930"/>
            <a:ext cx="115416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시각화</a:t>
            </a:r>
            <a:endParaRPr lang="en-US" sz="2475" dirty="0"/>
          </a:p>
        </p:txBody>
      </p:sp>
      <p:sp>
        <p:nvSpPr>
          <p:cNvPr id="25" name="Text 22"/>
          <p:cNvSpPr/>
          <p:nvPr/>
        </p:nvSpPr>
        <p:spPr>
          <a:xfrm>
            <a:off x="10860137" y="4533305"/>
            <a:ext cx="294270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Fishbone 또는 타임라인 다이어그램으로 표현</a:t>
            </a:r>
            <a:endParaRPr lang="en-US" sz="2475" dirty="0"/>
          </a:p>
        </p:txBody>
      </p:sp>
      <p:sp>
        <p:nvSpPr>
          <p:cNvPr id="26" name="Shape 23"/>
          <p:cNvSpPr/>
          <p:nvPr/>
        </p:nvSpPr>
        <p:spPr>
          <a:xfrm>
            <a:off x="9572625" y="5949553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5389066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담당표기</a:t>
            </a:r>
            <a:endParaRPr lang="en-US" sz="2475" dirty="0"/>
          </a:p>
        </p:txBody>
      </p:sp>
      <p:sp>
        <p:nvSpPr>
          <p:cNvPr id="28" name="Text 25"/>
          <p:cNvSpPr/>
          <p:nvPr/>
        </p:nvSpPr>
        <p:spPr>
          <a:xfrm>
            <a:off x="10848975" y="5341441"/>
            <a:ext cx="2643932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망별 담당팀을 함께 명시</a:t>
            </a:r>
            <a:endParaRPr lang="en-US" sz="2475" dirty="0"/>
          </a:p>
        </p:txBody>
      </p:sp>
      <p:sp>
        <p:nvSpPr>
          <p:cNvPr id="29" name="Text 26"/>
          <p:cNvSpPr/>
          <p:nvPr/>
        </p:nvSpPr>
        <p:spPr>
          <a:xfrm>
            <a:off x="9572625" y="6197203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판단</a:t>
            </a:r>
            <a:endParaRPr lang="en-US" sz="2475" dirty="0"/>
          </a:p>
        </p:txBody>
      </p:sp>
      <p:sp>
        <p:nvSpPr>
          <p:cNvPr id="30" name="Text 27"/>
          <p:cNvSpPr/>
          <p:nvPr/>
        </p:nvSpPr>
        <p:spPr>
          <a:xfrm>
            <a:off x="10848975" y="6149578"/>
            <a:ext cx="363160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재발방지 투자 승인 여부 포인트 제시</a:t>
            </a:r>
            <a:endParaRPr lang="en-US" sz="2475" dirty="0"/>
          </a:p>
        </p:txBody>
      </p:sp>
      <p:sp>
        <p:nvSpPr>
          <p:cNvPr id="31" name="Shape 28"/>
          <p:cNvSpPr/>
          <p:nvPr/>
        </p:nvSpPr>
        <p:spPr>
          <a:xfrm>
            <a:off x="762000" y="7905750"/>
            <a:ext cx="11938000" cy="1409700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047750" y="8543925"/>
            <a:ext cx="11366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1047750" y="8134350"/>
            <a:ext cx="158308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11264900" y="8391525"/>
            <a:ext cx="1145828" cy="1905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1226800" y="8134350"/>
            <a:ext cx="1222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프롬프트 복사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047750" y="8642350"/>
            <a:ext cx="1172210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/files "KT_복합장애_통합타임라인_2026.csv"를 근거로 이번 복합 장애의 근본원인과 3개 망 연쇄 구조를 경영진 보고용 1장 슬라이드로 요약해줘.</a:t>
            </a:r>
            <a:endParaRPr lang="en-US" sz="2400" dirty="0"/>
          </a:p>
        </p:txBody>
      </p:sp>
      <p:sp>
        <p:nvSpPr>
          <p:cNvPr id="37" name="Shape 34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56 / 60</a:t>
            </a:r>
            <a:endParaRPr lang="en-US" sz="1650" dirty="0"/>
          </a:p>
        </p:txBody>
      </p:sp>
      <p:sp>
        <p:nvSpPr>
          <p:cNvPr id="40" name="DiffDot1">
            <a:extLst>
              <a:ext uri="{FF2B5EF4-FFF2-40B4-BE49-F238E27FC236}">
                <a16:creationId xmlns:a16="http://schemas.microsoft.com/office/drawing/2014/main" id="{FD5C4425-F21B-7E43-80AD-C7DA66635AB0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ffDot2">
            <a:extLst>
              <a:ext uri="{FF2B5EF4-FFF2-40B4-BE49-F238E27FC236}">
                <a16:creationId xmlns:a16="http://schemas.microsoft.com/office/drawing/2014/main" id="{62E9890F-735F-DF47-9C22-B53585AB306E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DiffDot3">
            <a:extLst>
              <a:ext uri="{FF2B5EF4-FFF2-40B4-BE49-F238E27FC236}">
                <a16:creationId xmlns:a16="http://schemas.microsoft.com/office/drawing/2014/main" id="{6145118C-DCB4-D241-A02E-AF0E6871F745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DiffDot4">
            <a:extLst>
              <a:ext uri="{FF2B5EF4-FFF2-40B4-BE49-F238E27FC236}">
                <a16:creationId xmlns:a16="http://schemas.microsoft.com/office/drawing/2014/main" id="{E6036E7D-2428-F844-B942-562F2725C36D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DiffDot5">
            <a:extLst>
              <a:ext uri="{FF2B5EF4-FFF2-40B4-BE49-F238E27FC236}">
                <a16:creationId xmlns:a16="http://schemas.microsoft.com/office/drawing/2014/main" id="{8DD653EF-A939-A54E-AE4B-6D2D7169387F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DiffLabel">
            <a:extLst>
              <a:ext uri="{FF2B5EF4-FFF2-40B4-BE49-F238E27FC236}">
                <a16:creationId xmlns:a16="http://schemas.microsoft.com/office/drawing/2014/main" id="{E9E10DFA-93B3-FD4C-81CC-D9FA9EA4C475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  <p:sp>
        <p:nvSpPr>
          <p:cNvPr id="47" name="TroubleshootTitle">
            <a:extLst>
              <a:ext uri="{FF2B5EF4-FFF2-40B4-BE49-F238E27FC236}">
                <a16:creationId xmlns:a16="http://schemas.microsoft.com/office/drawing/2014/main" id="{82FC23F8-E8B7-2E4A-B463-B20578387B39}"/>
              </a:ext>
            </a:extLst>
          </p:cNvPr>
          <p:cNvSpPr txBox="1"/>
          <p:nvPr/>
        </p:nvSpPr>
        <p:spPr>
          <a:xfrm>
            <a:off x="13157200" y="8051800"/>
            <a:ext cx="41656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" altLang="ko-KR" sz="1400" b="1">
                <a:solidFill>
                  <a:srgbClr val="C25A11"/>
                </a:solidFill>
                <a:latin typeface="BM DoHyeon OTF"/>
                <a:ea typeface="BM DoHyeon OTF"/>
              </a:rPr>
              <a:t>[Troubleshooting]</a:t>
            </a:r>
            <a:endParaRPr lang="ko-KR" altLang="en-US" sz="1400" b="1">
              <a:solidFill>
                <a:srgbClr val="C25A11"/>
              </a:solidFill>
              <a:latin typeface="BM DoHyeon OTF"/>
              <a:ea typeface="BM DoHyeon OTF"/>
            </a:endParaRPr>
          </a:p>
        </p:txBody>
      </p:sp>
      <p:sp>
        <p:nvSpPr>
          <p:cNvPr id="48" name="TroubleshootBody">
            <a:extLst>
              <a:ext uri="{FF2B5EF4-FFF2-40B4-BE49-F238E27FC236}">
                <a16:creationId xmlns:a16="http://schemas.microsoft.com/office/drawing/2014/main" id="{5A7D6AB6-6419-BD49-A3B0-1082652D78C5}"/>
              </a:ext>
            </a:extLst>
          </p:cNvPr>
          <p:cNvSpPr txBox="1"/>
          <p:nvPr/>
        </p:nvSpPr>
        <p:spPr>
          <a:xfrm>
            <a:off x="13157200" y="8331200"/>
            <a:ext cx="41656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595959"/>
                </a:solidFill>
              </a:rPr>
              <a:t>① </a:t>
            </a:r>
            <a:r>
              <a:rPr lang="ko-KR" altLang="en-US" sz="1400">
                <a:solidFill>
                  <a:srgbClr val="595959"/>
                </a:solidFill>
              </a:rPr>
              <a:t>장애 원인 간 인과관계가 불명확하면 시계열 순서로 재정리 요청  </a:t>
            </a:r>
            <a:r>
              <a:rPr lang="en-US" altLang="ko-KR" sz="1400">
                <a:solidFill>
                  <a:srgbClr val="595959"/>
                </a:solidFill>
              </a:rPr>
              <a:t>② </a:t>
            </a:r>
            <a:r>
              <a:rPr lang="ko-KR" altLang="en-US" sz="1400">
                <a:solidFill>
                  <a:srgbClr val="595959"/>
                </a:solidFill>
              </a:rPr>
              <a:t>재발방지책이 빠지면 추가 요청</a:t>
            </a:r>
          </a:p>
        </p:txBody>
      </p:sp>
    </p:spTree>
    <p:extLst>
      <p:ext uri="{BB962C8B-B14F-4D97-AF65-F5344CB8AC3E}">
        <p14:creationId xmlns:p14="http://schemas.microsoft.com/office/powerpoint/2010/main" val="20290657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454B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49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116895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574095" y="623888"/>
            <a:ext cx="10281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454BF6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TEAMS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49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비상 장애 대응 워룸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전송망·코어망·무선망과 관제가 함께 쓰는 실시간 복구 채널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3794224"/>
            <a:ext cx="87591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개설 절차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762000" y="5141416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580930"/>
            <a:ext cx="1143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1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2038350" y="4533305"/>
            <a:ext cx="4007971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전용 채널 생성 및 담당자 초대</a:t>
            </a:r>
            <a:endParaRPr lang="en-US" sz="2475" dirty="0"/>
          </a:p>
        </p:txBody>
      </p:sp>
      <p:sp>
        <p:nvSpPr>
          <p:cNvPr id="16" name="Shape 13"/>
          <p:cNvSpPr/>
          <p:nvPr/>
        </p:nvSpPr>
        <p:spPr>
          <a:xfrm>
            <a:off x="762000" y="5949553"/>
            <a:ext cx="7962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62000" y="5389066"/>
            <a:ext cx="1143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2038350" y="5341441"/>
            <a:ext cx="4306907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경보 로그 요약을 첫 공지로 게시</a:t>
            </a:r>
            <a:endParaRPr lang="en-US" sz="2475" dirty="0"/>
          </a:p>
        </p:txBody>
      </p:sp>
      <p:sp>
        <p:nvSpPr>
          <p:cNvPr id="19" name="Text 16"/>
          <p:cNvSpPr/>
          <p:nvPr/>
        </p:nvSpPr>
        <p:spPr>
          <a:xfrm>
            <a:off x="762000" y="6197203"/>
            <a:ext cx="1143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3</a:t>
            </a:r>
            <a:endParaRPr lang="en-US" sz="2475" dirty="0"/>
          </a:p>
        </p:txBody>
      </p:sp>
      <p:sp>
        <p:nvSpPr>
          <p:cNvPr id="20" name="Text 17"/>
          <p:cNvSpPr/>
          <p:nvPr/>
        </p:nvSpPr>
        <p:spPr>
          <a:xfrm>
            <a:off x="2038350" y="6149578"/>
            <a:ext cx="354041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조치 내역을 스레드로 누적</a:t>
            </a:r>
            <a:endParaRPr lang="en-US" sz="2475" dirty="0"/>
          </a:p>
        </p:txBody>
      </p:sp>
      <p:sp>
        <p:nvSpPr>
          <p:cNvPr id="21" name="Shape 18"/>
          <p:cNvSpPr/>
          <p:nvPr/>
        </p:nvSpPr>
        <p:spPr>
          <a:xfrm>
            <a:off x="9144000" y="3546574"/>
            <a:ext cx="9525" cy="3458766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572625" y="3794224"/>
            <a:ext cx="874871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27"/>
              </a:lnSpc>
              <a:buNone/>
            </a:pPr>
            <a:r>
              <a:rPr lang="en-US" sz="36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운영 원칙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9572625" y="5141416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572625" y="4580930"/>
            <a:ext cx="12511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단일 창구</a:t>
            </a:r>
            <a:endParaRPr lang="en-US" sz="2475" dirty="0"/>
          </a:p>
        </p:txBody>
      </p:sp>
      <p:sp>
        <p:nvSpPr>
          <p:cNvPr id="25" name="Text 22"/>
          <p:cNvSpPr/>
          <p:nvPr/>
        </p:nvSpPr>
        <p:spPr>
          <a:xfrm>
            <a:off x="10957173" y="4533305"/>
            <a:ext cx="3638312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대화·파일·회의를 한 채널에</a:t>
            </a:r>
            <a:endParaRPr lang="en-US" sz="2475" dirty="0"/>
          </a:p>
        </p:txBody>
      </p:sp>
      <p:sp>
        <p:nvSpPr>
          <p:cNvPr id="26" name="Shape 23"/>
          <p:cNvSpPr/>
          <p:nvPr/>
        </p:nvSpPr>
        <p:spPr>
          <a:xfrm>
            <a:off x="9572625" y="5949553"/>
            <a:ext cx="7953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572625" y="5389066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기록</a:t>
            </a:r>
            <a:endParaRPr lang="en-US" sz="2475" dirty="0"/>
          </a:p>
        </p:txBody>
      </p:sp>
      <p:sp>
        <p:nvSpPr>
          <p:cNvPr id="28" name="Text 25"/>
          <p:cNvSpPr/>
          <p:nvPr/>
        </p:nvSpPr>
        <p:spPr>
          <a:xfrm>
            <a:off x="10848975" y="5341441"/>
            <a:ext cx="333266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회의 녹음·대화 기록 켜기</a:t>
            </a:r>
            <a:endParaRPr lang="en-US" sz="2475" dirty="0"/>
          </a:p>
        </p:txBody>
      </p:sp>
      <p:sp>
        <p:nvSpPr>
          <p:cNvPr id="29" name="Text 26"/>
          <p:cNvSpPr/>
          <p:nvPr/>
        </p:nvSpPr>
        <p:spPr>
          <a:xfrm>
            <a:off x="9572625" y="6197203"/>
            <a:ext cx="1143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마감</a:t>
            </a:r>
            <a:endParaRPr lang="en-US" sz="2475" dirty="0"/>
          </a:p>
        </p:txBody>
      </p:sp>
      <p:sp>
        <p:nvSpPr>
          <p:cNvPr id="30" name="Text 27"/>
          <p:cNvSpPr/>
          <p:nvPr/>
        </p:nvSpPr>
        <p:spPr>
          <a:xfrm>
            <a:off x="10848975" y="6149578"/>
            <a:ext cx="469228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55585D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종료 시 Recap으로 사후 보고 작성</a:t>
            </a:r>
            <a:endParaRPr lang="en-US" sz="2475" dirty="0"/>
          </a:p>
        </p:txBody>
      </p:sp>
      <p:sp>
        <p:nvSpPr>
          <p:cNvPr id="31" name="Shape 28"/>
          <p:cNvSpPr/>
          <p:nvPr/>
        </p:nvSpPr>
        <p:spPr>
          <a:xfrm>
            <a:off x="762000" y="7905750"/>
            <a:ext cx="16764000" cy="1409700"/>
          </a:xfrm>
          <a:prstGeom prst="rect">
            <a:avLst/>
          </a:prstGeom>
          <a:ln w="19050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047750" y="8543925"/>
            <a:ext cx="161925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1047750" y="8134350"/>
            <a:ext cx="158308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400" b="1" kern="0" spc="330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예시 프롬프트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16094422" y="8391525"/>
            <a:ext cx="1145828" cy="1905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16056322" y="8134350"/>
            <a:ext cx="1222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프롬프트 복사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047750" y="8642350"/>
            <a:ext cx="1642745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400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백본 라우터 다운 이슈에 대해 "긴급_장애조치_워룸" 채널을 만들고 코어망팀·전송망팀 담당자를 초대한 뒤, 지난 1시간 경보 로그 요약을 첫 공지로 게시해줘.</a:t>
            </a:r>
            <a:endParaRPr lang="en-US" sz="2400" dirty="0"/>
          </a:p>
        </p:txBody>
      </p:sp>
      <p:sp>
        <p:nvSpPr>
          <p:cNvPr id="37" name="Shape 34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57 / 60</a:t>
            </a:r>
            <a:endParaRPr lang="en-US" sz="1650" dirty="0"/>
          </a:p>
        </p:txBody>
      </p:sp>
      <p:sp>
        <p:nvSpPr>
          <p:cNvPr id="40" name="DiffDot1">
            <a:extLst>
              <a:ext uri="{FF2B5EF4-FFF2-40B4-BE49-F238E27FC236}">
                <a16:creationId xmlns:a16="http://schemas.microsoft.com/office/drawing/2014/main" id="{EB83A1A0-7F89-6446-BA96-100CFCE47C2B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ffDot2">
            <a:extLst>
              <a:ext uri="{FF2B5EF4-FFF2-40B4-BE49-F238E27FC236}">
                <a16:creationId xmlns:a16="http://schemas.microsoft.com/office/drawing/2014/main" id="{351024C2-598B-B443-8912-D4AC34F9AD1B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DiffDot3">
            <a:extLst>
              <a:ext uri="{FF2B5EF4-FFF2-40B4-BE49-F238E27FC236}">
                <a16:creationId xmlns:a16="http://schemas.microsoft.com/office/drawing/2014/main" id="{BE2B88FE-37F4-0B4B-A0C9-06620351CDC4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DiffDot4">
            <a:extLst>
              <a:ext uri="{FF2B5EF4-FFF2-40B4-BE49-F238E27FC236}">
                <a16:creationId xmlns:a16="http://schemas.microsoft.com/office/drawing/2014/main" id="{0E55693E-B9C9-0847-8BEB-79C016CD74E5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DiffDot5">
            <a:extLst>
              <a:ext uri="{FF2B5EF4-FFF2-40B4-BE49-F238E27FC236}">
                <a16:creationId xmlns:a16="http://schemas.microsoft.com/office/drawing/2014/main" id="{5913C30F-DA94-604C-9D1A-1FE56F33C274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DiffLabel">
            <a:extLst>
              <a:ext uri="{FF2B5EF4-FFF2-40B4-BE49-F238E27FC236}">
                <a16:creationId xmlns:a16="http://schemas.microsoft.com/office/drawing/2014/main" id="{9BC7A509-DAE6-3543-AC4C-88A9FEA36C64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</p:spTree>
    <p:extLst>
      <p:ext uri="{BB962C8B-B14F-4D97-AF65-F5344CB8AC3E}">
        <p14:creationId xmlns:p14="http://schemas.microsoft.com/office/powerpoint/2010/main" val="22692689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roubleshootBox">
            <a:extLst>
              <a:ext uri="{FF2B5EF4-FFF2-40B4-BE49-F238E27FC236}">
                <a16:creationId xmlns:a16="http://schemas.microsoft.com/office/drawing/2014/main" id="{66BD6945-9C66-5D48-807F-872ED45C57E8}"/>
              </a:ext>
            </a:extLst>
          </p:cNvPr>
          <p:cNvSpPr/>
          <p:nvPr/>
        </p:nvSpPr>
        <p:spPr>
          <a:xfrm>
            <a:off x="762000" y="8229600"/>
            <a:ext cx="16764000" cy="1168400"/>
          </a:xfrm>
          <a:prstGeom prst="roundRect">
            <a:avLst/>
          </a:prstGeom>
          <a:solidFill>
            <a:srgbClr val="FFF4EC"/>
          </a:solidFill>
          <a:ln w="12700" cap="flat" cmpd="sng" algn="ctr">
            <a:solidFill>
              <a:srgbClr val="ED7D3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694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50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024943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482143" y="623888"/>
            <a:ext cx="21200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6941F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M365 COPILOT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50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엔지니어 프롬프트 패턴 치트시트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점검·분석, 통계·시뮬레이션, 기안서, 벤더 TAC 4대 패턴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4154537"/>
            <a:ext cx="414909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7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망 점검 &amp; 장애 분석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762000" y="5654427"/>
            <a:ext cx="3771900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62000" y="4804023"/>
            <a:ext cx="1143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패턴</a:t>
            </a:r>
            <a:endParaRPr lang="en-US" sz="2025" dirty="0"/>
          </a:p>
        </p:txBody>
      </p:sp>
      <p:sp>
        <p:nvSpPr>
          <p:cNvPr id="15" name="Text 12"/>
          <p:cNvSpPr/>
          <p:nvPr/>
        </p:nvSpPr>
        <p:spPr>
          <a:xfrm>
            <a:off x="1440828" y="4756398"/>
            <a:ext cx="3169272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로그 필터 + 시간순 정렬 + 원인 요약</a:t>
            </a:r>
            <a:endParaRPr lang="en-US" sz="2025" dirty="0"/>
          </a:p>
        </p:txBody>
      </p:sp>
      <p:sp>
        <p:nvSpPr>
          <p:cNvPr id="16" name="Shape 13"/>
          <p:cNvSpPr/>
          <p:nvPr/>
        </p:nvSpPr>
        <p:spPr>
          <a:xfrm>
            <a:off x="762000" y="5854452"/>
            <a:ext cx="3771900" cy="2162175"/>
          </a:xfrm>
          <a:prstGeom prst="rect">
            <a:avLst/>
          </a:prstGeom>
          <a:ln w="9525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962025" y="6035427"/>
            <a:ext cx="114791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75" b="1" kern="0" spc="284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PROMPT</a:t>
            </a:r>
            <a:endParaRPr lang="en-US" sz="1575" dirty="0"/>
          </a:p>
        </p:txBody>
      </p:sp>
      <p:sp>
        <p:nvSpPr>
          <p:cNvPr id="18" name="Shape 15"/>
          <p:cNvSpPr/>
          <p:nvPr/>
        </p:nvSpPr>
        <p:spPr>
          <a:xfrm>
            <a:off x="3987701" y="6273552"/>
            <a:ext cx="346174" cy="19050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3949601" y="6035427"/>
            <a:ext cx="42237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복사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962025" y="6406902"/>
            <a:ext cx="3473006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/files "syslog.txt"에서 Severity 1~2 알람만 시간순으로 정렬하고 BGP Flapping 원인을 3줄로 요약해줘.</a:t>
            </a:r>
            <a:endParaRPr lang="en-US" sz="1875" dirty="0"/>
          </a:p>
        </p:txBody>
      </p:sp>
      <p:sp>
        <p:nvSpPr>
          <p:cNvPr id="21" name="Shape 18"/>
          <p:cNvSpPr/>
          <p:nvPr/>
        </p:nvSpPr>
        <p:spPr>
          <a:xfrm>
            <a:off x="4953000" y="3906887"/>
            <a:ext cx="9525" cy="435739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5381625" y="4154537"/>
            <a:ext cx="3677602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7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통계 &amp; 시뮬레이션</a:t>
            </a:r>
            <a:endParaRPr lang="en-US" sz="2700" dirty="0"/>
          </a:p>
        </p:txBody>
      </p:sp>
      <p:sp>
        <p:nvSpPr>
          <p:cNvPr id="23" name="Shape 20"/>
          <p:cNvSpPr/>
          <p:nvPr/>
        </p:nvSpPr>
        <p:spPr>
          <a:xfrm>
            <a:off x="5381625" y="5654427"/>
            <a:ext cx="33432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5381625" y="4804023"/>
            <a:ext cx="1143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패턴</a:t>
            </a:r>
            <a:endParaRPr lang="en-US" sz="2025" dirty="0"/>
          </a:p>
        </p:txBody>
      </p:sp>
      <p:sp>
        <p:nvSpPr>
          <p:cNvPr id="25" name="Text 22"/>
          <p:cNvSpPr/>
          <p:nvPr/>
        </p:nvSpPr>
        <p:spPr>
          <a:xfrm>
            <a:off x="6160041" y="4756398"/>
            <a:ext cx="2641060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상위 구간 추출 + 시각화</a:t>
            </a:r>
            <a:endParaRPr lang="en-US" sz="2025" dirty="0"/>
          </a:p>
        </p:txBody>
      </p:sp>
      <p:sp>
        <p:nvSpPr>
          <p:cNvPr id="26" name="Shape 23"/>
          <p:cNvSpPr/>
          <p:nvPr/>
        </p:nvSpPr>
        <p:spPr>
          <a:xfrm>
            <a:off x="5381625" y="5854452"/>
            <a:ext cx="3343275" cy="2162175"/>
          </a:xfrm>
          <a:prstGeom prst="rect">
            <a:avLst/>
          </a:prstGeom>
          <a:ln w="9525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5581650" y="6035427"/>
            <a:ext cx="114791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75" b="1" kern="0" spc="284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PROMPT</a:t>
            </a:r>
            <a:endParaRPr lang="en-US" sz="1575" dirty="0"/>
          </a:p>
        </p:txBody>
      </p:sp>
      <p:sp>
        <p:nvSpPr>
          <p:cNvPr id="28" name="Shape 25"/>
          <p:cNvSpPr/>
          <p:nvPr/>
        </p:nvSpPr>
        <p:spPr>
          <a:xfrm>
            <a:off x="8178701" y="6273552"/>
            <a:ext cx="346174" cy="19050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8140601" y="6035427"/>
            <a:ext cx="42237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복사</a:t>
            </a:r>
            <a:endParaRPr lang="en-US" sz="1575" dirty="0"/>
          </a:p>
        </p:txBody>
      </p:sp>
      <p:sp>
        <p:nvSpPr>
          <p:cNvPr id="30" name="Text 27"/>
          <p:cNvSpPr/>
          <p:nvPr/>
        </p:nvSpPr>
        <p:spPr>
          <a:xfrm>
            <a:off x="5581650" y="6406902"/>
            <a:ext cx="3031522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PRB 점유율 상위 10% 기지국의 주말 피크 트래픽 분산 효과를 파이썬 차트로 시각화해줘.</a:t>
            </a:r>
            <a:endParaRPr lang="en-US" sz="1875" dirty="0"/>
          </a:p>
        </p:txBody>
      </p:sp>
      <p:sp>
        <p:nvSpPr>
          <p:cNvPr id="31" name="Shape 28"/>
          <p:cNvSpPr/>
          <p:nvPr/>
        </p:nvSpPr>
        <p:spPr>
          <a:xfrm>
            <a:off x="9144000" y="3906887"/>
            <a:ext cx="9525" cy="435739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9572625" y="4154537"/>
            <a:ext cx="3677602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7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기술 제안 &amp; 기안서</a:t>
            </a:r>
            <a:endParaRPr lang="en-US" sz="2700" dirty="0"/>
          </a:p>
        </p:txBody>
      </p:sp>
      <p:sp>
        <p:nvSpPr>
          <p:cNvPr id="33" name="Shape 30"/>
          <p:cNvSpPr/>
          <p:nvPr/>
        </p:nvSpPr>
        <p:spPr>
          <a:xfrm>
            <a:off x="9572625" y="5654427"/>
            <a:ext cx="33432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34" name="Text 31"/>
          <p:cNvSpPr/>
          <p:nvPr/>
        </p:nvSpPr>
        <p:spPr>
          <a:xfrm>
            <a:off x="9572625" y="4804023"/>
            <a:ext cx="1143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패턴</a:t>
            </a:r>
            <a:endParaRPr lang="en-US" sz="2025" dirty="0"/>
          </a:p>
        </p:txBody>
      </p:sp>
      <p:sp>
        <p:nvSpPr>
          <p:cNvPr id="35" name="Text 32"/>
          <p:cNvSpPr/>
          <p:nvPr/>
        </p:nvSpPr>
        <p:spPr>
          <a:xfrm>
            <a:off x="10351041" y="4756398"/>
            <a:ext cx="2641060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효과 수치 강조 + 1장 요약</a:t>
            </a:r>
            <a:endParaRPr lang="en-US" sz="2025" dirty="0"/>
          </a:p>
        </p:txBody>
      </p:sp>
      <p:sp>
        <p:nvSpPr>
          <p:cNvPr id="36" name="Shape 33"/>
          <p:cNvSpPr/>
          <p:nvPr/>
        </p:nvSpPr>
        <p:spPr>
          <a:xfrm>
            <a:off x="9572625" y="5854452"/>
            <a:ext cx="3343275" cy="2162175"/>
          </a:xfrm>
          <a:prstGeom prst="rect">
            <a:avLst/>
          </a:prstGeom>
          <a:ln w="9525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7" name="Text 34"/>
          <p:cNvSpPr/>
          <p:nvPr/>
        </p:nvSpPr>
        <p:spPr>
          <a:xfrm>
            <a:off x="9772650" y="6035427"/>
            <a:ext cx="114791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75" b="1" kern="0" spc="284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PROMPT</a:t>
            </a:r>
            <a:endParaRPr lang="en-US" sz="1575" dirty="0"/>
          </a:p>
        </p:txBody>
      </p:sp>
      <p:sp>
        <p:nvSpPr>
          <p:cNvPr id="38" name="Shape 35"/>
          <p:cNvSpPr/>
          <p:nvPr/>
        </p:nvSpPr>
        <p:spPr>
          <a:xfrm>
            <a:off x="12369701" y="6273552"/>
            <a:ext cx="346174" cy="19050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12331601" y="6035427"/>
            <a:ext cx="42237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복사</a:t>
            </a:r>
            <a:endParaRPr lang="en-US" sz="1575" dirty="0"/>
          </a:p>
        </p:txBody>
      </p:sp>
      <p:sp>
        <p:nvSpPr>
          <p:cNvPr id="40" name="Text 37"/>
          <p:cNvSpPr/>
          <p:nvPr/>
        </p:nvSpPr>
        <p:spPr>
          <a:xfrm>
            <a:off x="9772650" y="6406902"/>
            <a:ext cx="3031522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노후 스위치 교체 시 전력 절감량과 가용성 개선율을 강조한 1장 기안서를 작성해줘.</a:t>
            </a:r>
            <a:endParaRPr lang="en-US" sz="1875" dirty="0"/>
          </a:p>
        </p:txBody>
      </p:sp>
      <p:sp>
        <p:nvSpPr>
          <p:cNvPr id="41" name="Shape 38"/>
          <p:cNvSpPr/>
          <p:nvPr/>
        </p:nvSpPr>
        <p:spPr>
          <a:xfrm>
            <a:off x="13335000" y="3906887"/>
            <a:ext cx="9525" cy="435739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13763625" y="4154537"/>
            <a:ext cx="4138612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7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글로벌 벤더 TAC</a:t>
            </a:r>
            <a:endParaRPr lang="en-US" sz="2700" dirty="0"/>
          </a:p>
        </p:txBody>
      </p:sp>
      <p:sp>
        <p:nvSpPr>
          <p:cNvPr id="43" name="Shape 40"/>
          <p:cNvSpPr/>
          <p:nvPr/>
        </p:nvSpPr>
        <p:spPr>
          <a:xfrm>
            <a:off x="13763625" y="5654427"/>
            <a:ext cx="3762375" cy="9525"/>
          </a:xfrm>
          <a:prstGeom prst="rect">
            <a:avLst/>
          </a:prstGeom>
          <a:solidFill>
            <a:srgbClr val="C7CA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13763625" y="4804023"/>
            <a:ext cx="1143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패턴</a:t>
            </a:r>
            <a:endParaRPr lang="en-US" sz="2025" dirty="0"/>
          </a:p>
        </p:txBody>
      </p:sp>
      <p:sp>
        <p:nvSpPr>
          <p:cNvPr id="45" name="Text 42"/>
          <p:cNvSpPr/>
          <p:nvPr/>
        </p:nvSpPr>
        <p:spPr>
          <a:xfrm>
            <a:off x="14444667" y="4756398"/>
            <a:ext cx="3157534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현상 + 장비 정보 + 정중한 영문</a:t>
            </a:r>
            <a:endParaRPr lang="en-US" sz="2025" dirty="0"/>
          </a:p>
        </p:txBody>
      </p:sp>
      <p:sp>
        <p:nvSpPr>
          <p:cNvPr id="46" name="Shape 43"/>
          <p:cNvSpPr/>
          <p:nvPr/>
        </p:nvSpPr>
        <p:spPr>
          <a:xfrm>
            <a:off x="13763625" y="5854452"/>
            <a:ext cx="3762375" cy="2162175"/>
          </a:xfrm>
          <a:prstGeom prst="rect">
            <a:avLst/>
          </a:prstGeom>
          <a:ln w="9525">
            <a:solidFill>
              <a:srgbClr val="1314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/>
          <p:nvPr/>
        </p:nvSpPr>
        <p:spPr>
          <a:xfrm>
            <a:off x="13963650" y="6035427"/>
            <a:ext cx="114791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75" b="1" kern="0" spc="284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PROMPT</a:t>
            </a:r>
            <a:endParaRPr lang="en-US" sz="1575" dirty="0"/>
          </a:p>
        </p:txBody>
      </p:sp>
      <p:sp>
        <p:nvSpPr>
          <p:cNvPr id="48" name="Shape 45"/>
          <p:cNvSpPr/>
          <p:nvPr/>
        </p:nvSpPr>
        <p:spPr>
          <a:xfrm>
            <a:off x="16979801" y="6273552"/>
            <a:ext cx="346174" cy="19050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/>
          <p:nvPr/>
        </p:nvSpPr>
        <p:spPr>
          <a:xfrm>
            <a:off x="16941701" y="6035427"/>
            <a:ext cx="42237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복사</a:t>
            </a:r>
            <a:endParaRPr lang="en-US" sz="1575" dirty="0"/>
          </a:p>
        </p:txBody>
      </p:sp>
      <p:sp>
        <p:nvSpPr>
          <p:cNvPr id="50" name="Text 47"/>
          <p:cNvSpPr/>
          <p:nvPr/>
        </p:nvSpPr>
        <p:spPr>
          <a:xfrm>
            <a:off x="13963650" y="6406902"/>
            <a:ext cx="3463195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Cisco TAC에 OSPF LSA 패킷 드롭 원인 조사를 요청하는 정중한 영문 메일을 작성해줘.</a:t>
            </a:r>
            <a:endParaRPr lang="en-US" sz="1875" dirty="0"/>
          </a:p>
        </p:txBody>
      </p:sp>
      <p:sp>
        <p:nvSpPr>
          <p:cNvPr id="51" name="Shape 48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53" name="Text 50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58 / 60</a:t>
            </a:r>
            <a:endParaRPr lang="en-US" sz="1650" dirty="0"/>
          </a:p>
        </p:txBody>
      </p:sp>
      <p:sp>
        <p:nvSpPr>
          <p:cNvPr id="54" name="DiffDot1">
            <a:extLst>
              <a:ext uri="{FF2B5EF4-FFF2-40B4-BE49-F238E27FC236}">
                <a16:creationId xmlns:a16="http://schemas.microsoft.com/office/drawing/2014/main" id="{AE179D51-6778-004A-AAC9-33D2AAC309E5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5" name="DiffDot2">
            <a:extLst>
              <a:ext uri="{FF2B5EF4-FFF2-40B4-BE49-F238E27FC236}">
                <a16:creationId xmlns:a16="http://schemas.microsoft.com/office/drawing/2014/main" id="{F0856B2C-3EEE-FF42-BD87-68E329DB4D36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6" name="DiffDot3">
            <a:extLst>
              <a:ext uri="{FF2B5EF4-FFF2-40B4-BE49-F238E27FC236}">
                <a16:creationId xmlns:a16="http://schemas.microsoft.com/office/drawing/2014/main" id="{33AD2606-C84E-4C4F-B170-F5EABD33676A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7" name="DiffDot4">
            <a:extLst>
              <a:ext uri="{FF2B5EF4-FFF2-40B4-BE49-F238E27FC236}">
                <a16:creationId xmlns:a16="http://schemas.microsoft.com/office/drawing/2014/main" id="{910A126D-F5DD-E545-A773-CE1569F1E360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8" name="DiffDot5">
            <a:extLst>
              <a:ext uri="{FF2B5EF4-FFF2-40B4-BE49-F238E27FC236}">
                <a16:creationId xmlns:a16="http://schemas.microsoft.com/office/drawing/2014/main" id="{476CC386-E7F3-A341-B96B-B8558191BE7F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9" name="DiffLabel">
            <a:extLst>
              <a:ext uri="{FF2B5EF4-FFF2-40B4-BE49-F238E27FC236}">
                <a16:creationId xmlns:a16="http://schemas.microsoft.com/office/drawing/2014/main" id="{871147CE-08A4-6F4F-BBEB-B77CDB27F69B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  <p:sp>
        <p:nvSpPr>
          <p:cNvPr id="61" name="TroubleshootTitle">
            <a:extLst>
              <a:ext uri="{FF2B5EF4-FFF2-40B4-BE49-F238E27FC236}">
                <a16:creationId xmlns:a16="http://schemas.microsoft.com/office/drawing/2014/main" id="{AAAD8265-2E1B-CE4D-8828-FCB7C7392D5E}"/>
              </a:ext>
            </a:extLst>
          </p:cNvPr>
          <p:cNvSpPr txBox="1"/>
          <p:nvPr/>
        </p:nvSpPr>
        <p:spPr>
          <a:xfrm>
            <a:off x="1270000" y="8382000"/>
            <a:ext cx="5080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" altLang="ko-KR" sz="1500" b="1">
                <a:solidFill>
                  <a:srgbClr val="C25A11"/>
                </a:solidFill>
                <a:latin typeface="BM DoHyeon OTF"/>
                <a:ea typeface="BM DoHyeon OTF"/>
              </a:rPr>
              <a:t>[Troubleshooting]</a:t>
            </a:r>
            <a:endParaRPr lang="ko-KR" altLang="en-US" sz="1500" b="1">
              <a:solidFill>
                <a:srgbClr val="C25A11"/>
              </a:solidFill>
              <a:latin typeface="BM DoHyeon OTF"/>
              <a:ea typeface="BM DoHyeon OTF"/>
            </a:endParaRPr>
          </a:p>
        </p:txBody>
      </p:sp>
      <p:sp>
        <p:nvSpPr>
          <p:cNvPr id="62" name="TroubleshootBody">
            <a:extLst>
              <a:ext uri="{FF2B5EF4-FFF2-40B4-BE49-F238E27FC236}">
                <a16:creationId xmlns:a16="http://schemas.microsoft.com/office/drawing/2014/main" id="{335D90F4-87D9-754D-A1EB-F81FB6105C82}"/>
              </a:ext>
            </a:extLst>
          </p:cNvPr>
          <p:cNvSpPr txBox="1"/>
          <p:nvPr/>
        </p:nvSpPr>
        <p:spPr>
          <a:xfrm>
            <a:off x="1066800" y="8712200"/>
            <a:ext cx="161544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595959"/>
                </a:solidFill>
              </a:rPr>
              <a:t>① </a:t>
            </a:r>
            <a:r>
              <a:rPr lang="ko-KR" altLang="en-US" sz="1400">
                <a:solidFill>
                  <a:srgbClr val="595959"/>
                </a:solidFill>
              </a:rPr>
              <a:t>패턴대로 요청했는데 결과가 다르면 역할</a:t>
            </a:r>
            <a:r>
              <a:rPr lang="en-US" altLang="ko-KR" sz="1400">
                <a:solidFill>
                  <a:srgbClr val="595959"/>
                </a:solidFill>
              </a:rPr>
              <a:t>·</a:t>
            </a:r>
            <a:r>
              <a:rPr lang="ko-KR" altLang="en-US" sz="1400">
                <a:solidFill>
                  <a:srgbClr val="595959"/>
                </a:solidFill>
              </a:rPr>
              <a:t>조건</a:t>
            </a:r>
            <a:r>
              <a:rPr lang="en-US" altLang="ko-KR" sz="1400">
                <a:solidFill>
                  <a:srgbClr val="595959"/>
                </a:solidFill>
              </a:rPr>
              <a:t>·</a:t>
            </a:r>
            <a:r>
              <a:rPr lang="ko-KR" altLang="en-US" sz="1400">
                <a:solidFill>
                  <a:srgbClr val="595959"/>
                </a:solidFill>
              </a:rPr>
              <a:t>출력형식을 더 구체적으로 명시  </a:t>
            </a:r>
            <a:r>
              <a:rPr lang="en-US" altLang="ko-KR" sz="1400">
                <a:solidFill>
                  <a:srgbClr val="595959"/>
                </a:solidFill>
              </a:rPr>
              <a:t>② </a:t>
            </a:r>
            <a:r>
              <a:rPr lang="ko-KR" altLang="en-US" sz="1400">
                <a:solidFill>
                  <a:srgbClr val="595959"/>
                </a:solidFill>
              </a:rPr>
              <a:t>여러 패턴을 조합할 때는 순서를 명확히 지정  </a:t>
            </a:r>
            <a:r>
              <a:rPr lang="en-US" altLang="ko-KR" sz="1400">
                <a:solidFill>
                  <a:srgbClr val="595959"/>
                </a:solidFill>
              </a:rPr>
              <a:t>③ </a:t>
            </a:r>
            <a:r>
              <a:rPr lang="ko-KR" altLang="en-US" sz="1400">
                <a:solidFill>
                  <a:srgbClr val="595959"/>
                </a:solidFill>
              </a:rPr>
              <a:t>결과가 애매하면 예시를 하나 들어 재요청</a:t>
            </a:r>
          </a:p>
        </p:txBody>
      </p:sp>
      <p:pic>
        <p:nvPicPr>
          <p:cNvPr id="63" name="Copied Picture 63" descr="Troubleshooting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000" y="8382000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774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roubleshootBox">
            <a:extLst>
              <a:ext uri="{FF2B5EF4-FFF2-40B4-BE49-F238E27FC236}">
                <a16:creationId xmlns:a16="http://schemas.microsoft.com/office/drawing/2014/main" id="{6367B53E-CD62-4F49-BA6D-66666DA05604}"/>
              </a:ext>
            </a:extLst>
          </p:cNvPr>
          <p:cNvSpPr/>
          <p:nvPr/>
        </p:nvSpPr>
        <p:spPr>
          <a:xfrm>
            <a:off x="762000" y="8890000"/>
            <a:ext cx="16764000" cy="571500"/>
          </a:xfrm>
          <a:prstGeom prst="roundRect">
            <a:avLst/>
          </a:prstGeom>
          <a:solidFill>
            <a:srgbClr val="FFF4EC"/>
          </a:solidFill>
          <a:ln w="12700" cap="flat" cmpd="sng" algn="ctr">
            <a:solidFill>
              <a:srgbClr val="ED7D3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762000" y="381000"/>
            <a:ext cx="16764000" cy="57150"/>
          </a:xfrm>
          <a:prstGeom prst="rect">
            <a:avLst/>
          </a:prstGeom>
          <a:solidFill>
            <a:srgbClr val="694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2000" y="1047750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62000" y="647700"/>
            <a:ext cx="4181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CHAPTER 04 — UNIT 51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024943" y="5905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482143" y="623888"/>
            <a:ext cx="21200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10" dirty="0">
                <a:solidFill>
                  <a:srgbClr val="6941F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M365 COPILOT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762000" y="1304925"/>
            <a:ext cx="1466850" cy="85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1664"/>
              </a:lnSpc>
              <a:buNone/>
            </a:pPr>
            <a:r>
              <a:rPr lang="en-US" sz="780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51</a:t>
            </a:r>
            <a:endParaRPr lang="en-US" sz="7800" dirty="0"/>
          </a:p>
        </p:txBody>
      </p:sp>
      <p:sp>
        <p:nvSpPr>
          <p:cNvPr id="8" name="Shape 5"/>
          <p:cNvSpPr/>
          <p:nvPr/>
        </p:nvSpPr>
        <p:spPr>
          <a:xfrm>
            <a:off x="2590800" y="1304925"/>
            <a:ext cx="9525" cy="1312664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019425" y="1304925"/>
            <a:ext cx="11699875" cy="82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57"/>
              </a:lnSpc>
              <a:buNone/>
            </a:pPr>
            <a:r>
              <a:rPr lang="en-US" sz="5850" b="1" kern="0" spc="-8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크로스앱 통합 워크플로우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3019425" y="2244775"/>
            <a:ext cx="1299210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Excel 정제 → Word SOP → PowerPoint 임원 보고를 한 흐름으로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2846189"/>
            <a:ext cx="167640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62000" y="4646414"/>
            <a:ext cx="56856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33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1. Excel Copilot</a:t>
            </a:r>
            <a:endParaRPr lang="en-US" sz="3375" dirty="0"/>
          </a:p>
        </p:txBody>
      </p:sp>
      <p:sp>
        <p:nvSpPr>
          <p:cNvPr id="13" name="Text 10"/>
          <p:cNvSpPr/>
          <p:nvPr/>
        </p:nvSpPr>
        <p:spPr>
          <a:xfrm>
            <a:off x="762000" y="5294114"/>
            <a:ext cx="5685681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941"/>
              </a:lnSpc>
              <a:buNone/>
            </a:pPr>
            <a:r>
              <a:rPr lang="en-US" sz="2250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데이터 정제 · 추론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762000" y="6079927"/>
            <a:ext cx="228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—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66800" y="5898952"/>
            <a:ext cx="5009921" cy="894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861"/>
              </a:lnSpc>
              <a:buNone/>
            </a:pPr>
            <a:r>
              <a:rPr lang="en-US" sz="23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대용량 로그 필터링과 Z-Score 이상치 피벗 분석</a:t>
            </a:r>
            <a:endParaRPr lang="en-US" sz="2325" dirty="0"/>
          </a:p>
        </p:txBody>
      </p:sp>
      <p:sp>
        <p:nvSpPr>
          <p:cNvPr id="16" name="Shape 13"/>
          <p:cNvSpPr/>
          <p:nvPr/>
        </p:nvSpPr>
        <p:spPr>
          <a:xfrm>
            <a:off x="6349901" y="4398764"/>
            <a:ext cx="9525" cy="209550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6778526" y="4646414"/>
            <a:ext cx="521435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33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2. Word Copilot</a:t>
            </a:r>
            <a:endParaRPr lang="en-US" sz="3375" dirty="0"/>
          </a:p>
        </p:txBody>
      </p:sp>
      <p:sp>
        <p:nvSpPr>
          <p:cNvPr id="18" name="Text 15"/>
          <p:cNvSpPr/>
          <p:nvPr/>
        </p:nvSpPr>
        <p:spPr>
          <a:xfrm>
            <a:off x="6778526" y="5294114"/>
            <a:ext cx="521435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941"/>
              </a:lnSpc>
              <a:buNone/>
            </a:pPr>
            <a:r>
              <a:rPr lang="en-US" sz="2250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다중 소스 합성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6778526" y="6079927"/>
            <a:ext cx="228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083326" y="5898952"/>
            <a:ext cx="4568590" cy="894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861"/>
              </a:lnSpc>
              <a:buNone/>
            </a:pPr>
            <a:r>
              <a:rPr lang="en-US" sz="23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엑셀 분석 결과를 인용한 원인 분석 SOP 작성</a:t>
            </a:r>
            <a:endParaRPr lang="en-US" sz="2325" dirty="0"/>
          </a:p>
        </p:txBody>
      </p:sp>
      <p:sp>
        <p:nvSpPr>
          <p:cNvPr id="21" name="Shape 18"/>
          <p:cNvSpPr/>
          <p:nvPr/>
        </p:nvSpPr>
        <p:spPr>
          <a:xfrm>
            <a:off x="11937950" y="4398764"/>
            <a:ext cx="9525" cy="209550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12366575" y="4646414"/>
            <a:ext cx="567536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3375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3. PowerPoint Copilot</a:t>
            </a:r>
            <a:endParaRPr lang="en-US" sz="3375" dirty="0"/>
          </a:p>
        </p:txBody>
      </p:sp>
      <p:sp>
        <p:nvSpPr>
          <p:cNvPr id="23" name="Text 20"/>
          <p:cNvSpPr/>
          <p:nvPr/>
        </p:nvSpPr>
        <p:spPr>
          <a:xfrm>
            <a:off x="12366575" y="5294114"/>
            <a:ext cx="567536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941"/>
              </a:lnSpc>
              <a:buNone/>
            </a:pPr>
            <a:r>
              <a:rPr lang="en-US" sz="2250" dirty="0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의사결정 슬라이드</a:t>
            </a:r>
            <a:endParaRPr lang="en-US" sz="2250" dirty="0"/>
          </a:p>
        </p:txBody>
      </p:sp>
      <p:sp>
        <p:nvSpPr>
          <p:cNvPr id="24" name="Text 21"/>
          <p:cNvSpPr/>
          <p:nvPr/>
        </p:nvSpPr>
        <p:spPr>
          <a:xfrm>
            <a:off x="12366575" y="6079927"/>
            <a:ext cx="228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—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2671375" y="5898952"/>
            <a:ext cx="5000263" cy="894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861"/>
              </a:lnSpc>
              <a:buNone/>
            </a:pPr>
            <a:r>
              <a:rPr lang="en-US" sz="2325" dirty="0">
                <a:solidFill>
                  <a:srgbClr val="55585D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Word 보고서를 1페이지 임원 슬라이드로 변환</a:t>
            </a:r>
            <a:endParaRPr lang="en-US" sz="2325" dirty="0"/>
          </a:p>
        </p:txBody>
      </p:sp>
      <p:sp>
        <p:nvSpPr>
          <p:cNvPr id="26" name="Shape 23"/>
          <p:cNvSpPr/>
          <p:nvPr/>
        </p:nvSpPr>
        <p:spPr>
          <a:xfrm>
            <a:off x="762000" y="8445500"/>
            <a:ext cx="16764000" cy="28575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762000" y="8559800"/>
            <a:ext cx="50229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b="1" kern="0" spc="315" dirty="0">
                <a:solidFill>
                  <a:srgbClr val="E0282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요점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473845" y="8470900"/>
            <a:ext cx="1035078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4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각 단계의 산출물을 다음 단계의 참조 파일로 지정하는 것이 크로스앱 워크플로우의 핵심입니다.</a:t>
            </a:r>
            <a:endParaRPr lang="en-US" sz="2400" dirty="0"/>
          </a:p>
        </p:txBody>
      </p:sp>
      <p:sp>
        <p:nvSpPr>
          <p:cNvPr id="29" name="Shape 26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762000" y="9648825"/>
            <a:ext cx="441315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31415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04. 데이터기반 의사결정, Copilot 실전 플레이북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6650444" y="9648825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59 / 60</a:t>
            </a:r>
            <a:endParaRPr lang="en-US" sz="1650" dirty="0"/>
          </a:p>
        </p:txBody>
      </p:sp>
      <p:sp>
        <p:nvSpPr>
          <p:cNvPr id="32" name="DiffDot1">
            <a:extLst>
              <a:ext uri="{FF2B5EF4-FFF2-40B4-BE49-F238E27FC236}">
                <a16:creationId xmlns:a16="http://schemas.microsoft.com/office/drawing/2014/main" id="{11B5166F-7AB9-794A-9831-DB80B7C42771}"/>
              </a:ext>
            </a:extLst>
          </p:cNvPr>
          <p:cNvSpPr/>
          <p:nvPr/>
        </p:nvSpPr>
        <p:spPr>
          <a:xfrm>
            <a:off x="160655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DiffDot2">
            <a:extLst>
              <a:ext uri="{FF2B5EF4-FFF2-40B4-BE49-F238E27FC236}">
                <a16:creationId xmlns:a16="http://schemas.microsoft.com/office/drawing/2014/main" id="{ADDC730A-58A9-9F4C-B578-88F73F1CDA81}"/>
              </a:ext>
            </a:extLst>
          </p:cNvPr>
          <p:cNvSpPr/>
          <p:nvPr/>
        </p:nvSpPr>
        <p:spPr>
          <a:xfrm>
            <a:off x="163957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4" name="DiffDot3">
            <a:extLst>
              <a:ext uri="{FF2B5EF4-FFF2-40B4-BE49-F238E27FC236}">
                <a16:creationId xmlns:a16="http://schemas.microsoft.com/office/drawing/2014/main" id="{3687FEC1-1E38-654E-87D8-71F9A7FD0A4A}"/>
              </a:ext>
            </a:extLst>
          </p:cNvPr>
          <p:cNvSpPr/>
          <p:nvPr/>
        </p:nvSpPr>
        <p:spPr>
          <a:xfrm>
            <a:off x="167259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5" name="DiffDot4">
            <a:extLst>
              <a:ext uri="{FF2B5EF4-FFF2-40B4-BE49-F238E27FC236}">
                <a16:creationId xmlns:a16="http://schemas.microsoft.com/office/drawing/2014/main" id="{22B818E1-1E0A-6348-ADA6-4856A1CF30B4}"/>
              </a:ext>
            </a:extLst>
          </p:cNvPr>
          <p:cNvSpPr/>
          <p:nvPr/>
        </p:nvSpPr>
        <p:spPr>
          <a:xfrm>
            <a:off x="170561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DiffDot5">
            <a:extLst>
              <a:ext uri="{FF2B5EF4-FFF2-40B4-BE49-F238E27FC236}">
                <a16:creationId xmlns:a16="http://schemas.microsoft.com/office/drawing/2014/main" id="{BE8E5367-CE65-F844-A854-11F08D323653}"/>
              </a:ext>
            </a:extLst>
          </p:cNvPr>
          <p:cNvSpPr/>
          <p:nvPr/>
        </p:nvSpPr>
        <p:spPr>
          <a:xfrm>
            <a:off x="17386300" y="1574800"/>
            <a:ext cx="215900" cy="215900"/>
          </a:xfrm>
          <a:prstGeom prst="ellipse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DiffLabel">
            <a:extLst>
              <a:ext uri="{FF2B5EF4-FFF2-40B4-BE49-F238E27FC236}">
                <a16:creationId xmlns:a16="http://schemas.microsoft.com/office/drawing/2014/main" id="{4E3FE1F8-22AE-3E41-82A1-AAA8D2D880F4}"/>
              </a:ext>
            </a:extLst>
          </p:cNvPr>
          <p:cNvSpPr txBox="1"/>
          <p:nvPr/>
        </p:nvSpPr>
        <p:spPr>
          <a:xfrm>
            <a:off x="14973300" y="1536700"/>
            <a:ext cx="9398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BM DoHyeon OTF"/>
                <a:ea typeface="BM DoHyeon OTF"/>
              </a:rPr>
              <a:t>난이도</a:t>
            </a:r>
          </a:p>
        </p:txBody>
      </p:sp>
      <p:sp>
        <p:nvSpPr>
          <p:cNvPr id="39" name="TroubleshootTitle">
            <a:extLst>
              <a:ext uri="{FF2B5EF4-FFF2-40B4-BE49-F238E27FC236}">
                <a16:creationId xmlns:a16="http://schemas.microsoft.com/office/drawing/2014/main" id="{4AAC39A6-FBE0-1E4A-A7C1-E1D733802776}"/>
              </a:ext>
            </a:extLst>
          </p:cNvPr>
          <p:cNvSpPr txBox="1"/>
          <p:nvPr/>
        </p:nvSpPr>
        <p:spPr>
          <a:xfrm>
            <a:off x="1066800" y="8978900"/>
            <a:ext cx="2413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" altLang="ko-KR" sz="1300" b="1">
                <a:solidFill>
                  <a:srgbClr val="C25A11"/>
                </a:solidFill>
                <a:latin typeface="BM DoHyeon OTF"/>
                <a:ea typeface="BM DoHyeon OTF"/>
              </a:rPr>
              <a:t>[Troubleshooting]</a:t>
            </a:r>
            <a:endParaRPr lang="ko-KR" altLang="en-US" sz="1300" b="1">
              <a:solidFill>
                <a:srgbClr val="C25A11"/>
              </a:solidFill>
              <a:latin typeface="BM DoHyeon OTF"/>
              <a:ea typeface="BM DoHyeon OTF"/>
            </a:endParaRPr>
          </a:p>
        </p:txBody>
      </p:sp>
      <p:sp>
        <p:nvSpPr>
          <p:cNvPr id="40" name="TroubleshootBody">
            <a:extLst>
              <a:ext uri="{FF2B5EF4-FFF2-40B4-BE49-F238E27FC236}">
                <a16:creationId xmlns:a16="http://schemas.microsoft.com/office/drawing/2014/main" id="{D4B8872F-0365-FC49-BD4C-2865F97413EF}"/>
              </a:ext>
            </a:extLst>
          </p:cNvPr>
          <p:cNvSpPr txBox="1"/>
          <p:nvPr/>
        </p:nvSpPr>
        <p:spPr>
          <a:xfrm>
            <a:off x="3556000" y="8978900"/>
            <a:ext cx="13716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</a:rPr>
              <a:t>참조 파일 연결이 끊기면 단계별 산출물 경로를 재지정하고 순서대로 재요청하세요</a:t>
            </a:r>
            <a:r>
              <a:rPr lang="en-US" altLang="ko-KR" sz="1400">
                <a:solidFill>
                  <a:srgbClr val="595959"/>
                </a:solidFill>
              </a:rPr>
              <a:t>.</a:t>
            </a:r>
            <a:endParaRPr lang="ko-KR" altLang="en-US" sz="140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76701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54100"/>
            <a:ext cx="16459200" cy="9525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638175"/>
            <a:ext cx="389140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ko-KR" sz="1400" b="1" spc="30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CLOSING · 교육을 마치며</a:t>
            </a:r>
          </a:p>
        </p:txBody>
      </p:sp>
      <p:sp>
        <p:nvSpPr>
          <p:cNvPr id="4" name="Text 2"/>
          <p:cNvSpPr/>
          <p:nvPr/>
        </p:nvSpPr>
        <p:spPr>
          <a:xfrm>
            <a:off x="14473982" y="609600"/>
            <a:ext cx="31895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324" dirty="0">
                <a:solidFill>
                  <a:srgbClr val="6941FF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AX 일방식 혁신 교육 · KT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986213"/>
            <a:ext cx="3771900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69364"/>
              </a:lnSpc>
              <a:buNone/>
            </a:pPr>
            <a:r>
              <a:rPr lang="en-US" sz="1500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END</a:t>
            </a:r>
          </a:p>
        </p:txBody>
      </p:sp>
      <p:sp>
        <p:nvSpPr>
          <p:cNvPr id="6" name="Shape 4"/>
          <p:cNvSpPr/>
          <p:nvPr/>
        </p:nvSpPr>
        <p:spPr>
          <a:xfrm>
            <a:off x="5029200" y="2438400"/>
            <a:ext cx="9525" cy="3175000"/>
          </a:xfrm>
          <a:prstGeom prst="rect">
            <a:avLst/>
          </a:prstGeom>
          <a:solidFill>
            <a:srgbClr val="13141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48325" y="2540000"/>
            <a:ext cx="17594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spc="30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CLOSING</a:t>
            </a:r>
          </a:p>
        </p:txBody>
      </p:sp>
      <p:sp>
        <p:nvSpPr>
          <p:cNvPr id="8" name="Text 6"/>
          <p:cNvSpPr/>
          <p:nvPr/>
        </p:nvSpPr>
        <p:spPr>
          <a:xfrm>
            <a:off x="5648325" y="2946400"/>
            <a:ext cx="12077033" cy="2667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ko-KR" sz="5400" b="1" kern="0" spc="-10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배운 것을 내일 업무에</a:t>
            </a:r>
          </a:p>
          <a:p>
            <a:pPr marL="0" indent="0" algn="l">
              <a:buNone/>
            </a:pPr>
            <a:r>
              <a:rPr lang="ko-KR" sz="5400" b="1" kern="0" spc="-108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한 가지만 적용해 보세요</a:t>
            </a:r>
          </a:p>
          <a:p>
            <a:pPr marL="0" indent="0" algn="l">
              <a:spcBef>
                <a:spcPts val="1200"/>
              </a:spcBef>
              <a:buNone/>
            </a:pPr>
            <a:r>
              <a:rPr lang="ko-KR" sz="1600" b="1" spc="10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다음 단계     </a:t>
            </a:r>
            <a:r>
              <a:rPr lang="ko-KR" sz="1600" dirty="0">
                <a:solidFill>
                  <a:srgbClr val="3C4148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내 업무에서 반복되는 작업 1개를 Copilot으로 자동화</a:t>
            </a:r>
          </a:p>
        </p:txBody>
      </p:sp>
      <p:sp>
        <p:nvSpPr>
          <p:cNvPr id="9" name="Text 7"/>
          <p:cNvSpPr/>
          <p:nvPr/>
        </p:nvSpPr>
        <p:spPr>
          <a:xfrm>
            <a:off x="5651500" y="5740400"/>
            <a:ext cx="508000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ko-KR" sz="2400" b="1" spc="200" dirty="0">
                <a:solidFill>
                  <a:srgbClr val="E0282F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감사합니다</a:t>
            </a:r>
          </a:p>
        </p:txBody>
      </p:sp>
      <p:sp>
        <p:nvSpPr>
          <p:cNvPr id="11" name="Shape 8"/>
          <p:cNvSpPr/>
          <p:nvPr/>
        </p:nvSpPr>
        <p:spPr>
          <a:xfrm>
            <a:off x="5648325" y="8763000"/>
            <a:ext cx="11725275" cy="28575"/>
          </a:xfrm>
          <a:prstGeom prst="rect">
            <a:avLst/>
          </a:prstGeom>
          <a:solidFill>
            <a:srgbClr val="E028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648325" y="8966200"/>
            <a:ext cx="23620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ko-KR" sz="13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AX 일방식 혁신 교육</a:t>
            </a:r>
          </a:p>
        </p:txBody>
      </p:sp>
      <p:sp>
        <p:nvSpPr>
          <p:cNvPr id="13" name="Text 10"/>
          <p:cNvSpPr/>
          <p:nvPr/>
        </p:nvSpPr>
        <p:spPr>
          <a:xfrm>
            <a:off x="8214717" y="8966200"/>
            <a:ext cx="20855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8A9099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UNIT 01 · 51</a:t>
            </a:r>
          </a:p>
        </p:txBody>
      </p:sp>
      <p:sp>
        <p:nvSpPr>
          <p:cNvPr id="14" name="Shape 11"/>
          <p:cNvSpPr/>
          <p:nvPr/>
        </p:nvSpPr>
        <p:spPr>
          <a:xfrm>
            <a:off x="914400" y="9512300"/>
            <a:ext cx="16459200" cy="9525"/>
          </a:xfrm>
          <a:prstGeom prst="rect">
            <a:avLst/>
          </a:prstGeom>
          <a:solidFill>
            <a:srgbClr val="D5D8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914400" y="9652000"/>
            <a:ext cx="48654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131415"/>
                </a:solidFill>
                <a:latin typeface="BM DoHyeon OTF" pitchFamily="34" charset="0"/>
                <a:ea typeface="BM DoHyeon OTF" pitchFamily="34" charset="-122"/>
                <a:cs typeface="BM DoHyeon OTF" pitchFamily="34" charset="-120"/>
              </a:rPr>
              <a:t>CLOSING. 교육을 마치며</a:t>
            </a:r>
          </a:p>
        </p:txBody>
      </p:sp>
      <p:sp>
        <p:nvSpPr>
          <p:cNvPr id="16" name="Text 13"/>
          <p:cNvSpPr/>
          <p:nvPr/>
        </p:nvSpPr>
        <p:spPr>
          <a:xfrm>
            <a:off x="16498044" y="9652000"/>
            <a:ext cx="951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50" b="1" kern="0" spc="264">
                <a:solidFill>
                  <a:srgbClr val="8B8F97"/>
                </a:solidFill>
                <a:latin typeface="BM JUA OTF" pitchFamily="34" charset="0"/>
                <a:ea typeface="BM JUA OTF" pitchFamily="34" charset="-122"/>
                <a:cs typeface="BM JUA OTF" pitchFamily="34" charset="-120"/>
              </a:rPr>
              <a:t>60 / 60</a:t>
            </a:r>
            <a:endParaRPr lang="en-US" sz="1650" dirty="0"/>
          </a:p>
        </p:txBody>
      </p:sp>
      <p:sp>
        <p:nvSpPr>
          <p:cNvPr id="900" name="AccentBar"/>
          <p:cNvSpPr/>
          <p:nvPr/>
        </p:nvSpPr>
        <p:spPr>
          <a:xfrm>
            <a:off x="914400" y="381000"/>
            <a:ext cx="16459200" cy="63500"/>
          </a:xfrm>
          <a:prstGeom prst="rect">
            <a:avLst/>
          </a:prstGeom>
          <a:solidFill>
            <a:srgbClr val="6941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3E3D314-A042-6240-BDD7-64186390F10A}"/>
              </a:ext>
            </a:extLst>
          </p:cNvPr>
          <p:cNvSpPr/>
          <p:nvPr/>
        </p:nvSpPr>
        <p:spPr>
          <a:xfrm>
            <a:off x="5651500" y="6604000"/>
            <a:ext cx="3670300" cy="38100"/>
          </a:xfrm>
          <a:prstGeom prst="rect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973128-6E75-5949-AEBE-BB992C0218E0}"/>
              </a:ext>
            </a:extLst>
          </p:cNvPr>
          <p:cNvSpPr txBox="1"/>
          <p:nvPr/>
        </p:nvSpPr>
        <p:spPr>
          <a:xfrm>
            <a:off x="5651500" y="6858000"/>
            <a:ext cx="36703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131415"/>
                </a:solidFill>
                <a:latin typeface="BM DoHyeon OTF"/>
                <a:ea typeface="BM DoHyeon OTF"/>
              </a:rPr>
              <a:t>내일 아침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3D7FA6-A962-D04C-8513-7FBD23B70628}"/>
              </a:ext>
            </a:extLst>
          </p:cNvPr>
          <p:cNvSpPr txBox="1"/>
          <p:nvPr/>
        </p:nvSpPr>
        <p:spPr>
          <a:xfrm>
            <a:off x="5651500" y="7391400"/>
            <a:ext cx="36703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>
                <a:solidFill>
                  <a:srgbClr val="5A5F66"/>
                </a:solidFill>
                <a:latin typeface="BM DoHyeon OTF"/>
                <a:ea typeface="BM DoHyeon OTF"/>
              </a:rPr>
              <a:t>반복 업무 </a:t>
            </a:r>
            <a:r>
              <a:rPr lang="en-US" altLang="ko-KR" sz="1700">
                <a:solidFill>
                  <a:srgbClr val="5A5F66"/>
                </a:solidFill>
                <a:latin typeface="BM DoHyeon OTF"/>
                <a:ea typeface="BM DoHyeon OTF"/>
              </a:rPr>
              <a:t>1</a:t>
            </a:r>
            <a:r>
              <a:rPr lang="ko-KR" altLang="en-US" sz="1700">
                <a:solidFill>
                  <a:srgbClr val="5A5F66"/>
                </a:solidFill>
                <a:latin typeface="BM DoHyeon OTF"/>
                <a:ea typeface="BM DoHyeon OTF"/>
              </a:rPr>
              <a:t>개를 골라 </a:t>
            </a:r>
            <a:r>
              <a:rPr lang="en" altLang="ko-KR" sz="1700">
                <a:solidFill>
                  <a:srgbClr val="5A5F66"/>
                </a:solidFill>
                <a:latin typeface="BM DoHyeon OTF"/>
                <a:ea typeface="BM DoHyeon OTF"/>
              </a:rPr>
              <a:t>Copilot</a:t>
            </a:r>
            <a:r>
              <a:rPr lang="ko-KR" altLang="en-US" sz="1700">
                <a:solidFill>
                  <a:srgbClr val="5A5F66"/>
                </a:solidFill>
                <a:latin typeface="BM DoHyeon OTF"/>
                <a:ea typeface="BM DoHyeon OTF"/>
              </a:rPr>
              <a:t>에게 먼저 물어보기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536C3AB-44D3-0042-A374-0503C267BEC3}"/>
              </a:ext>
            </a:extLst>
          </p:cNvPr>
          <p:cNvSpPr/>
          <p:nvPr/>
        </p:nvSpPr>
        <p:spPr>
          <a:xfrm>
            <a:off x="9677400" y="6604000"/>
            <a:ext cx="3670300" cy="38100"/>
          </a:xfrm>
          <a:prstGeom prst="rect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951C1E-F7BC-5F43-88C9-318574C6259D}"/>
              </a:ext>
            </a:extLst>
          </p:cNvPr>
          <p:cNvSpPr txBox="1"/>
          <p:nvPr/>
        </p:nvSpPr>
        <p:spPr>
          <a:xfrm>
            <a:off x="9677400" y="6858000"/>
            <a:ext cx="36703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131415"/>
                </a:solidFill>
                <a:latin typeface="BM DoHyeon OTF"/>
                <a:ea typeface="BM DoHyeon OTF"/>
              </a:rPr>
              <a:t>이번 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55F531-1E40-DB4A-9B79-680E8443087E}"/>
              </a:ext>
            </a:extLst>
          </p:cNvPr>
          <p:cNvSpPr txBox="1"/>
          <p:nvPr/>
        </p:nvSpPr>
        <p:spPr>
          <a:xfrm>
            <a:off x="9677400" y="7391400"/>
            <a:ext cx="36703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>
                <a:solidFill>
                  <a:srgbClr val="5A5F66"/>
                </a:solidFill>
                <a:latin typeface="BM DoHyeon OTF"/>
                <a:ea typeface="BM DoHyeon OTF"/>
              </a:rPr>
              <a:t>점검</a:t>
            </a:r>
            <a:r>
              <a:rPr lang="en-US" altLang="ko-KR" sz="1700">
                <a:solidFill>
                  <a:srgbClr val="5A5F66"/>
                </a:solidFill>
                <a:latin typeface="BM DoHyeon OTF"/>
                <a:ea typeface="BM DoHyeon OTF"/>
              </a:rPr>
              <a:t>·</a:t>
            </a:r>
            <a:r>
              <a:rPr lang="ko-KR" altLang="en-US" sz="1700">
                <a:solidFill>
                  <a:srgbClr val="5A5F66"/>
                </a:solidFill>
                <a:latin typeface="BM DoHyeon OTF"/>
                <a:ea typeface="BM DoHyeon OTF"/>
              </a:rPr>
              <a:t>보고 문서 하나를 프롬프트로 자동화하기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629F243-3CEC-1D41-A214-A7EA44BF66B7}"/>
              </a:ext>
            </a:extLst>
          </p:cNvPr>
          <p:cNvSpPr/>
          <p:nvPr/>
        </p:nvSpPr>
        <p:spPr>
          <a:xfrm>
            <a:off x="13703300" y="6604000"/>
            <a:ext cx="3670300" cy="38100"/>
          </a:xfrm>
          <a:prstGeom prst="rect">
            <a:avLst/>
          </a:prstGeom>
          <a:solidFill>
            <a:srgbClr val="E028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37D4A4-FF31-E64B-8327-2110B6CB6310}"/>
              </a:ext>
            </a:extLst>
          </p:cNvPr>
          <p:cNvSpPr txBox="1"/>
          <p:nvPr/>
        </p:nvSpPr>
        <p:spPr>
          <a:xfrm>
            <a:off x="13703300" y="6858000"/>
            <a:ext cx="36703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131415"/>
                </a:solidFill>
                <a:latin typeface="BM DoHyeon OTF"/>
                <a:ea typeface="BM DoHyeon OTF"/>
              </a:rPr>
              <a:t>이번 달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AFBBA-6324-A54D-91CF-1BEDEB2D16C1}"/>
              </a:ext>
            </a:extLst>
          </p:cNvPr>
          <p:cNvSpPr txBox="1"/>
          <p:nvPr/>
        </p:nvSpPr>
        <p:spPr>
          <a:xfrm>
            <a:off x="13703300" y="7391400"/>
            <a:ext cx="36703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>
                <a:solidFill>
                  <a:srgbClr val="5A5F66"/>
                </a:solidFill>
                <a:latin typeface="BM DoHyeon OTF"/>
                <a:ea typeface="BM DoHyeon OTF"/>
              </a:rPr>
              <a:t>팀 안에서 검증된 프롬프트를 공유하고 표준화하기</a:t>
            </a:r>
          </a:p>
        </p:txBody>
      </p:sp>
    </p:spTree>
    <p:extLst>
      <p:ext uri="{BB962C8B-B14F-4D97-AF65-F5344CB8AC3E}">
        <p14:creationId xmlns:p14="http://schemas.microsoft.com/office/powerpoint/2010/main" val="1638340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7662926191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M DoHyeon OTF" panose="020F0302020204030204"/>
        <a:ea typeface="BM DoHyeon OTF"/>
        <a:cs typeface="BM DoHyeon OTF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BM JUA OTF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M JUA OTF" panose="020F0502020204030204"/>
        <a:ea typeface="BM JUA OTF"/>
        <a:cs typeface="BM JUA OTF"/>
        <a:font script="Jpan" typeface="游ゴシック"/>
        <a:font script="Hang" typeface="맑은 고딕"/>
        <a:font script="Hans" typeface="等线"/>
        <a:font script="Hant" typeface="新細明體"/>
        <a:font script="Arab" typeface="BM JUA OTF"/>
        <a:font script="Hebr" typeface="BM JUA OTF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BM JUA OTF"/>
        <a:font script="Uigh" typeface="Microsoft Uighur"/>
        <a:font script="Geor" typeface="Sylfaen"/>
        <a:font script="Armn" typeface="BM JUA OTF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BEA0BEC-DA7A-8249-994B-2A27B3B9D6DE}">
  <we:reference id="wa200010001" version="1.0.0.1" store="ko-KR" storeType="OMEX"/>
  <we:alternateReferences>
    <we:reference id="WA200010001" version="1.0.0.1" store="" storeType="OMEX"/>
  </we:alternateReferences>
  <we:properties>
    <we:property name="claude.fileId" value="&quot;c806843c-9525-44fe-aa51-1fc7c48a1c3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7724</Words>
  <Application>Microsoft Macintosh PowerPoint</Application>
  <PresentationFormat>사용자 지정</PresentationFormat>
  <Paragraphs>1508</Paragraphs>
  <Slides>60</Slides>
  <Notes>54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60</vt:i4>
      </vt:variant>
    </vt:vector>
  </HeadingPairs>
  <TitlesOfParts>
    <vt:vector size="63" baseType="lpstr">
      <vt:lpstr>BM DoHyeon OTF</vt:lpstr>
      <vt:lpstr>BM JUA OTF</vt:lpstr>
      <vt:lpstr>Office Theme [1787662926191]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Gwanghee Lee</cp:lastModifiedBy>
  <cp:revision>25</cp:revision>
  <dcterms:created xsi:type="dcterms:W3CDTF">2026-08-25T10:46:26Z</dcterms:created>
  <dcterms:modified xsi:type="dcterms:W3CDTF">2026-08-26T15:20:43Z</dcterms:modified>
</cp:coreProperties>
</file>