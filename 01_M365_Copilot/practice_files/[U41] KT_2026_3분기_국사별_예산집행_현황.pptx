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2026년 3분기 수도권 국사별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설비투자(CAPEX) 집행률 점검 · 코어망운용팀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요약: 3분기 예산 집행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수도권 28개 국사 대상 3분기 CAPEX 집행률 전수 점검 결과</a:t>
            </a:r>
          </a:p>
          <a:p>
            <a:pPr>
              <a:defRPr sz="2000"/>
            </a:pPr>
            <a:r>
              <a:t>• 평균 집행률: 84% (정상 범위)</a:t>
            </a:r>
          </a:p>
          <a:p>
            <a:pPr>
              <a:defRPr sz="2000"/>
            </a:pPr>
            <a:r>
              <a:t>• 예산 초과(100% 초과) 국사: 2개소 (상세 슬라이드 참조)</a:t>
            </a:r>
          </a:p>
          <a:p>
            <a:pPr>
              <a:defRPr sz="2000"/>
            </a:pPr>
            <a:r>
              <a:t>• 초과 사유는 긴급 설비 교체 및 트래픽 급증 대응으로 국한됨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강남국사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11.8억원</a:t>
            </a:r>
          </a:p>
          <a:p>
            <a:pPr>
              <a:defRPr sz="2000"/>
            </a:pPr>
            <a:r>
              <a:t>• 실집행액: 8.5억원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72%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서초국사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8.2억원</a:t>
            </a:r>
          </a:p>
          <a:p>
            <a:pPr>
              <a:defRPr sz="2000"/>
            </a:pPr>
            <a:r>
              <a:t>• 실집행액: 5.6억원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68%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송파국사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9.7억원</a:t>
            </a:r>
          </a:p>
          <a:p>
            <a:pPr>
              <a:defRPr sz="2000"/>
            </a:pPr>
            <a:r>
              <a:t>• 실집행액: 7.9억원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81%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강동국사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9.3억원</a:t>
            </a:r>
          </a:p>
          <a:p>
            <a:pPr>
              <a:defRPr sz="2000"/>
            </a:pPr>
            <a:r>
              <a:t>• 실집행액: 8.4억원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잠실국사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12.4억원</a:t>
            </a:r>
          </a:p>
          <a:p>
            <a:pPr>
              <a:defRPr sz="2000"/>
            </a:pPr>
            <a:r>
              <a:t>• 실집행액: 10.5억원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85%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여의도국사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12.1억원</a:t>
            </a:r>
          </a:p>
          <a:p>
            <a:pPr>
              <a:defRPr sz="2000"/>
            </a:pPr>
            <a:r>
              <a:t>• 실집행액: 9.3억원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77%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구로국사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13.4억원</a:t>
            </a:r>
          </a:p>
          <a:p>
            <a:pPr>
              <a:defRPr sz="2000"/>
            </a:pPr>
            <a:r>
              <a:t>• 실집행액: 12.5억원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93%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관악국사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8.5억원</a:t>
            </a:r>
          </a:p>
          <a:p>
            <a:pPr>
              <a:defRPr sz="2000"/>
            </a:pPr>
            <a:r>
              <a:t>• 실집행액: 7.5억원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88%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동작국사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10.5억원</a:t>
            </a:r>
          </a:p>
          <a:p>
            <a:pPr>
              <a:defRPr sz="2000"/>
            </a:pPr>
            <a:r>
              <a:t>• 실집행액: 6.8억원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65%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마포국사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8.2억원</a:t>
            </a:r>
          </a:p>
          <a:p>
            <a:pPr>
              <a:defRPr sz="2000"/>
            </a:pPr>
            <a:r>
              <a:t>• 실집행액: 7.8억원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95%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서대문국사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9.3억원</a:t>
            </a:r>
          </a:p>
          <a:p>
            <a:pPr>
              <a:defRPr sz="2000"/>
            </a:pPr>
            <a:r>
              <a:t>• 실집행액: 6.5억원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은평국사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11.0억원</a:t>
            </a:r>
          </a:p>
          <a:p>
            <a:pPr>
              <a:defRPr sz="2000"/>
            </a:pPr>
            <a:r>
              <a:t>• 실집행액: 9.1억원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83%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중구국사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8.2억원</a:t>
            </a:r>
          </a:p>
          <a:p>
            <a:pPr>
              <a:defRPr sz="2000"/>
            </a:pPr>
            <a:r>
              <a:t>• 실집행액: 7.5억원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91%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광진국사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9.2억원</a:t>
            </a:r>
          </a:p>
          <a:p>
            <a:pPr>
              <a:defRPr sz="2000"/>
            </a:pPr>
            <a:r>
              <a:t>• 실집행액: 7.3억원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79%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동대문국사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11.9억원</a:t>
            </a:r>
          </a:p>
          <a:p>
            <a:pPr>
              <a:defRPr sz="2000"/>
            </a:pPr>
            <a:r>
              <a:t>• 실집행액: 10.4억원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87%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종로국사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0000"/>
                </a:solidFill>
              </a:defRPr>
            </a:pPr>
            <a:r>
              <a:t>예산 초과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15.0억원</a:t>
            </a:r>
          </a:p>
          <a:p>
            <a:pPr>
              <a:defRPr sz="2000"/>
            </a:pPr>
            <a:r>
              <a:t>• 실집행액: 16.8억원</a:t>
            </a:r>
          </a:p>
          <a:p>
            <a:pPr>
              <a:defRPr sz="2000" b="1">
                <a:solidFill>
                  <a:srgbClr val="C00000"/>
                </a:solidFill>
              </a:defRPr>
            </a:pPr>
            <a:r>
              <a:t>• 집행률: 112%</a:t>
            </a:r>
          </a:p>
          <a:p>
            <a:pPr>
              <a:defRPr sz="2000" b="1">
                <a:solidFill>
                  <a:srgbClr val="C00000"/>
                </a:solidFill>
              </a:defRPr>
            </a:pPr>
            <a:r>
              <a:t>• 초과액: +1.8억원</a:t>
            </a:r>
          </a:p>
          <a:p>
            <a:pPr>
              <a:defRPr sz="2000" b="1">
                <a:solidFill>
                  <a:srgbClr val="C00000"/>
                </a:solidFill>
              </a:defRPr>
            </a:pPr>
            <a:r>
              <a:t>• 초과 사유: 국사 통합 배선반(MDF) 노후 교체 긴급 집행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중랑국사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11.3억원</a:t>
            </a:r>
          </a:p>
          <a:p>
            <a:pPr>
              <a:defRPr sz="2000"/>
            </a:pPr>
            <a:r>
              <a:t>• 실집행액: 10.8억원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96%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성북국사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9.3억원</a:t>
            </a:r>
          </a:p>
          <a:p>
            <a:pPr>
              <a:defRPr sz="2000"/>
            </a:pPr>
            <a:r>
              <a:t>• 실집행액: 6.9억원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74%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강북국사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11.5억원</a:t>
            </a:r>
          </a:p>
          <a:p>
            <a:pPr>
              <a:defRPr sz="2000"/>
            </a:pPr>
            <a:r>
              <a:t>• 실집행액: 10.2억원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89%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영등포국사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0000"/>
                </a:solidFill>
              </a:defRPr>
            </a:pPr>
            <a:r>
              <a:t>예산 초과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15.0억원</a:t>
            </a:r>
          </a:p>
          <a:p>
            <a:pPr>
              <a:defRPr sz="2000"/>
            </a:pPr>
            <a:r>
              <a:t>• 실집행액: 16.2억원</a:t>
            </a:r>
          </a:p>
          <a:p>
            <a:pPr>
              <a:defRPr sz="2000" b="1">
                <a:solidFill>
                  <a:srgbClr val="C00000"/>
                </a:solidFill>
              </a:defRPr>
            </a:pPr>
            <a:r>
              <a:t>• 집행률: 108%</a:t>
            </a:r>
          </a:p>
          <a:p>
            <a:pPr>
              <a:defRPr sz="2000" b="1">
                <a:solidFill>
                  <a:srgbClr val="C00000"/>
                </a:solidFill>
              </a:defRPr>
            </a:pPr>
            <a:r>
              <a:t>• 초과액: +1.2억원</a:t>
            </a:r>
          </a:p>
          <a:p>
            <a:pPr>
              <a:defRPr sz="2000" b="1">
                <a:solidFill>
                  <a:srgbClr val="C00000"/>
                </a:solidFill>
              </a:defRPr>
            </a:pPr>
            <a:r>
              <a:t>• 초과 사유: 여의도 상권 트래픽 급증에 따른 AAU 조기 증설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도봉국사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12.9억원</a:t>
            </a:r>
          </a:p>
          <a:p>
            <a:pPr>
              <a:defRPr sz="2000"/>
            </a:pPr>
            <a:r>
              <a:t>• 실집행액: 11.9억원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92%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노원국사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8.0억원</a:t>
            </a:r>
          </a:p>
          <a:p>
            <a:pPr>
              <a:defRPr sz="2000"/>
            </a:pPr>
            <a:r>
              <a:t>• 실집행액: 5.3억원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66%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양천국사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12.8억원</a:t>
            </a:r>
          </a:p>
          <a:p>
            <a:pPr>
              <a:defRPr sz="2000"/>
            </a:pPr>
            <a:r>
              <a:t>• 실집행액: 10.8억원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84%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강서국사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12.2억원</a:t>
            </a:r>
          </a:p>
          <a:p>
            <a:pPr>
              <a:defRPr sz="2000"/>
            </a:pPr>
            <a:r>
              <a:t>• 실집행액: 11.8억원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97%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금천국사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10.0억원</a:t>
            </a:r>
          </a:p>
          <a:p>
            <a:pPr>
              <a:defRPr sz="2000"/>
            </a:pPr>
            <a:r>
              <a:t>• 실집행액: 7.1억원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71%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용산국사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8.9억원</a:t>
            </a:r>
          </a:p>
          <a:p>
            <a:pPr>
              <a:defRPr sz="2000"/>
            </a:pPr>
            <a:r>
              <a:t>• 실집행액: 7.7억원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86%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분당국사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13.7억원</a:t>
            </a:r>
          </a:p>
          <a:p>
            <a:pPr>
              <a:defRPr sz="2000"/>
            </a:pPr>
            <a:r>
              <a:t>• 실집행액: 12.9억원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94%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성동국사 예산 집행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배정 예산: 10.0억원</a:t>
            </a:r>
          </a:p>
          <a:p>
            <a:pPr>
              <a:defRPr sz="2000"/>
            </a:pPr>
            <a:r>
              <a:t>• 실집행액: 7.8억원</a:t>
            </a:r>
          </a:p>
          <a:p>
            <a:pPr>
              <a:defRPr sz="2000" b="1">
                <a:solidFill>
                  <a:srgbClr val="1E7B34"/>
                </a:solidFill>
              </a:defRPr>
            </a:pPr>
            <a:r>
              <a:t>• 집행률: 78%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Slide 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